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3" r:id="rId4"/>
  </p:sldMasterIdLst>
  <p:notesMasterIdLst>
    <p:notesMasterId r:id="rId18"/>
  </p:notesMasterIdLst>
  <p:sldIdLst>
    <p:sldId id="256" r:id="rId5"/>
    <p:sldId id="257" r:id="rId6"/>
    <p:sldId id="3115" r:id="rId7"/>
    <p:sldId id="3114" r:id="rId8"/>
    <p:sldId id="3117" r:id="rId9"/>
    <p:sldId id="3118" r:id="rId10"/>
    <p:sldId id="3119" r:id="rId11"/>
    <p:sldId id="3120" r:id="rId12"/>
    <p:sldId id="3121" r:id="rId13"/>
    <p:sldId id="3111" r:id="rId14"/>
    <p:sldId id="3107" r:id="rId15"/>
    <p:sldId id="3105" r:id="rId16"/>
    <p:sldId id="258" r:id="rId1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4A37"/>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B64D59-77BB-0E45-9B93-21863BF4E33C}" v="49" dt="2025-12-06T03:46:29.170"/>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B9631B5-78F2-41C9-869B-9F39066F8104}" styleName="中度样式 3 - 强调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中度样式 3 - 强调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8EC20E35-A176-4012-BC5E-935CFFF8708E}" styleName="中度样式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中度样式 3 - 强调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97"/>
    <p:restoredTop sz="82003" autoAdjust="0"/>
  </p:normalViewPr>
  <p:slideViewPr>
    <p:cSldViewPr snapToGrid="0">
      <p:cViewPr varScale="1">
        <p:scale>
          <a:sx n="91" d="100"/>
          <a:sy n="91" d="100"/>
        </p:scale>
        <p:origin x="108" y="744"/>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5982DBE-4606-4F14-972D-A1783F6531C6}" type="doc">
      <dgm:prSet loTypeId="urn:microsoft.com/office/officeart/2005/8/layout/hierarchy6" loCatId="hierarchy" qsTypeId="urn:microsoft.com/office/officeart/2005/8/quickstyle/simple1" qsCatId="simple" csTypeId="urn:microsoft.com/office/officeart/2005/8/colors/accent0_2" csCatId="mainScheme" phldr="1"/>
      <dgm:spPr/>
      <dgm:t>
        <a:bodyPr/>
        <a:lstStyle/>
        <a:p>
          <a:endParaRPr lang="en-US"/>
        </a:p>
      </dgm:t>
    </dgm:pt>
    <dgm:pt modelId="{924C770C-030E-498B-A961-0F7032DAEB92}">
      <dgm:prSet/>
      <dgm:spPr/>
      <dgm:t>
        <a:bodyPr/>
        <a:lstStyle/>
        <a:p>
          <a:r>
            <a:rPr lang="en-US" dirty="0"/>
            <a:t>MRA</a:t>
          </a:r>
          <a:r>
            <a:rPr lang="ja-JP" dirty="0"/>
            <a:t>画像</a:t>
          </a:r>
          <a:endParaRPr lang="en-US" dirty="0"/>
        </a:p>
      </dgm:t>
    </dgm:pt>
    <dgm:pt modelId="{C1380225-566D-4750-9F6D-767349009F47}" type="parTrans" cxnId="{71885647-B5A3-44E1-9606-4A7B3540BF22}">
      <dgm:prSet/>
      <dgm:spPr/>
      <dgm:t>
        <a:bodyPr/>
        <a:lstStyle/>
        <a:p>
          <a:endParaRPr lang="en-US"/>
        </a:p>
      </dgm:t>
    </dgm:pt>
    <dgm:pt modelId="{051FAD73-2AE8-4543-9309-295ABCCE156C}" type="sibTrans" cxnId="{71885647-B5A3-44E1-9606-4A7B3540BF22}">
      <dgm:prSet/>
      <dgm:spPr/>
      <dgm:t>
        <a:bodyPr/>
        <a:lstStyle/>
        <a:p>
          <a:endParaRPr lang="en-US"/>
        </a:p>
      </dgm:t>
    </dgm:pt>
    <dgm:pt modelId="{252748F0-9975-4DEA-BA7C-FBC39A37D25A}">
      <dgm:prSet/>
      <dgm:spPr/>
      <dgm:t>
        <a:bodyPr/>
        <a:lstStyle/>
        <a:p>
          <a:r>
            <a:rPr lang="ja-JP" dirty="0"/>
            <a:t>ラベル付き血管中心線（</a:t>
          </a:r>
          <a:r>
            <a:rPr lang="en-US" dirty="0"/>
            <a:t>5th Spline Fitting</a:t>
          </a:r>
          <a:r>
            <a:rPr lang="ja-JP" dirty="0"/>
            <a:t>処理）</a:t>
          </a:r>
          <a:endParaRPr lang="en-US" dirty="0"/>
        </a:p>
      </dgm:t>
    </dgm:pt>
    <dgm:pt modelId="{C7D7B03C-AED1-4992-916A-93DB68A3E980}" type="parTrans" cxnId="{C2A7B5E2-A27D-45FC-8AF8-38999114E11A}">
      <dgm:prSet/>
      <dgm:spPr/>
      <dgm:t>
        <a:bodyPr/>
        <a:lstStyle/>
        <a:p>
          <a:endParaRPr lang="en-US"/>
        </a:p>
      </dgm:t>
    </dgm:pt>
    <dgm:pt modelId="{A2341D10-FEC4-447B-A3B5-35E095A6C79B}" type="sibTrans" cxnId="{C2A7B5E2-A27D-45FC-8AF8-38999114E11A}">
      <dgm:prSet/>
      <dgm:spPr/>
      <dgm:t>
        <a:bodyPr/>
        <a:lstStyle/>
        <a:p>
          <a:endParaRPr lang="en-US"/>
        </a:p>
      </dgm:t>
    </dgm:pt>
    <dgm:pt modelId="{70BC965D-9E5A-444C-A618-DDCBE6DC57CA}">
      <dgm:prSet/>
      <dgm:spPr/>
      <dgm:t>
        <a:bodyPr/>
        <a:lstStyle/>
        <a:p>
          <a:r>
            <a:rPr lang="ja-JP" dirty="0"/>
            <a:t>血管表面格子（</a:t>
          </a:r>
          <a:r>
            <a:rPr lang="en-US" dirty="0"/>
            <a:t>Centerline-based smoothing</a:t>
          </a:r>
          <a:r>
            <a:rPr lang="ja-JP" dirty="0"/>
            <a:t>処理）</a:t>
          </a:r>
          <a:endParaRPr lang="en-US" dirty="0"/>
        </a:p>
      </dgm:t>
    </dgm:pt>
    <dgm:pt modelId="{3049C9E2-7A1F-4085-8626-9BC5AB43AEDE}" type="parTrans" cxnId="{AEAD3CB7-9BE4-4C44-AE69-078450793F51}">
      <dgm:prSet/>
      <dgm:spPr/>
      <dgm:t>
        <a:bodyPr/>
        <a:lstStyle/>
        <a:p>
          <a:endParaRPr lang="en-US"/>
        </a:p>
      </dgm:t>
    </dgm:pt>
    <dgm:pt modelId="{1EFAE242-E221-4512-A049-B86B9F0A7E9B}" type="sibTrans" cxnId="{AEAD3CB7-9BE4-4C44-AE69-078450793F51}">
      <dgm:prSet/>
      <dgm:spPr/>
      <dgm:t>
        <a:bodyPr/>
        <a:lstStyle/>
        <a:p>
          <a:endParaRPr lang="en-US"/>
        </a:p>
      </dgm:t>
    </dgm:pt>
    <dgm:pt modelId="{1DACFFC9-2700-466E-927D-397D310DD3BB}">
      <dgm:prSet/>
      <dgm:spPr/>
      <dgm:t>
        <a:bodyPr/>
        <a:lstStyle/>
        <a:p>
          <a:r>
            <a:rPr lang="ja-JP"/>
            <a:t>患者情報</a:t>
          </a:r>
          <a:r>
            <a:rPr lang="ja-JP" altLang="en-US"/>
            <a:t>など</a:t>
          </a:r>
          <a:endParaRPr lang="en-US" dirty="0"/>
        </a:p>
      </dgm:t>
    </dgm:pt>
    <dgm:pt modelId="{5EBFEB30-74F7-4DDE-806C-B509BF9DC343}" type="parTrans" cxnId="{5E9E1421-A1F2-4120-9471-8BAE9AB5BF1A}">
      <dgm:prSet/>
      <dgm:spPr/>
      <dgm:t>
        <a:bodyPr/>
        <a:lstStyle/>
        <a:p>
          <a:endParaRPr lang="en-US"/>
        </a:p>
      </dgm:t>
    </dgm:pt>
    <dgm:pt modelId="{8DE68858-2373-4A98-B58A-DF6E87005B43}" type="sibTrans" cxnId="{5E9E1421-A1F2-4120-9471-8BAE9AB5BF1A}">
      <dgm:prSet/>
      <dgm:spPr/>
      <dgm:t>
        <a:bodyPr/>
        <a:lstStyle/>
        <a:p>
          <a:endParaRPr lang="en-US"/>
        </a:p>
      </dgm:t>
    </dgm:pt>
    <dgm:pt modelId="{AE7FB470-F61C-437E-8B3D-08A8FEA3743B}">
      <dgm:prSet/>
      <dgm:spPr/>
      <dgm:t>
        <a:bodyPr/>
        <a:lstStyle/>
        <a:p>
          <a:r>
            <a:rPr lang="ja-JP" dirty="0"/>
            <a:t>ラベル付き血管領域ボクセル</a:t>
          </a:r>
          <a:endParaRPr lang="en-US" dirty="0"/>
        </a:p>
      </dgm:t>
    </dgm:pt>
    <dgm:pt modelId="{7477F8E9-9C29-48E4-96B7-3518B931A0BC}" type="sibTrans" cxnId="{D7EB9F2D-0A9E-40C0-87C0-3080FA435AFE}">
      <dgm:prSet/>
      <dgm:spPr/>
      <dgm:t>
        <a:bodyPr/>
        <a:lstStyle/>
        <a:p>
          <a:endParaRPr lang="en-US"/>
        </a:p>
      </dgm:t>
    </dgm:pt>
    <dgm:pt modelId="{48EDBF85-CCAF-4FDF-B88E-822AA1D7E644}" type="parTrans" cxnId="{D7EB9F2D-0A9E-40C0-87C0-3080FA435AFE}">
      <dgm:prSet/>
      <dgm:spPr/>
      <dgm:t>
        <a:bodyPr/>
        <a:lstStyle/>
        <a:p>
          <a:endParaRPr lang="en-US"/>
        </a:p>
      </dgm:t>
    </dgm:pt>
    <dgm:pt modelId="{452D6FD2-168B-4C72-81A4-EE27DA85F70A}" type="pres">
      <dgm:prSet presAssocID="{65982DBE-4606-4F14-972D-A1783F6531C6}" presName="mainComposite" presStyleCnt="0">
        <dgm:presLayoutVars>
          <dgm:chPref val="1"/>
          <dgm:dir/>
          <dgm:animOne val="branch"/>
          <dgm:animLvl val="lvl"/>
          <dgm:resizeHandles val="exact"/>
        </dgm:presLayoutVars>
      </dgm:prSet>
      <dgm:spPr/>
    </dgm:pt>
    <dgm:pt modelId="{82F8157D-1A12-4D20-95DA-74DFB511C0B7}" type="pres">
      <dgm:prSet presAssocID="{65982DBE-4606-4F14-972D-A1783F6531C6}" presName="hierFlow" presStyleCnt="0"/>
      <dgm:spPr/>
    </dgm:pt>
    <dgm:pt modelId="{8CCE6D69-18F7-411E-91AF-A166EAEA1ED6}" type="pres">
      <dgm:prSet presAssocID="{65982DBE-4606-4F14-972D-A1783F6531C6}" presName="hierChild1" presStyleCnt="0">
        <dgm:presLayoutVars>
          <dgm:chPref val="1"/>
          <dgm:animOne val="branch"/>
          <dgm:animLvl val="lvl"/>
        </dgm:presLayoutVars>
      </dgm:prSet>
      <dgm:spPr/>
    </dgm:pt>
    <dgm:pt modelId="{D8ECEF24-2D8B-4B52-859C-5B9CC68081E4}" type="pres">
      <dgm:prSet presAssocID="{924C770C-030E-498B-A961-0F7032DAEB92}" presName="Name14" presStyleCnt="0"/>
      <dgm:spPr/>
    </dgm:pt>
    <dgm:pt modelId="{C5F1A540-E1D9-4EF0-BE55-328D68681095}" type="pres">
      <dgm:prSet presAssocID="{924C770C-030E-498B-A961-0F7032DAEB92}" presName="level1Shape" presStyleLbl="node0" presStyleIdx="0" presStyleCnt="1" custLinFactNeighborX="-64373" custLinFactNeighborY="-2618">
        <dgm:presLayoutVars>
          <dgm:chPref val="3"/>
        </dgm:presLayoutVars>
      </dgm:prSet>
      <dgm:spPr/>
    </dgm:pt>
    <dgm:pt modelId="{0DD1FCA3-4E36-472A-A6FD-653DFADC795F}" type="pres">
      <dgm:prSet presAssocID="{924C770C-030E-498B-A961-0F7032DAEB92}" presName="hierChild2" presStyleCnt="0"/>
      <dgm:spPr/>
    </dgm:pt>
    <dgm:pt modelId="{589ED190-2395-40D6-83B8-0A4E47F098C0}" type="pres">
      <dgm:prSet presAssocID="{48EDBF85-CCAF-4FDF-B88E-822AA1D7E644}" presName="Name19" presStyleLbl="parChTrans1D2" presStyleIdx="0" presStyleCnt="4"/>
      <dgm:spPr/>
    </dgm:pt>
    <dgm:pt modelId="{DC42A89A-3066-4BB4-A0D1-62D6742C3443}" type="pres">
      <dgm:prSet presAssocID="{AE7FB470-F61C-437E-8B3D-08A8FEA3743B}" presName="Name21" presStyleCnt="0"/>
      <dgm:spPr/>
    </dgm:pt>
    <dgm:pt modelId="{6D699D2C-F788-4A27-88CB-33B7CC449B68}" type="pres">
      <dgm:prSet presAssocID="{AE7FB470-F61C-437E-8B3D-08A8FEA3743B}" presName="level2Shape" presStyleLbl="node2" presStyleIdx="0" presStyleCnt="4"/>
      <dgm:spPr/>
    </dgm:pt>
    <dgm:pt modelId="{B739B0D3-3B6C-4F82-96D5-86E3DB56EFF4}" type="pres">
      <dgm:prSet presAssocID="{AE7FB470-F61C-437E-8B3D-08A8FEA3743B}" presName="hierChild3" presStyleCnt="0"/>
      <dgm:spPr/>
    </dgm:pt>
    <dgm:pt modelId="{E0C6EF84-59D7-4237-B217-27E4BF5C01B9}" type="pres">
      <dgm:prSet presAssocID="{C7D7B03C-AED1-4992-916A-93DB68A3E980}" presName="Name19" presStyleLbl="parChTrans1D2" presStyleIdx="1" presStyleCnt="4"/>
      <dgm:spPr/>
    </dgm:pt>
    <dgm:pt modelId="{9BCA4A1A-A528-415D-8D75-4159FE5A3284}" type="pres">
      <dgm:prSet presAssocID="{252748F0-9975-4DEA-BA7C-FBC39A37D25A}" presName="Name21" presStyleCnt="0"/>
      <dgm:spPr/>
    </dgm:pt>
    <dgm:pt modelId="{30137773-6751-4ED9-A142-B00402BE0410}" type="pres">
      <dgm:prSet presAssocID="{252748F0-9975-4DEA-BA7C-FBC39A37D25A}" presName="level2Shape" presStyleLbl="node2" presStyleIdx="1" presStyleCnt="4"/>
      <dgm:spPr/>
    </dgm:pt>
    <dgm:pt modelId="{1BF5787A-ACB2-419B-B2D4-0856E227F01C}" type="pres">
      <dgm:prSet presAssocID="{252748F0-9975-4DEA-BA7C-FBC39A37D25A}" presName="hierChild3" presStyleCnt="0"/>
      <dgm:spPr/>
    </dgm:pt>
    <dgm:pt modelId="{8E81691D-B0C4-4E51-89F1-224A9A5B76B0}" type="pres">
      <dgm:prSet presAssocID="{3049C9E2-7A1F-4085-8626-9BC5AB43AEDE}" presName="Name19" presStyleLbl="parChTrans1D2" presStyleIdx="2" presStyleCnt="4"/>
      <dgm:spPr/>
    </dgm:pt>
    <dgm:pt modelId="{DF076CE6-EA5F-4AC7-978D-2CA19660899B}" type="pres">
      <dgm:prSet presAssocID="{70BC965D-9E5A-444C-A618-DDCBE6DC57CA}" presName="Name21" presStyleCnt="0"/>
      <dgm:spPr/>
    </dgm:pt>
    <dgm:pt modelId="{3498ED4A-0C63-49F2-B8BC-C3271DB08FC1}" type="pres">
      <dgm:prSet presAssocID="{70BC965D-9E5A-444C-A618-DDCBE6DC57CA}" presName="level2Shape" presStyleLbl="node2" presStyleIdx="2" presStyleCnt="4"/>
      <dgm:spPr/>
    </dgm:pt>
    <dgm:pt modelId="{4899B92F-AE24-4E28-9C3D-A7705CB89569}" type="pres">
      <dgm:prSet presAssocID="{70BC965D-9E5A-444C-A618-DDCBE6DC57CA}" presName="hierChild3" presStyleCnt="0"/>
      <dgm:spPr/>
    </dgm:pt>
    <dgm:pt modelId="{33BC9FA5-7FA7-4F25-833C-A60DCC14ABE4}" type="pres">
      <dgm:prSet presAssocID="{5EBFEB30-74F7-4DDE-806C-B509BF9DC343}" presName="Name19" presStyleLbl="parChTrans1D2" presStyleIdx="3" presStyleCnt="4"/>
      <dgm:spPr/>
    </dgm:pt>
    <dgm:pt modelId="{547120C9-8AE7-4CCF-8AB9-EF458D094934}" type="pres">
      <dgm:prSet presAssocID="{1DACFFC9-2700-466E-927D-397D310DD3BB}" presName="Name21" presStyleCnt="0"/>
      <dgm:spPr/>
    </dgm:pt>
    <dgm:pt modelId="{1961571C-B9D1-43CB-986D-4B55D8C8F4FE}" type="pres">
      <dgm:prSet presAssocID="{1DACFFC9-2700-466E-927D-397D310DD3BB}" presName="level2Shape" presStyleLbl="node2" presStyleIdx="3" presStyleCnt="4"/>
      <dgm:spPr/>
    </dgm:pt>
    <dgm:pt modelId="{F7F829B4-F310-47E3-9DFF-D1724454C90E}" type="pres">
      <dgm:prSet presAssocID="{1DACFFC9-2700-466E-927D-397D310DD3BB}" presName="hierChild3" presStyleCnt="0"/>
      <dgm:spPr/>
    </dgm:pt>
    <dgm:pt modelId="{C233EE4A-0333-4DDA-AD62-8578CF1B5A1E}" type="pres">
      <dgm:prSet presAssocID="{65982DBE-4606-4F14-972D-A1783F6531C6}" presName="bgShapesFlow" presStyleCnt="0"/>
      <dgm:spPr/>
    </dgm:pt>
  </dgm:ptLst>
  <dgm:cxnLst>
    <dgm:cxn modelId="{3FC3BB04-5512-4AC5-BD1E-096639F9597B}" type="presOf" srcId="{252748F0-9975-4DEA-BA7C-FBC39A37D25A}" destId="{30137773-6751-4ED9-A142-B00402BE0410}" srcOrd="0" destOrd="0" presId="urn:microsoft.com/office/officeart/2005/8/layout/hierarchy6"/>
    <dgm:cxn modelId="{5E9E1421-A1F2-4120-9471-8BAE9AB5BF1A}" srcId="{924C770C-030E-498B-A961-0F7032DAEB92}" destId="{1DACFFC9-2700-466E-927D-397D310DD3BB}" srcOrd="3" destOrd="0" parTransId="{5EBFEB30-74F7-4DDE-806C-B509BF9DC343}" sibTransId="{8DE68858-2373-4A98-B58A-DF6E87005B43}"/>
    <dgm:cxn modelId="{D7EB9F2D-0A9E-40C0-87C0-3080FA435AFE}" srcId="{924C770C-030E-498B-A961-0F7032DAEB92}" destId="{AE7FB470-F61C-437E-8B3D-08A8FEA3743B}" srcOrd="0" destOrd="0" parTransId="{48EDBF85-CCAF-4FDF-B88E-822AA1D7E644}" sibTransId="{7477F8E9-9C29-48E4-96B7-3518B931A0BC}"/>
    <dgm:cxn modelId="{9DC3E030-81F8-424C-9735-5AF20B5DECBD}" type="presOf" srcId="{AE7FB470-F61C-437E-8B3D-08A8FEA3743B}" destId="{6D699D2C-F788-4A27-88CB-33B7CC449B68}" srcOrd="0" destOrd="0" presId="urn:microsoft.com/office/officeart/2005/8/layout/hierarchy6"/>
    <dgm:cxn modelId="{33E65939-D57E-4321-81AE-6A098C550E20}" type="presOf" srcId="{70BC965D-9E5A-444C-A618-DDCBE6DC57CA}" destId="{3498ED4A-0C63-49F2-B8BC-C3271DB08FC1}" srcOrd="0" destOrd="0" presId="urn:microsoft.com/office/officeart/2005/8/layout/hierarchy6"/>
    <dgm:cxn modelId="{0523A761-F492-466F-AAF6-98B7207B1726}" type="presOf" srcId="{48EDBF85-CCAF-4FDF-B88E-822AA1D7E644}" destId="{589ED190-2395-40D6-83B8-0A4E47F098C0}" srcOrd="0" destOrd="0" presId="urn:microsoft.com/office/officeart/2005/8/layout/hierarchy6"/>
    <dgm:cxn modelId="{D0CA8243-0BF8-4D21-9D2F-1E5B99E71F9C}" type="presOf" srcId="{65982DBE-4606-4F14-972D-A1783F6531C6}" destId="{452D6FD2-168B-4C72-81A4-EE27DA85F70A}" srcOrd="0" destOrd="0" presId="urn:microsoft.com/office/officeart/2005/8/layout/hierarchy6"/>
    <dgm:cxn modelId="{40887D64-7C54-46BA-9E63-BA371BCD91AB}" type="presOf" srcId="{1DACFFC9-2700-466E-927D-397D310DD3BB}" destId="{1961571C-B9D1-43CB-986D-4B55D8C8F4FE}" srcOrd="0" destOrd="0" presId="urn:microsoft.com/office/officeart/2005/8/layout/hierarchy6"/>
    <dgm:cxn modelId="{71885647-B5A3-44E1-9606-4A7B3540BF22}" srcId="{65982DBE-4606-4F14-972D-A1783F6531C6}" destId="{924C770C-030E-498B-A961-0F7032DAEB92}" srcOrd="0" destOrd="0" parTransId="{C1380225-566D-4750-9F6D-767349009F47}" sibTransId="{051FAD73-2AE8-4543-9309-295ABCCE156C}"/>
    <dgm:cxn modelId="{0660E94C-4B2E-4E67-892C-C8257C9CEAE3}" type="presOf" srcId="{5EBFEB30-74F7-4DDE-806C-B509BF9DC343}" destId="{33BC9FA5-7FA7-4F25-833C-A60DCC14ABE4}" srcOrd="0" destOrd="0" presId="urn:microsoft.com/office/officeart/2005/8/layout/hierarchy6"/>
    <dgm:cxn modelId="{F6FE2379-D3EA-421C-9709-1B50F18B3F75}" type="presOf" srcId="{924C770C-030E-498B-A961-0F7032DAEB92}" destId="{C5F1A540-E1D9-4EF0-BE55-328D68681095}" srcOrd="0" destOrd="0" presId="urn:microsoft.com/office/officeart/2005/8/layout/hierarchy6"/>
    <dgm:cxn modelId="{AEAD3CB7-9BE4-4C44-AE69-078450793F51}" srcId="{924C770C-030E-498B-A961-0F7032DAEB92}" destId="{70BC965D-9E5A-444C-A618-DDCBE6DC57CA}" srcOrd="2" destOrd="0" parTransId="{3049C9E2-7A1F-4085-8626-9BC5AB43AEDE}" sibTransId="{1EFAE242-E221-4512-A049-B86B9F0A7E9B}"/>
    <dgm:cxn modelId="{EF7CCEC7-8F4B-41E2-B28F-86C54CD94E58}" type="presOf" srcId="{C7D7B03C-AED1-4992-916A-93DB68A3E980}" destId="{E0C6EF84-59D7-4237-B217-27E4BF5C01B9}" srcOrd="0" destOrd="0" presId="urn:microsoft.com/office/officeart/2005/8/layout/hierarchy6"/>
    <dgm:cxn modelId="{C2A7B5E2-A27D-45FC-8AF8-38999114E11A}" srcId="{924C770C-030E-498B-A961-0F7032DAEB92}" destId="{252748F0-9975-4DEA-BA7C-FBC39A37D25A}" srcOrd="1" destOrd="0" parTransId="{C7D7B03C-AED1-4992-916A-93DB68A3E980}" sibTransId="{A2341D10-FEC4-447B-A3B5-35E095A6C79B}"/>
    <dgm:cxn modelId="{70941FF9-0926-40C4-BACD-4F2D34773F54}" type="presOf" srcId="{3049C9E2-7A1F-4085-8626-9BC5AB43AEDE}" destId="{8E81691D-B0C4-4E51-89F1-224A9A5B76B0}" srcOrd="0" destOrd="0" presId="urn:microsoft.com/office/officeart/2005/8/layout/hierarchy6"/>
    <dgm:cxn modelId="{74E72A67-C613-4CEF-904D-18BA2B849A61}" type="presParOf" srcId="{452D6FD2-168B-4C72-81A4-EE27DA85F70A}" destId="{82F8157D-1A12-4D20-95DA-74DFB511C0B7}" srcOrd="0" destOrd="0" presId="urn:microsoft.com/office/officeart/2005/8/layout/hierarchy6"/>
    <dgm:cxn modelId="{AF0FDC45-FE92-40BA-B3B7-985DDA8FB61F}" type="presParOf" srcId="{82F8157D-1A12-4D20-95DA-74DFB511C0B7}" destId="{8CCE6D69-18F7-411E-91AF-A166EAEA1ED6}" srcOrd="0" destOrd="0" presId="urn:microsoft.com/office/officeart/2005/8/layout/hierarchy6"/>
    <dgm:cxn modelId="{D67A418F-880F-49FF-9D4B-B0D03011A41F}" type="presParOf" srcId="{8CCE6D69-18F7-411E-91AF-A166EAEA1ED6}" destId="{D8ECEF24-2D8B-4B52-859C-5B9CC68081E4}" srcOrd="0" destOrd="0" presId="urn:microsoft.com/office/officeart/2005/8/layout/hierarchy6"/>
    <dgm:cxn modelId="{7ED95087-2546-4FC0-A5C0-EAA7A5CB21B3}" type="presParOf" srcId="{D8ECEF24-2D8B-4B52-859C-5B9CC68081E4}" destId="{C5F1A540-E1D9-4EF0-BE55-328D68681095}" srcOrd="0" destOrd="0" presId="urn:microsoft.com/office/officeart/2005/8/layout/hierarchy6"/>
    <dgm:cxn modelId="{3973C4E5-15C1-437A-BB6C-915C60AD2563}" type="presParOf" srcId="{D8ECEF24-2D8B-4B52-859C-5B9CC68081E4}" destId="{0DD1FCA3-4E36-472A-A6FD-653DFADC795F}" srcOrd="1" destOrd="0" presId="urn:microsoft.com/office/officeart/2005/8/layout/hierarchy6"/>
    <dgm:cxn modelId="{1CF8FF0E-7D79-46EC-8C1C-3C3C299A66C8}" type="presParOf" srcId="{0DD1FCA3-4E36-472A-A6FD-653DFADC795F}" destId="{589ED190-2395-40D6-83B8-0A4E47F098C0}" srcOrd="0" destOrd="0" presId="urn:microsoft.com/office/officeart/2005/8/layout/hierarchy6"/>
    <dgm:cxn modelId="{836C2D84-4A80-4E52-AA3C-F7B48629A6D3}" type="presParOf" srcId="{0DD1FCA3-4E36-472A-A6FD-653DFADC795F}" destId="{DC42A89A-3066-4BB4-A0D1-62D6742C3443}" srcOrd="1" destOrd="0" presId="urn:microsoft.com/office/officeart/2005/8/layout/hierarchy6"/>
    <dgm:cxn modelId="{73AC2C76-BE26-4798-999C-4825B3061DD2}" type="presParOf" srcId="{DC42A89A-3066-4BB4-A0D1-62D6742C3443}" destId="{6D699D2C-F788-4A27-88CB-33B7CC449B68}" srcOrd="0" destOrd="0" presId="urn:microsoft.com/office/officeart/2005/8/layout/hierarchy6"/>
    <dgm:cxn modelId="{CEC6C5E4-882F-4986-B779-79A7E7ED903D}" type="presParOf" srcId="{DC42A89A-3066-4BB4-A0D1-62D6742C3443}" destId="{B739B0D3-3B6C-4F82-96D5-86E3DB56EFF4}" srcOrd="1" destOrd="0" presId="urn:microsoft.com/office/officeart/2005/8/layout/hierarchy6"/>
    <dgm:cxn modelId="{484ED734-D04F-470D-894D-A1D91EB42120}" type="presParOf" srcId="{0DD1FCA3-4E36-472A-A6FD-653DFADC795F}" destId="{E0C6EF84-59D7-4237-B217-27E4BF5C01B9}" srcOrd="2" destOrd="0" presId="urn:microsoft.com/office/officeart/2005/8/layout/hierarchy6"/>
    <dgm:cxn modelId="{09584B78-8753-47AB-924D-DEE1BB70E3F6}" type="presParOf" srcId="{0DD1FCA3-4E36-472A-A6FD-653DFADC795F}" destId="{9BCA4A1A-A528-415D-8D75-4159FE5A3284}" srcOrd="3" destOrd="0" presId="urn:microsoft.com/office/officeart/2005/8/layout/hierarchy6"/>
    <dgm:cxn modelId="{7D062A37-1D37-4624-8115-4E1EE63B0C1C}" type="presParOf" srcId="{9BCA4A1A-A528-415D-8D75-4159FE5A3284}" destId="{30137773-6751-4ED9-A142-B00402BE0410}" srcOrd="0" destOrd="0" presId="urn:microsoft.com/office/officeart/2005/8/layout/hierarchy6"/>
    <dgm:cxn modelId="{9C002787-86A7-4B2E-86D7-4B8937A3B1A1}" type="presParOf" srcId="{9BCA4A1A-A528-415D-8D75-4159FE5A3284}" destId="{1BF5787A-ACB2-419B-B2D4-0856E227F01C}" srcOrd="1" destOrd="0" presId="urn:microsoft.com/office/officeart/2005/8/layout/hierarchy6"/>
    <dgm:cxn modelId="{333D92F1-7F7E-48F6-9109-75F268543A4C}" type="presParOf" srcId="{0DD1FCA3-4E36-472A-A6FD-653DFADC795F}" destId="{8E81691D-B0C4-4E51-89F1-224A9A5B76B0}" srcOrd="4" destOrd="0" presId="urn:microsoft.com/office/officeart/2005/8/layout/hierarchy6"/>
    <dgm:cxn modelId="{3C76A949-9E25-4F66-9ED5-5860427DD6E1}" type="presParOf" srcId="{0DD1FCA3-4E36-472A-A6FD-653DFADC795F}" destId="{DF076CE6-EA5F-4AC7-978D-2CA19660899B}" srcOrd="5" destOrd="0" presId="urn:microsoft.com/office/officeart/2005/8/layout/hierarchy6"/>
    <dgm:cxn modelId="{F1688242-46D9-4B08-AD5E-A2A50E4BBC77}" type="presParOf" srcId="{DF076CE6-EA5F-4AC7-978D-2CA19660899B}" destId="{3498ED4A-0C63-49F2-B8BC-C3271DB08FC1}" srcOrd="0" destOrd="0" presId="urn:microsoft.com/office/officeart/2005/8/layout/hierarchy6"/>
    <dgm:cxn modelId="{19E871CE-776F-4103-AD23-D96469F286B9}" type="presParOf" srcId="{DF076CE6-EA5F-4AC7-978D-2CA19660899B}" destId="{4899B92F-AE24-4E28-9C3D-A7705CB89569}" srcOrd="1" destOrd="0" presId="urn:microsoft.com/office/officeart/2005/8/layout/hierarchy6"/>
    <dgm:cxn modelId="{17C8CA84-489B-41F6-81A0-5CDE34376986}" type="presParOf" srcId="{0DD1FCA3-4E36-472A-A6FD-653DFADC795F}" destId="{33BC9FA5-7FA7-4F25-833C-A60DCC14ABE4}" srcOrd="6" destOrd="0" presId="urn:microsoft.com/office/officeart/2005/8/layout/hierarchy6"/>
    <dgm:cxn modelId="{C6224C2E-48E8-418D-8E92-2B043CDC35AA}" type="presParOf" srcId="{0DD1FCA3-4E36-472A-A6FD-653DFADC795F}" destId="{547120C9-8AE7-4CCF-8AB9-EF458D094934}" srcOrd="7" destOrd="0" presId="urn:microsoft.com/office/officeart/2005/8/layout/hierarchy6"/>
    <dgm:cxn modelId="{AC12DF66-DD17-4023-AB05-2DD134817C07}" type="presParOf" srcId="{547120C9-8AE7-4CCF-8AB9-EF458D094934}" destId="{1961571C-B9D1-43CB-986D-4B55D8C8F4FE}" srcOrd="0" destOrd="0" presId="urn:microsoft.com/office/officeart/2005/8/layout/hierarchy6"/>
    <dgm:cxn modelId="{EB68C9E6-D776-43CB-AE00-6298D7F562AF}" type="presParOf" srcId="{547120C9-8AE7-4CCF-8AB9-EF458D094934}" destId="{F7F829B4-F310-47E3-9DFF-D1724454C90E}" srcOrd="1" destOrd="0" presId="urn:microsoft.com/office/officeart/2005/8/layout/hierarchy6"/>
    <dgm:cxn modelId="{115412BE-E4D6-461B-877C-443DEEB37FD8}" type="presParOf" srcId="{452D6FD2-168B-4C72-81A4-EE27DA85F70A}" destId="{C233EE4A-0333-4DDA-AD62-8578CF1B5A1E}" srcOrd="1" destOrd="0" presId="urn:microsoft.com/office/officeart/2005/8/layout/hierarchy6"/>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F1A540-E1D9-4EF0-BE55-328D68681095}">
      <dsp:nvSpPr>
        <dsp:cNvPr id="0" name=""/>
        <dsp:cNvSpPr/>
      </dsp:nvSpPr>
      <dsp:spPr>
        <a:xfrm>
          <a:off x="1511391" y="344435"/>
          <a:ext cx="1154646" cy="769764"/>
        </a:xfrm>
        <a:prstGeom prst="roundRect">
          <a:avLst>
            <a:gd name="adj" fmla="val 10000"/>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t>MRA</a:t>
          </a:r>
          <a:r>
            <a:rPr lang="ja-JP" sz="900" kern="1200" dirty="0"/>
            <a:t>画像</a:t>
          </a:r>
          <a:endParaRPr lang="en-US" sz="900" kern="1200" dirty="0"/>
        </a:p>
      </dsp:txBody>
      <dsp:txXfrm>
        <a:off x="1533937" y="366981"/>
        <a:ext cx="1109554" cy="724672"/>
      </dsp:txXfrm>
    </dsp:sp>
    <dsp:sp modelId="{589ED190-2395-40D6-83B8-0A4E47F098C0}">
      <dsp:nvSpPr>
        <dsp:cNvPr id="0" name=""/>
        <dsp:cNvSpPr/>
      </dsp:nvSpPr>
      <dsp:spPr>
        <a:xfrm>
          <a:off x="580434" y="1114199"/>
          <a:ext cx="1508280" cy="328058"/>
        </a:xfrm>
        <a:custGeom>
          <a:avLst/>
          <a:gdLst/>
          <a:ahLst/>
          <a:cxnLst/>
          <a:rect l="0" t="0" r="0" b="0"/>
          <a:pathLst>
            <a:path>
              <a:moveTo>
                <a:pt x="1508280" y="0"/>
              </a:moveTo>
              <a:lnTo>
                <a:pt x="1508280" y="164029"/>
              </a:lnTo>
              <a:lnTo>
                <a:pt x="0" y="164029"/>
              </a:lnTo>
              <a:lnTo>
                <a:pt x="0" y="328058"/>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D699D2C-F788-4A27-88CB-33B7CC449B68}">
      <dsp:nvSpPr>
        <dsp:cNvPr id="0" name=""/>
        <dsp:cNvSpPr/>
      </dsp:nvSpPr>
      <dsp:spPr>
        <a:xfrm>
          <a:off x="3111" y="1442257"/>
          <a:ext cx="1154646" cy="769764"/>
        </a:xfrm>
        <a:prstGeom prst="roundRect">
          <a:avLst>
            <a:gd name="adj" fmla="val 10000"/>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ja-JP" sz="900" kern="1200" dirty="0"/>
            <a:t>ラベル付き血管領域ボクセル</a:t>
          </a:r>
          <a:endParaRPr lang="en-US" sz="900" kern="1200" dirty="0"/>
        </a:p>
      </dsp:txBody>
      <dsp:txXfrm>
        <a:off x="25657" y="1464803"/>
        <a:ext cx="1109554" cy="724672"/>
      </dsp:txXfrm>
    </dsp:sp>
    <dsp:sp modelId="{E0C6EF84-59D7-4237-B217-27E4BF5C01B9}">
      <dsp:nvSpPr>
        <dsp:cNvPr id="0" name=""/>
        <dsp:cNvSpPr/>
      </dsp:nvSpPr>
      <dsp:spPr>
        <a:xfrm>
          <a:off x="2035755" y="1114199"/>
          <a:ext cx="91440" cy="328058"/>
        </a:xfrm>
        <a:custGeom>
          <a:avLst/>
          <a:gdLst/>
          <a:ahLst/>
          <a:cxnLst/>
          <a:rect l="0" t="0" r="0" b="0"/>
          <a:pathLst>
            <a:path>
              <a:moveTo>
                <a:pt x="52959" y="0"/>
              </a:moveTo>
              <a:lnTo>
                <a:pt x="52959" y="164029"/>
              </a:lnTo>
              <a:lnTo>
                <a:pt x="45720" y="164029"/>
              </a:lnTo>
              <a:lnTo>
                <a:pt x="45720" y="328058"/>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0137773-6751-4ED9-A142-B00402BE0410}">
      <dsp:nvSpPr>
        <dsp:cNvPr id="0" name=""/>
        <dsp:cNvSpPr/>
      </dsp:nvSpPr>
      <dsp:spPr>
        <a:xfrm>
          <a:off x="1504151" y="1442257"/>
          <a:ext cx="1154646" cy="769764"/>
        </a:xfrm>
        <a:prstGeom prst="roundRect">
          <a:avLst>
            <a:gd name="adj" fmla="val 10000"/>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ja-JP" sz="900" kern="1200" dirty="0"/>
            <a:t>ラベル付き血管中心線（</a:t>
          </a:r>
          <a:r>
            <a:rPr lang="en-US" sz="900" kern="1200" dirty="0"/>
            <a:t>5th Spline Fitting</a:t>
          </a:r>
          <a:r>
            <a:rPr lang="ja-JP" sz="900" kern="1200" dirty="0"/>
            <a:t>処理）</a:t>
          </a:r>
          <a:endParaRPr lang="en-US" sz="900" kern="1200" dirty="0"/>
        </a:p>
      </dsp:txBody>
      <dsp:txXfrm>
        <a:off x="1526697" y="1464803"/>
        <a:ext cx="1109554" cy="724672"/>
      </dsp:txXfrm>
    </dsp:sp>
    <dsp:sp modelId="{8E81691D-B0C4-4E51-89F1-224A9A5B76B0}">
      <dsp:nvSpPr>
        <dsp:cNvPr id="0" name=""/>
        <dsp:cNvSpPr/>
      </dsp:nvSpPr>
      <dsp:spPr>
        <a:xfrm>
          <a:off x="2088714" y="1114199"/>
          <a:ext cx="1493800" cy="328058"/>
        </a:xfrm>
        <a:custGeom>
          <a:avLst/>
          <a:gdLst/>
          <a:ahLst/>
          <a:cxnLst/>
          <a:rect l="0" t="0" r="0" b="0"/>
          <a:pathLst>
            <a:path>
              <a:moveTo>
                <a:pt x="0" y="0"/>
              </a:moveTo>
              <a:lnTo>
                <a:pt x="0" y="164029"/>
              </a:lnTo>
              <a:lnTo>
                <a:pt x="1493800" y="164029"/>
              </a:lnTo>
              <a:lnTo>
                <a:pt x="1493800" y="328058"/>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498ED4A-0C63-49F2-B8BC-C3271DB08FC1}">
      <dsp:nvSpPr>
        <dsp:cNvPr id="0" name=""/>
        <dsp:cNvSpPr/>
      </dsp:nvSpPr>
      <dsp:spPr>
        <a:xfrm>
          <a:off x="3005192" y="1442257"/>
          <a:ext cx="1154646" cy="769764"/>
        </a:xfrm>
        <a:prstGeom prst="roundRect">
          <a:avLst>
            <a:gd name="adj" fmla="val 10000"/>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ja-JP" sz="900" kern="1200" dirty="0"/>
            <a:t>血管表面格子（</a:t>
          </a:r>
          <a:r>
            <a:rPr lang="en-US" sz="900" kern="1200" dirty="0"/>
            <a:t>Centerline-based smoothing</a:t>
          </a:r>
          <a:r>
            <a:rPr lang="ja-JP" sz="900" kern="1200" dirty="0"/>
            <a:t>処理）</a:t>
          </a:r>
          <a:endParaRPr lang="en-US" sz="900" kern="1200" dirty="0"/>
        </a:p>
      </dsp:txBody>
      <dsp:txXfrm>
        <a:off x="3027738" y="1464803"/>
        <a:ext cx="1109554" cy="724672"/>
      </dsp:txXfrm>
    </dsp:sp>
    <dsp:sp modelId="{33BC9FA5-7FA7-4F25-833C-A60DCC14ABE4}">
      <dsp:nvSpPr>
        <dsp:cNvPr id="0" name=""/>
        <dsp:cNvSpPr/>
      </dsp:nvSpPr>
      <dsp:spPr>
        <a:xfrm>
          <a:off x="2088714" y="1114199"/>
          <a:ext cx="2994841" cy="328058"/>
        </a:xfrm>
        <a:custGeom>
          <a:avLst/>
          <a:gdLst/>
          <a:ahLst/>
          <a:cxnLst/>
          <a:rect l="0" t="0" r="0" b="0"/>
          <a:pathLst>
            <a:path>
              <a:moveTo>
                <a:pt x="0" y="0"/>
              </a:moveTo>
              <a:lnTo>
                <a:pt x="0" y="164029"/>
              </a:lnTo>
              <a:lnTo>
                <a:pt x="2994841" y="164029"/>
              </a:lnTo>
              <a:lnTo>
                <a:pt x="2994841" y="328058"/>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961571C-B9D1-43CB-986D-4B55D8C8F4FE}">
      <dsp:nvSpPr>
        <dsp:cNvPr id="0" name=""/>
        <dsp:cNvSpPr/>
      </dsp:nvSpPr>
      <dsp:spPr>
        <a:xfrm>
          <a:off x="4506233" y="1442257"/>
          <a:ext cx="1154646" cy="769764"/>
        </a:xfrm>
        <a:prstGeom prst="roundRect">
          <a:avLst>
            <a:gd name="adj" fmla="val 10000"/>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ja-JP" sz="900" kern="1200"/>
            <a:t>患者情報</a:t>
          </a:r>
          <a:r>
            <a:rPr lang="ja-JP" altLang="en-US" sz="900" kern="1200"/>
            <a:t>など</a:t>
          </a:r>
          <a:endParaRPr lang="en-US" sz="900" kern="1200" dirty="0"/>
        </a:p>
      </dsp:txBody>
      <dsp:txXfrm>
        <a:off x="4528779" y="1464803"/>
        <a:ext cx="1109554" cy="72467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4B2B9F-9E49-4A47-8753-9D918A1F8E24}" type="datetimeFigureOut">
              <a:rPr lang="en-US" smtClean="0"/>
              <a:t>12/9/2025</a:t>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C7D3F2-AB5B-4CB5-B1E5-81DE1805197B}" type="slidenum">
              <a:rPr lang="en-US" smtClean="0"/>
              <a:t>‹#›</a:t>
            </a:fld>
            <a:endParaRPr lang="en-US"/>
          </a:p>
        </p:txBody>
      </p:sp>
    </p:spTree>
    <p:extLst>
      <p:ext uri="{BB962C8B-B14F-4D97-AF65-F5344CB8AC3E}">
        <p14:creationId xmlns:p14="http://schemas.microsoft.com/office/powerpoint/2010/main" val="42778844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49C7D3F2-AB5B-4CB5-B1E5-81DE1805197B}" type="slidenum">
              <a:rPr lang="en-US" smtClean="0"/>
              <a:t>1</a:t>
            </a:fld>
            <a:endParaRPr lang="en-US"/>
          </a:p>
        </p:txBody>
      </p:sp>
    </p:spTree>
    <p:extLst>
      <p:ext uri="{BB962C8B-B14F-4D97-AF65-F5344CB8AC3E}">
        <p14:creationId xmlns:p14="http://schemas.microsoft.com/office/powerpoint/2010/main" val="13466441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5800" y="1143000"/>
            <a:ext cx="5486400" cy="3086100"/>
          </a:xfrm>
        </p:spPr>
        <p:txBody>
          <a:bodyPr/>
          <a:lstStyle/>
          <a:p>
            <a:endParaRPr lang="en-US"/>
          </a:p>
        </p:txBody>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C5B1DFC4-4EA4-43BE-B001-08776A5D7D75}" type="slidenum">
              <a:rPr lang="en-US" smtClean="0"/>
              <a:t>2</a:t>
            </a:fld>
            <a:endParaRPr lang="en-US"/>
          </a:p>
        </p:txBody>
      </p:sp>
    </p:spTree>
    <p:extLst>
      <p:ext uri="{BB962C8B-B14F-4D97-AF65-F5344CB8AC3E}">
        <p14:creationId xmlns:p14="http://schemas.microsoft.com/office/powerpoint/2010/main" val="39718488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49C7D3F2-AB5B-4CB5-B1E5-81DE1805197B}" type="slidenum">
              <a:rPr lang="en-US" smtClean="0"/>
              <a:t>3</a:t>
            </a:fld>
            <a:endParaRPr lang="en-US"/>
          </a:p>
        </p:txBody>
      </p:sp>
    </p:spTree>
    <p:extLst>
      <p:ext uri="{BB962C8B-B14F-4D97-AF65-F5344CB8AC3E}">
        <p14:creationId xmlns:p14="http://schemas.microsoft.com/office/powerpoint/2010/main" val="39943635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49C7D3F2-AB5B-4CB5-B1E5-81DE1805197B}" type="slidenum">
              <a:rPr lang="en-US" smtClean="0"/>
              <a:t>4</a:t>
            </a:fld>
            <a:endParaRPr lang="en-US"/>
          </a:p>
        </p:txBody>
      </p:sp>
    </p:spTree>
    <p:extLst>
      <p:ext uri="{BB962C8B-B14F-4D97-AF65-F5344CB8AC3E}">
        <p14:creationId xmlns:p14="http://schemas.microsoft.com/office/powerpoint/2010/main" val="20004707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49C7D3F2-AB5B-4CB5-B1E5-81DE1805197B}" type="slidenum">
              <a:rPr lang="en-US" smtClean="0"/>
              <a:t>5</a:t>
            </a:fld>
            <a:endParaRPr lang="en-US"/>
          </a:p>
        </p:txBody>
      </p:sp>
    </p:spTree>
    <p:extLst>
      <p:ext uri="{BB962C8B-B14F-4D97-AF65-F5344CB8AC3E}">
        <p14:creationId xmlns:p14="http://schemas.microsoft.com/office/powerpoint/2010/main" val="12305470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49C7D3F2-AB5B-4CB5-B1E5-81DE1805197B}" type="slidenum">
              <a:rPr lang="en-US" smtClean="0"/>
              <a:t>6</a:t>
            </a:fld>
            <a:endParaRPr lang="en-US"/>
          </a:p>
        </p:txBody>
      </p:sp>
    </p:spTree>
    <p:extLst>
      <p:ext uri="{BB962C8B-B14F-4D97-AF65-F5344CB8AC3E}">
        <p14:creationId xmlns:p14="http://schemas.microsoft.com/office/powerpoint/2010/main" val="1549128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49C7D3F2-AB5B-4CB5-B1E5-81DE1805197B}" type="slidenum">
              <a:rPr lang="en-US" smtClean="0"/>
              <a:t>7</a:t>
            </a:fld>
            <a:endParaRPr lang="en-US"/>
          </a:p>
        </p:txBody>
      </p:sp>
    </p:spTree>
    <p:extLst>
      <p:ext uri="{BB962C8B-B14F-4D97-AF65-F5344CB8AC3E}">
        <p14:creationId xmlns:p14="http://schemas.microsoft.com/office/powerpoint/2010/main" val="9117030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ja-JP" dirty="0"/>
          </a:p>
        </p:txBody>
      </p:sp>
      <p:sp>
        <p:nvSpPr>
          <p:cNvPr id="4" name="灯片编号占位符 3"/>
          <p:cNvSpPr>
            <a:spLocks noGrp="1"/>
          </p:cNvSpPr>
          <p:nvPr>
            <p:ph type="sldNum" sz="quarter" idx="5"/>
          </p:nvPr>
        </p:nvSpPr>
        <p:spPr/>
        <p:txBody>
          <a:bodyPr/>
          <a:lstStyle/>
          <a:p>
            <a:fld id="{49C7D3F2-AB5B-4CB5-B1E5-81DE1805197B}" type="slidenum">
              <a:rPr lang="en-US" smtClean="0"/>
              <a:t>8</a:t>
            </a:fld>
            <a:endParaRPr lang="en-US"/>
          </a:p>
        </p:txBody>
      </p:sp>
    </p:spTree>
    <p:extLst>
      <p:ext uri="{BB962C8B-B14F-4D97-AF65-F5344CB8AC3E}">
        <p14:creationId xmlns:p14="http://schemas.microsoft.com/office/powerpoint/2010/main" val="35376050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49C7D3F2-AB5B-4CB5-B1E5-81DE1805197B}" type="slidenum">
              <a:rPr lang="en-US" smtClean="0"/>
              <a:t>9</a:t>
            </a:fld>
            <a:endParaRPr lang="en-US"/>
          </a:p>
        </p:txBody>
      </p:sp>
    </p:spTree>
    <p:extLst>
      <p:ext uri="{BB962C8B-B14F-4D97-AF65-F5344CB8AC3E}">
        <p14:creationId xmlns:p14="http://schemas.microsoft.com/office/powerpoint/2010/main" val="34517051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p>
        </p:txBody>
      </p:sp>
      <p:sp>
        <p:nvSpPr>
          <p:cNvPr id="4" name="灯片编号占位符 3"/>
          <p:cNvSpPr>
            <a:spLocks noGrp="1"/>
          </p:cNvSpPr>
          <p:nvPr>
            <p:ph type="sldNum" sz="quarter" idx="5"/>
          </p:nvPr>
        </p:nvSpPr>
        <p:spPr/>
        <p:txBody>
          <a:bodyPr/>
          <a:lstStyle/>
          <a:p>
            <a:fld id="{49C7D3F2-AB5B-4CB5-B1E5-81DE1805197B}" type="slidenum">
              <a:rPr lang="en-US" smtClean="0"/>
              <a:t>11</a:t>
            </a:fld>
            <a:endParaRPr lang="en-US"/>
          </a:p>
        </p:txBody>
      </p:sp>
    </p:spTree>
    <p:extLst>
      <p:ext uri="{BB962C8B-B14F-4D97-AF65-F5344CB8AC3E}">
        <p14:creationId xmlns:p14="http://schemas.microsoft.com/office/powerpoint/2010/main" val="11951898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en-US"/>
          </a:p>
        </p:txBody>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C5B1DFC4-4EA4-43BE-B001-08776A5D7D75}" type="slidenum">
              <a:rPr lang="en-US" smtClean="0"/>
              <a:t>12</a:t>
            </a:fld>
            <a:endParaRPr lang="en-US"/>
          </a:p>
        </p:txBody>
      </p:sp>
    </p:spTree>
    <p:extLst>
      <p:ext uri="{BB962C8B-B14F-4D97-AF65-F5344CB8AC3E}">
        <p14:creationId xmlns:p14="http://schemas.microsoft.com/office/powerpoint/2010/main" val="4083000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en-US"/>
          </a:p>
        </p:txBody>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C5B1DFC4-4EA4-43BE-B001-08776A5D7D75}" type="slidenum">
              <a:rPr lang="en-US" smtClean="0"/>
              <a:t>13</a:t>
            </a:fld>
            <a:endParaRPr lang="en-US"/>
          </a:p>
        </p:txBody>
      </p:sp>
    </p:spTree>
    <p:extLst>
      <p:ext uri="{BB962C8B-B14F-4D97-AF65-F5344CB8AC3E}">
        <p14:creationId xmlns:p14="http://schemas.microsoft.com/office/powerpoint/2010/main" val="37952829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表紙">
    <p:spTree>
      <p:nvGrpSpPr>
        <p:cNvPr id="1" name=""/>
        <p:cNvGrpSpPr/>
        <p:nvPr/>
      </p:nvGrpSpPr>
      <p:grpSpPr>
        <a:xfrm>
          <a:off x="0" y="0"/>
          <a:ext cx="0" cy="0"/>
          <a:chOff x="0" y="0"/>
          <a:chExt cx="0" cy="0"/>
        </a:xfrm>
      </p:grpSpPr>
      <p:sp>
        <p:nvSpPr>
          <p:cNvPr id="6" name="図プレースホルダー 5"/>
          <p:cNvSpPr>
            <a:spLocks noGrp="1"/>
          </p:cNvSpPr>
          <p:nvPr>
            <p:ph type="pic" sz="quarter" idx="11"/>
          </p:nvPr>
        </p:nvSpPr>
        <p:spPr>
          <a:xfrm>
            <a:off x="0" y="0"/>
            <a:ext cx="12192000" cy="2624400"/>
          </a:xfrm>
          <a:solidFill>
            <a:schemeClr val="bg1">
              <a:lumMod val="95000"/>
            </a:schemeClr>
          </a:solidFill>
        </p:spPr>
        <p:txBody>
          <a:bodyPr/>
          <a:lstStyle/>
          <a:p>
            <a:r>
              <a:rPr kumimoji="1" lang="zh-CN" altLang="en-US"/>
              <a:t>单击图标添加图片</a:t>
            </a:r>
            <a:endParaRPr kumimoji="1" lang="ja-JP" altLang="en-US"/>
          </a:p>
        </p:txBody>
      </p:sp>
      <p:pic>
        <p:nvPicPr>
          <p:cNvPr id="7" name="図 6">
            <a:extLst>
              <a:ext uri="{FF2B5EF4-FFF2-40B4-BE49-F238E27FC236}">
                <a16:creationId xmlns:a16="http://schemas.microsoft.com/office/drawing/2014/main" id="{BD04683B-F6E6-AA48-A716-1FB0869221B6}"/>
              </a:ext>
            </a:extLst>
          </p:cNvPr>
          <p:cNvPicPr>
            <a:picLocks noChangeAspect="1"/>
          </p:cNvPicPr>
          <p:nvPr/>
        </p:nvPicPr>
        <p:blipFill>
          <a:blip r:embed="rId2"/>
          <a:stretch>
            <a:fillRect/>
          </a:stretch>
        </p:blipFill>
        <p:spPr>
          <a:xfrm>
            <a:off x="5529261" y="2906283"/>
            <a:ext cx="1133475" cy="1133475"/>
          </a:xfrm>
          <a:prstGeom prst="rect">
            <a:avLst/>
          </a:prstGeom>
        </p:spPr>
      </p:pic>
      <p:sp>
        <p:nvSpPr>
          <p:cNvPr id="9" name="テキスト プレースホルダー 8"/>
          <p:cNvSpPr>
            <a:spLocks noGrp="1"/>
          </p:cNvSpPr>
          <p:nvPr>
            <p:ph type="body" sz="quarter" idx="12" hasCustomPrompt="1"/>
          </p:nvPr>
        </p:nvSpPr>
        <p:spPr>
          <a:xfrm>
            <a:off x="766763" y="4321640"/>
            <a:ext cx="10658475" cy="518400"/>
          </a:xfrm>
        </p:spPr>
        <p:txBody>
          <a:bodyPr/>
          <a:lstStyle>
            <a:lvl1pPr marL="0" indent="0" algn="ctr">
              <a:buNone/>
              <a:defRPr sz="2800"/>
            </a:lvl1pPr>
            <a:lvl2pPr marL="457200" indent="0">
              <a:buFont typeface="Arial" panose="020B0604020202020204" pitchFamily="34" charset="0"/>
              <a:buNone/>
              <a:defRPr/>
            </a:lvl2pPr>
            <a:lvl3pPr marL="914400" indent="0">
              <a:buNone/>
              <a:defRPr/>
            </a:lvl3pPr>
            <a:lvl4pPr marL="1371600" indent="0">
              <a:buNone/>
              <a:defRPr/>
            </a:lvl4pPr>
            <a:lvl5pPr marL="1828800" indent="0">
              <a:buNone/>
              <a:defRPr/>
            </a:lvl5pPr>
          </a:lstStyle>
          <a:p>
            <a:pPr lvl="0"/>
            <a:r>
              <a:rPr kumimoji="1" lang="ja-JP" altLang="en-US"/>
              <a:t>講演タイトル</a:t>
            </a:r>
          </a:p>
        </p:txBody>
      </p:sp>
      <p:sp>
        <p:nvSpPr>
          <p:cNvPr id="10" name="テキスト プレースホルダー 8"/>
          <p:cNvSpPr>
            <a:spLocks noGrp="1"/>
          </p:cNvSpPr>
          <p:nvPr>
            <p:ph type="body" sz="quarter" idx="13" hasCustomPrompt="1"/>
          </p:nvPr>
        </p:nvSpPr>
        <p:spPr>
          <a:xfrm>
            <a:off x="766763" y="4802400"/>
            <a:ext cx="10658475" cy="410400"/>
          </a:xfrm>
        </p:spPr>
        <p:txBody>
          <a:bodyPr/>
          <a:lstStyle>
            <a:lvl1pPr marL="0" indent="0" algn="ctr">
              <a:buNone/>
              <a:defRPr sz="1800">
                <a:solidFill>
                  <a:schemeClr val="tx2"/>
                </a:solidFill>
              </a:defRPr>
            </a:lvl1pPr>
            <a:lvl2pPr marL="457200" indent="0">
              <a:buFont typeface="Arial" panose="020B0604020202020204" pitchFamily="34" charset="0"/>
              <a:buNone/>
              <a:defRPr/>
            </a:lvl2pPr>
            <a:lvl3pPr marL="914400" indent="0">
              <a:buNone/>
              <a:defRPr/>
            </a:lvl3pPr>
            <a:lvl4pPr marL="1371600" indent="0">
              <a:buNone/>
              <a:defRPr/>
            </a:lvl4pPr>
            <a:lvl5pPr marL="1828800" indent="0">
              <a:buNone/>
              <a:defRPr/>
            </a:lvl5pPr>
          </a:lstStyle>
          <a:p>
            <a:pPr lvl="0"/>
            <a:r>
              <a:rPr kumimoji="1" lang="ja-JP" altLang="en-US"/>
              <a:t>サブタイトル</a:t>
            </a:r>
          </a:p>
        </p:txBody>
      </p:sp>
      <p:sp>
        <p:nvSpPr>
          <p:cNvPr id="11" name="テキスト プレースホルダー 8"/>
          <p:cNvSpPr>
            <a:spLocks noGrp="1"/>
          </p:cNvSpPr>
          <p:nvPr>
            <p:ph type="body" sz="quarter" idx="14" hasCustomPrompt="1"/>
          </p:nvPr>
        </p:nvSpPr>
        <p:spPr>
          <a:xfrm>
            <a:off x="766763" y="5292558"/>
            <a:ext cx="10658475" cy="518400"/>
          </a:xfrm>
        </p:spPr>
        <p:txBody>
          <a:bodyPr/>
          <a:lstStyle>
            <a:lvl1pPr marL="0" indent="0" algn="ctr">
              <a:buNone/>
              <a:defRPr sz="2000"/>
            </a:lvl1pPr>
            <a:lvl2pPr marL="457200" indent="0">
              <a:buFont typeface="Arial" panose="020B0604020202020204" pitchFamily="34" charset="0"/>
              <a:buNone/>
              <a:defRPr/>
            </a:lvl2pPr>
            <a:lvl3pPr marL="914400" indent="0">
              <a:buNone/>
              <a:defRPr/>
            </a:lvl3pPr>
            <a:lvl4pPr marL="1371600" indent="0">
              <a:buNone/>
              <a:defRPr/>
            </a:lvl4pPr>
            <a:lvl5pPr marL="1828800" indent="0">
              <a:buNone/>
              <a:defRPr/>
            </a:lvl5pPr>
          </a:lstStyle>
          <a:p>
            <a:pPr lvl="0"/>
            <a:r>
              <a:rPr kumimoji="1" lang="ja-JP" altLang="en-US"/>
              <a:t>講演者名</a:t>
            </a:r>
          </a:p>
        </p:txBody>
      </p:sp>
      <p:sp>
        <p:nvSpPr>
          <p:cNvPr id="13" name="テキスト プレースホルダー 8"/>
          <p:cNvSpPr>
            <a:spLocks noGrp="1"/>
          </p:cNvSpPr>
          <p:nvPr>
            <p:ph type="body" sz="quarter" idx="15" hasCustomPrompt="1"/>
          </p:nvPr>
        </p:nvSpPr>
        <p:spPr>
          <a:xfrm>
            <a:off x="766763" y="6148800"/>
            <a:ext cx="10658475" cy="309600"/>
          </a:xfrm>
        </p:spPr>
        <p:txBody>
          <a:bodyPr/>
          <a:lstStyle>
            <a:lvl1pPr marL="0" indent="0" algn="ctr">
              <a:buNone/>
              <a:tabLst/>
              <a:defRPr sz="1200" b="0">
                <a:solidFill>
                  <a:schemeClr val="tx2"/>
                </a:solidFill>
              </a:defRPr>
            </a:lvl1pPr>
            <a:lvl2pPr marL="457200" indent="0">
              <a:buFont typeface="Arial" panose="020B0604020202020204" pitchFamily="34" charset="0"/>
              <a:buNone/>
              <a:defRPr/>
            </a:lvl2pPr>
            <a:lvl3pPr marL="914400" indent="0">
              <a:buNone/>
              <a:defRPr/>
            </a:lvl3pPr>
            <a:lvl4pPr marL="1371600" indent="0">
              <a:buNone/>
              <a:defRPr/>
            </a:lvl4pPr>
            <a:lvl5pPr marL="1828800" indent="0">
              <a:buNone/>
              <a:defRPr/>
            </a:lvl5pPr>
          </a:lstStyle>
          <a:p>
            <a:pPr lvl="0"/>
            <a:r>
              <a:rPr kumimoji="1" lang="ja-JP" altLang="en-US"/>
              <a:t>何の資料かを記載する</a:t>
            </a:r>
          </a:p>
        </p:txBody>
      </p:sp>
    </p:spTree>
    <p:extLst>
      <p:ext uri="{BB962C8B-B14F-4D97-AF65-F5344CB8AC3E}">
        <p14:creationId xmlns:p14="http://schemas.microsoft.com/office/powerpoint/2010/main" val="3268069780"/>
      </p:ext>
    </p:extLst>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テキスト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zh-CN" altLang="en-US"/>
              <a:t>单击此处编辑母版标题样式</a:t>
            </a:r>
            <a:endParaRPr kumimoji="1" lang="ja-JP" altLang="en-US"/>
          </a:p>
        </p:txBody>
      </p:sp>
      <p:sp>
        <p:nvSpPr>
          <p:cNvPr id="3" name="フッター プレースホルダー 2"/>
          <p:cNvSpPr>
            <a:spLocks noGrp="1"/>
          </p:cNvSpPr>
          <p:nvPr>
            <p:ph type="ftr" sz="quarter" idx="10"/>
          </p:nvPr>
        </p:nvSpPr>
        <p:spPr/>
        <p:txBody>
          <a:bodyPr/>
          <a:lstStyle/>
          <a:p>
            <a:endParaRPr lang="en-US"/>
          </a:p>
        </p:txBody>
      </p:sp>
      <p:sp>
        <p:nvSpPr>
          <p:cNvPr id="4" name="スライド番号プレースホルダー 3"/>
          <p:cNvSpPr>
            <a:spLocks noGrp="1"/>
          </p:cNvSpPr>
          <p:nvPr>
            <p:ph type="sldNum" sz="quarter" idx="11"/>
          </p:nvPr>
        </p:nvSpPr>
        <p:spPr/>
        <p:txBody>
          <a:bodyPr/>
          <a:lstStyle/>
          <a:p>
            <a:fld id="{E2B18E97-1989-4D85-BA90-17B226C62452}" type="slidenum">
              <a:rPr lang="en-US" smtClean="0"/>
              <a:pPr/>
              <a:t>‹#›</a:t>
            </a:fld>
            <a:endParaRPr lang="en-US"/>
          </a:p>
        </p:txBody>
      </p:sp>
      <p:sp>
        <p:nvSpPr>
          <p:cNvPr id="6" name="テキスト プレースホルダー 5"/>
          <p:cNvSpPr>
            <a:spLocks noGrp="1"/>
          </p:cNvSpPr>
          <p:nvPr>
            <p:ph type="body" sz="quarter" idx="12" hasCustomPrompt="1"/>
          </p:nvPr>
        </p:nvSpPr>
        <p:spPr>
          <a:xfrm>
            <a:off x="766763" y="1268413"/>
            <a:ext cx="10658475" cy="4860925"/>
          </a:xfrm>
        </p:spPr>
        <p:txBody>
          <a:bodyPr/>
          <a:lstStyle>
            <a:lvl1pPr>
              <a:spcBef>
                <a:spcPts val="800"/>
              </a:spcBef>
              <a:defRPr/>
            </a:lvl1pPr>
            <a:lvl2pPr>
              <a:spcBef>
                <a:spcPts val="800"/>
              </a:spcBef>
              <a:defRPr/>
            </a:lvl2pPr>
          </a:lstStyle>
          <a:p>
            <a:pPr lvl="0"/>
            <a:r>
              <a:rPr kumimoji="1" lang="ja-JP" altLang="en-US"/>
              <a:t>見出しを挿入</a:t>
            </a:r>
          </a:p>
          <a:p>
            <a:pPr lvl="1"/>
            <a:r>
              <a:rPr kumimoji="1" lang="ja-JP" altLang="en-US"/>
              <a:t>本文を挿入</a:t>
            </a:r>
          </a:p>
        </p:txBody>
      </p:sp>
      <p:cxnSp>
        <p:nvCxnSpPr>
          <p:cNvPr id="8" name="直線コネクタ 7">
            <a:extLst>
              <a:ext uri="{FF2B5EF4-FFF2-40B4-BE49-F238E27FC236}">
                <a16:creationId xmlns:a16="http://schemas.microsoft.com/office/drawing/2014/main" id="{FCD571D0-E8DC-134C-904F-CAD2C4C6FE27}"/>
              </a:ext>
            </a:extLst>
          </p:cNvPr>
          <p:cNvCxnSpPr>
            <a:cxnSpLocks/>
          </p:cNvCxnSpPr>
          <p:nvPr/>
        </p:nvCxnSpPr>
        <p:spPr>
          <a:xfrm>
            <a:off x="11203004" y="471645"/>
            <a:ext cx="0" cy="13850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テキスト プレースホルダー 11"/>
          <p:cNvSpPr>
            <a:spLocks noGrp="1"/>
          </p:cNvSpPr>
          <p:nvPr>
            <p:ph type="body" sz="quarter" idx="13" hasCustomPrompt="1"/>
          </p:nvPr>
        </p:nvSpPr>
        <p:spPr>
          <a:xfrm>
            <a:off x="457200" y="6465600"/>
            <a:ext cx="4557600" cy="194400"/>
          </a:xfrm>
        </p:spPr>
        <p:txBody>
          <a:bodyPr/>
          <a:lstStyle>
            <a:lvl1pPr marL="0" indent="0">
              <a:buNone/>
              <a:defRPr sz="950" b="0">
                <a:solidFill>
                  <a:schemeClr val="tx2"/>
                </a:solidFill>
              </a:defRPr>
            </a:lvl1pPr>
            <a:lvl2pPr>
              <a:defRPr sz="950"/>
            </a:lvl2pPr>
            <a:lvl3pPr>
              <a:defRPr sz="950"/>
            </a:lvl3pPr>
            <a:lvl4pPr>
              <a:defRPr sz="950"/>
            </a:lvl4pPr>
            <a:lvl5pPr>
              <a:defRPr sz="950"/>
            </a:lvl5pPr>
          </a:lstStyle>
          <a:p>
            <a:pPr lvl="0"/>
            <a:r>
              <a:rPr kumimoji="1" lang="ja-JP" altLang="en-US"/>
              <a:t>著作権の情報など、参考情報を記載する場所</a:t>
            </a:r>
          </a:p>
        </p:txBody>
      </p:sp>
      <p:sp>
        <p:nvSpPr>
          <p:cNvPr id="14" name="テキスト プレースホルダー 13"/>
          <p:cNvSpPr>
            <a:spLocks noGrp="1"/>
          </p:cNvSpPr>
          <p:nvPr>
            <p:ph type="body" sz="quarter" idx="14" hasCustomPrompt="1"/>
          </p:nvPr>
        </p:nvSpPr>
        <p:spPr>
          <a:xfrm>
            <a:off x="8459788" y="403225"/>
            <a:ext cx="2743200" cy="277813"/>
          </a:xfrm>
        </p:spPr>
        <p:txBody>
          <a:bodyPr lIns="90000" tIns="90000" rIns="90000" anchor="ctr" anchorCtr="0"/>
          <a:lstStyle>
            <a:lvl1pPr marL="0" indent="0" algn="r">
              <a:buNone/>
              <a:defRPr sz="1200" b="0">
                <a:solidFill>
                  <a:schemeClr val="tx2"/>
                </a:solidFill>
                <a:latin typeface="+mn-ea"/>
                <a:ea typeface="+mn-ea"/>
              </a:defRPr>
            </a:lvl1pPr>
          </a:lstStyle>
          <a:p>
            <a:pPr lvl="0"/>
            <a:r>
              <a:rPr kumimoji="1" lang="en-US" altLang="ja-JP"/>
              <a:t>01</a:t>
            </a:r>
            <a:r>
              <a:rPr kumimoji="1" lang="ja-JP" altLang="en-US"/>
              <a:t>　見出しを入れる</a:t>
            </a:r>
          </a:p>
        </p:txBody>
      </p:sp>
    </p:spTree>
    <p:extLst>
      <p:ext uri="{BB962C8B-B14F-4D97-AF65-F5344CB8AC3E}">
        <p14:creationId xmlns:p14="http://schemas.microsoft.com/office/powerpoint/2010/main" val="4183339085"/>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図入り">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zh-CN" altLang="en-US"/>
              <a:t>单击此处编辑母版标题样式</a:t>
            </a:r>
            <a:endParaRPr kumimoji="1" lang="ja-JP" altLang="en-US"/>
          </a:p>
        </p:txBody>
      </p:sp>
      <p:sp>
        <p:nvSpPr>
          <p:cNvPr id="3" name="フッター プレースホルダー 2"/>
          <p:cNvSpPr>
            <a:spLocks noGrp="1"/>
          </p:cNvSpPr>
          <p:nvPr>
            <p:ph type="ftr" sz="quarter" idx="10"/>
          </p:nvPr>
        </p:nvSpPr>
        <p:spPr/>
        <p:txBody>
          <a:bodyPr/>
          <a:lstStyle/>
          <a:p>
            <a:endParaRPr lang="en-US"/>
          </a:p>
        </p:txBody>
      </p:sp>
      <p:sp>
        <p:nvSpPr>
          <p:cNvPr id="4" name="スライド番号プレースホルダー 3"/>
          <p:cNvSpPr>
            <a:spLocks noGrp="1"/>
          </p:cNvSpPr>
          <p:nvPr>
            <p:ph type="sldNum" sz="quarter" idx="11"/>
          </p:nvPr>
        </p:nvSpPr>
        <p:spPr/>
        <p:txBody>
          <a:bodyPr/>
          <a:lstStyle/>
          <a:p>
            <a:fld id="{E2B18E97-1989-4D85-BA90-17B226C62452}" type="slidenum">
              <a:rPr lang="en-US" smtClean="0"/>
              <a:pPr/>
              <a:t>‹#›</a:t>
            </a:fld>
            <a:endParaRPr lang="en-US"/>
          </a:p>
        </p:txBody>
      </p:sp>
      <p:sp>
        <p:nvSpPr>
          <p:cNvPr id="6" name="テキスト プレースホルダー 5"/>
          <p:cNvSpPr>
            <a:spLocks noGrp="1"/>
          </p:cNvSpPr>
          <p:nvPr>
            <p:ph type="body" sz="quarter" idx="12" hasCustomPrompt="1"/>
          </p:nvPr>
        </p:nvSpPr>
        <p:spPr>
          <a:xfrm>
            <a:off x="766763" y="1268413"/>
            <a:ext cx="6120000" cy="4860925"/>
          </a:xfrm>
        </p:spPr>
        <p:txBody>
          <a:bodyPr/>
          <a:lstStyle/>
          <a:p>
            <a:pPr lvl="0"/>
            <a:r>
              <a:rPr kumimoji="1" lang="ja-JP" altLang="en-US"/>
              <a:t>見出しを挿入</a:t>
            </a:r>
          </a:p>
          <a:p>
            <a:pPr lvl="1"/>
            <a:r>
              <a:rPr kumimoji="1" lang="ja-JP" altLang="en-US"/>
              <a:t>本文を挿入</a:t>
            </a:r>
          </a:p>
        </p:txBody>
      </p:sp>
      <p:cxnSp>
        <p:nvCxnSpPr>
          <p:cNvPr id="8" name="直線コネクタ 7">
            <a:extLst>
              <a:ext uri="{FF2B5EF4-FFF2-40B4-BE49-F238E27FC236}">
                <a16:creationId xmlns:a16="http://schemas.microsoft.com/office/drawing/2014/main" id="{FCD571D0-E8DC-134C-904F-CAD2C4C6FE27}"/>
              </a:ext>
            </a:extLst>
          </p:cNvPr>
          <p:cNvCxnSpPr>
            <a:cxnSpLocks/>
          </p:cNvCxnSpPr>
          <p:nvPr/>
        </p:nvCxnSpPr>
        <p:spPr>
          <a:xfrm>
            <a:off x="11203004" y="471645"/>
            <a:ext cx="0" cy="13850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テキスト プレースホルダー 11"/>
          <p:cNvSpPr>
            <a:spLocks noGrp="1"/>
          </p:cNvSpPr>
          <p:nvPr>
            <p:ph type="body" sz="quarter" idx="13" hasCustomPrompt="1"/>
          </p:nvPr>
        </p:nvSpPr>
        <p:spPr>
          <a:xfrm>
            <a:off x="457200" y="6465600"/>
            <a:ext cx="4557600" cy="194400"/>
          </a:xfrm>
        </p:spPr>
        <p:txBody>
          <a:bodyPr/>
          <a:lstStyle>
            <a:lvl1pPr marL="0" indent="0">
              <a:buNone/>
              <a:defRPr sz="950" b="0">
                <a:solidFill>
                  <a:schemeClr val="tx2"/>
                </a:solidFill>
              </a:defRPr>
            </a:lvl1pPr>
            <a:lvl2pPr>
              <a:defRPr sz="950"/>
            </a:lvl2pPr>
            <a:lvl3pPr>
              <a:defRPr sz="950"/>
            </a:lvl3pPr>
            <a:lvl4pPr>
              <a:defRPr sz="950"/>
            </a:lvl4pPr>
            <a:lvl5pPr>
              <a:defRPr sz="950"/>
            </a:lvl5pPr>
          </a:lstStyle>
          <a:p>
            <a:pPr lvl="0"/>
            <a:r>
              <a:rPr kumimoji="1" lang="ja-JP" altLang="en-US"/>
              <a:t>著作権の情報など、参考情報を記載する場所</a:t>
            </a:r>
          </a:p>
        </p:txBody>
      </p:sp>
      <p:sp>
        <p:nvSpPr>
          <p:cNvPr id="9" name="図プレースホルダー 8"/>
          <p:cNvSpPr>
            <a:spLocks noGrp="1"/>
          </p:cNvSpPr>
          <p:nvPr>
            <p:ph type="pic" sz="quarter" idx="14"/>
          </p:nvPr>
        </p:nvSpPr>
        <p:spPr>
          <a:xfrm>
            <a:off x="7105238" y="1296465"/>
            <a:ext cx="4320000" cy="4860925"/>
          </a:xfrm>
          <a:solidFill>
            <a:schemeClr val="accent1">
              <a:lumMod val="20000"/>
              <a:lumOff val="80000"/>
            </a:schemeClr>
          </a:solidFill>
        </p:spPr>
        <p:txBody>
          <a:bodyPr/>
          <a:lstStyle/>
          <a:p>
            <a:r>
              <a:rPr kumimoji="1" lang="zh-CN" altLang="en-US"/>
              <a:t>单击图标添加图片</a:t>
            </a:r>
            <a:endParaRPr kumimoji="1" lang="ja-JP" altLang="en-US"/>
          </a:p>
        </p:txBody>
      </p:sp>
      <p:sp>
        <p:nvSpPr>
          <p:cNvPr id="13" name="テキスト プレースホルダー 13"/>
          <p:cNvSpPr>
            <a:spLocks noGrp="1"/>
          </p:cNvSpPr>
          <p:nvPr>
            <p:ph type="body" sz="quarter" idx="15" hasCustomPrompt="1"/>
          </p:nvPr>
        </p:nvSpPr>
        <p:spPr>
          <a:xfrm>
            <a:off x="8459788" y="403225"/>
            <a:ext cx="2743200" cy="277813"/>
          </a:xfrm>
        </p:spPr>
        <p:txBody>
          <a:bodyPr lIns="90000" tIns="90000" rIns="90000" anchor="ctr" anchorCtr="0"/>
          <a:lstStyle>
            <a:lvl1pPr marL="0" indent="0" algn="r">
              <a:buNone/>
              <a:defRPr sz="1200" b="0">
                <a:solidFill>
                  <a:schemeClr val="tx2"/>
                </a:solidFill>
                <a:latin typeface="+mn-ea"/>
                <a:ea typeface="+mn-ea"/>
              </a:defRPr>
            </a:lvl1pPr>
          </a:lstStyle>
          <a:p>
            <a:pPr lvl="0"/>
            <a:r>
              <a:rPr kumimoji="1" lang="en-US" altLang="ja-JP"/>
              <a:t>01</a:t>
            </a:r>
            <a:r>
              <a:rPr kumimoji="1" lang="ja-JP" altLang="en-US"/>
              <a:t>　見出しを入れる</a:t>
            </a:r>
          </a:p>
        </p:txBody>
      </p:sp>
    </p:spTree>
    <p:extLst>
      <p:ext uri="{BB962C8B-B14F-4D97-AF65-F5344CB8AC3E}">
        <p14:creationId xmlns:p14="http://schemas.microsoft.com/office/powerpoint/2010/main" val="2386725179"/>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図　縦に２つ">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zh-CN" altLang="en-US"/>
              <a:t>单击此处编辑母版标题样式</a:t>
            </a:r>
            <a:endParaRPr kumimoji="1" lang="ja-JP" altLang="en-US"/>
          </a:p>
        </p:txBody>
      </p:sp>
      <p:sp>
        <p:nvSpPr>
          <p:cNvPr id="3" name="フッター プレースホルダー 2"/>
          <p:cNvSpPr>
            <a:spLocks noGrp="1"/>
          </p:cNvSpPr>
          <p:nvPr>
            <p:ph type="ftr" sz="quarter" idx="10"/>
          </p:nvPr>
        </p:nvSpPr>
        <p:spPr/>
        <p:txBody>
          <a:bodyPr/>
          <a:lstStyle/>
          <a:p>
            <a:endParaRPr lang="en-US"/>
          </a:p>
        </p:txBody>
      </p:sp>
      <p:sp>
        <p:nvSpPr>
          <p:cNvPr id="4" name="スライド番号プレースホルダー 3"/>
          <p:cNvSpPr>
            <a:spLocks noGrp="1"/>
          </p:cNvSpPr>
          <p:nvPr>
            <p:ph type="sldNum" sz="quarter" idx="11"/>
          </p:nvPr>
        </p:nvSpPr>
        <p:spPr/>
        <p:txBody>
          <a:bodyPr/>
          <a:lstStyle/>
          <a:p>
            <a:fld id="{E2B18E97-1989-4D85-BA90-17B226C62452}" type="slidenum">
              <a:rPr lang="en-US" smtClean="0"/>
              <a:pPr/>
              <a:t>‹#›</a:t>
            </a:fld>
            <a:endParaRPr lang="en-US"/>
          </a:p>
        </p:txBody>
      </p:sp>
      <p:sp>
        <p:nvSpPr>
          <p:cNvPr id="6" name="テキスト プレースホルダー 5"/>
          <p:cNvSpPr>
            <a:spLocks noGrp="1"/>
          </p:cNvSpPr>
          <p:nvPr>
            <p:ph type="body" sz="quarter" idx="12" hasCustomPrompt="1"/>
          </p:nvPr>
        </p:nvSpPr>
        <p:spPr>
          <a:xfrm>
            <a:off x="766763" y="1268413"/>
            <a:ext cx="6120000" cy="4860925"/>
          </a:xfrm>
        </p:spPr>
        <p:txBody>
          <a:bodyPr/>
          <a:lstStyle/>
          <a:p>
            <a:pPr lvl="0"/>
            <a:r>
              <a:rPr kumimoji="1" lang="ja-JP" altLang="en-US"/>
              <a:t>見出しを挿入</a:t>
            </a:r>
          </a:p>
          <a:p>
            <a:pPr lvl="1"/>
            <a:r>
              <a:rPr kumimoji="1" lang="ja-JP" altLang="en-US"/>
              <a:t>本文を挿入</a:t>
            </a:r>
          </a:p>
        </p:txBody>
      </p:sp>
      <p:cxnSp>
        <p:nvCxnSpPr>
          <p:cNvPr id="8" name="直線コネクタ 7">
            <a:extLst>
              <a:ext uri="{FF2B5EF4-FFF2-40B4-BE49-F238E27FC236}">
                <a16:creationId xmlns:a16="http://schemas.microsoft.com/office/drawing/2014/main" id="{FCD571D0-E8DC-134C-904F-CAD2C4C6FE27}"/>
              </a:ext>
            </a:extLst>
          </p:cNvPr>
          <p:cNvCxnSpPr>
            <a:cxnSpLocks/>
          </p:cNvCxnSpPr>
          <p:nvPr/>
        </p:nvCxnSpPr>
        <p:spPr>
          <a:xfrm>
            <a:off x="11203004" y="471645"/>
            <a:ext cx="0" cy="13850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テキスト プレースホルダー 11"/>
          <p:cNvSpPr>
            <a:spLocks noGrp="1"/>
          </p:cNvSpPr>
          <p:nvPr>
            <p:ph type="body" sz="quarter" idx="13" hasCustomPrompt="1"/>
          </p:nvPr>
        </p:nvSpPr>
        <p:spPr>
          <a:xfrm>
            <a:off x="457200" y="6465600"/>
            <a:ext cx="4557600" cy="194400"/>
          </a:xfrm>
        </p:spPr>
        <p:txBody>
          <a:bodyPr/>
          <a:lstStyle>
            <a:lvl1pPr marL="0" indent="0">
              <a:buNone/>
              <a:defRPr sz="950" b="0">
                <a:solidFill>
                  <a:schemeClr val="tx2"/>
                </a:solidFill>
              </a:defRPr>
            </a:lvl1pPr>
            <a:lvl2pPr>
              <a:defRPr sz="950"/>
            </a:lvl2pPr>
            <a:lvl3pPr>
              <a:defRPr sz="950"/>
            </a:lvl3pPr>
            <a:lvl4pPr>
              <a:defRPr sz="950"/>
            </a:lvl4pPr>
            <a:lvl5pPr>
              <a:defRPr sz="950"/>
            </a:lvl5pPr>
          </a:lstStyle>
          <a:p>
            <a:pPr lvl="0"/>
            <a:r>
              <a:rPr kumimoji="1" lang="ja-JP" altLang="en-US"/>
              <a:t>著作権の情報など、参考情報を記載する場所</a:t>
            </a:r>
          </a:p>
        </p:txBody>
      </p:sp>
      <p:sp>
        <p:nvSpPr>
          <p:cNvPr id="9" name="図プレースホルダー 8"/>
          <p:cNvSpPr>
            <a:spLocks noGrp="1"/>
          </p:cNvSpPr>
          <p:nvPr>
            <p:ph type="pic" sz="quarter" idx="14"/>
          </p:nvPr>
        </p:nvSpPr>
        <p:spPr>
          <a:xfrm>
            <a:off x="7105238" y="1296465"/>
            <a:ext cx="4320000" cy="2462400"/>
          </a:xfrm>
          <a:solidFill>
            <a:schemeClr val="accent1">
              <a:lumMod val="20000"/>
              <a:lumOff val="80000"/>
            </a:schemeClr>
          </a:solidFill>
        </p:spPr>
        <p:txBody>
          <a:bodyPr/>
          <a:lstStyle/>
          <a:p>
            <a:r>
              <a:rPr kumimoji="1" lang="zh-CN" altLang="en-US"/>
              <a:t>单击图标添加图片</a:t>
            </a:r>
            <a:endParaRPr kumimoji="1" lang="ja-JP" altLang="en-US"/>
          </a:p>
        </p:txBody>
      </p:sp>
      <p:sp>
        <p:nvSpPr>
          <p:cNvPr id="10" name="図プレースホルダー 8"/>
          <p:cNvSpPr>
            <a:spLocks noGrp="1"/>
          </p:cNvSpPr>
          <p:nvPr>
            <p:ph type="pic" sz="quarter" idx="15"/>
          </p:nvPr>
        </p:nvSpPr>
        <p:spPr>
          <a:xfrm>
            <a:off x="7105238" y="3666938"/>
            <a:ext cx="4320000" cy="2462400"/>
          </a:xfrm>
          <a:solidFill>
            <a:schemeClr val="accent2">
              <a:lumMod val="20000"/>
              <a:lumOff val="80000"/>
            </a:schemeClr>
          </a:solidFill>
        </p:spPr>
        <p:txBody>
          <a:bodyPr/>
          <a:lstStyle/>
          <a:p>
            <a:r>
              <a:rPr kumimoji="1" lang="zh-CN" altLang="en-US"/>
              <a:t>单击图标添加图片</a:t>
            </a:r>
            <a:endParaRPr kumimoji="1" lang="ja-JP" altLang="en-US"/>
          </a:p>
        </p:txBody>
      </p:sp>
      <p:sp>
        <p:nvSpPr>
          <p:cNvPr id="11" name="テキスト プレースホルダー 13"/>
          <p:cNvSpPr>
            <a:spLocks noGrp="1"/>
          </p:cNvSpPr>
          <p:nvPr>
            <p:ph type="body" sz="quarter" idx="16" hasCustomPrompt="1"/>
          </p:nvPr>
        </p:nvSpPr>
        <p:spPr>
          <a:xfrm>
            <a:off x="8459788" y="403225"/>
            <a:ext cx="2743200" cy="277813"/>
          </a:xfrm>
        </p:spPr>
        <p:txBody>
          <a:bodyPr lIns="90000" tIns="90000" rIns="90000" anchor="ctr" anchorCtr="0"/>
          <a:lstStyle>
            <a:lvl1pPr marL="0" indent="0" algn="r">
              <a:buNone/>
              <a:defRPr sz="1200" b="0">
                <a:solidFill>
                  <a:schemeClr val="tx2"/>
                </a:solidFill>
                <a:latin typeface="+mn-ea"/>
                <a:ea typeface="+mn-ea"/>
              </a:defRPr>
            </a:lvl1pPr>
          </a:lstStyle>
          <a:p>
            <a:pPr lvl="0"/>
            <a:r>
              <a:rPr kumimoji="1" lang="en-US" altLang="ja-JP"/>
              <a:t>01</a:t>
            </a:r>
            <a:r>
              <a:rPr kumimoji="1" lang="ja-JP" altLang="en-US"/>
              <a:t>　見出しを入れる</a:t>
            </a:r>
          </a:p>
        </p:txBody>
      </p:sp>
    </p:spTree>
    <p:extLst>
      <p:ext uri="{BB962C8B-B14F-4D97-AF65-F5344CB8AC3E}">
        <p14:creationId xmlns:p14="http://schemas.microsoft.com/office/powerpoint/2010/main" val="2402603609"/>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図　横に２つ">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zh-CN" altLang="en-US"/>
              <a:t>单击此处编辑母版标题样式</a:t>
            </a:r>
            <a:endParaRPr kumimoji="1" lang="ja-JP" altLang="en-US"/>
          </a:p>
        </p:txBody>
      </p:sp>
      <p:sp>
        <p:nvSpPr>
          <p:cNvPr id="3" name="フッター プレースホルダー 2"/>
          <p:cNvSpPr>
            <a:spLocks noGrp="1"/>
          </p:cNvSpPr>
          <p:nvPr>
            <p:ph type="ftr" sz="quarter" idx="10"/>
          </p:nvPr>
        </p:nvSpPr>
        <p:spPr/>
        <p:txBody>
          <a:bodyPr/>
          <a:lstStyle/>
          <a:p>
            <a:endParaRPr lang="en-US"/>
          </a:p>
        </p:txBody>
      </p:sp>
      <p:sp>
        <p:nvSpPr>
          <p:cNvPr id="4" name="スライド番号プレースホルダー 3"/>
          <p:cNvSpPr>
            <a:spLocks noGrp="1"/>
          </p:cNvSpPr>
          <p:nvPr>
            <p:ph type="sldNum" sz="quarter" idx="11"/>
          </p:nvPr>
        </p:nvSpPr>
        <p:spPr/>
        <p:txBody>
          <a:bodyPr/>
          <a:lstStyle/>
          <a:p>
            <a:fld id="{E2B18E97-1989-4D85-BA90-17B226C62452}" type="slidenum">
              <a:rPr lang="en-US" smtClean="0"/>
              <a:pPr/>
              <a:t>‹#›</a:t>
            </a:fld>
            <a:endParaRPr lang="en-US"/>
          </a:p>
        </p:txBody>
      </p:sp>
      <p:sp>
        <p:nvSpPr>
          <p:cNvPr id="6" name="テキスト プレースホルダー 5"/>
          <p:cNvSpPr>
            <a:spLocks noGrp="1"/>
          </p:cNvSpPr>
          <p:nvPr>
            <p:ph type="body" sz="quarter" idx="12" hasCustomPrompt="1"/>
          </p:nvPr>
        </p:nvSpPr>
        <p:spPr>
          <a:xfrm>
            <a:off x="766763" y="4935600"/>
            <a:ext cx="5040000" cy="406800"/>
          </a:xfrm>
        </p:spPr>
        <p:txBody>
          <a:bodyPr/>
          <a:lstStyle>
            <a:lvl1pPr marL="0" indent="0">
              <a:buNone/>
              <a:defRPr/>
            </a:lvl1pPr>
          </a:lstStyle>
          <a:p>
            <a:pPr lvl="0"/>
            <a:r>
              <a:rPr kumimoji="1" lang="ja-JP" altLang="en-US"/>
              <a:t>図の見出しを挿入</a:t>
            </a:r>
          </a:p>
        </p:txBody>
      </p:sp>
      <p:cxnSp>
        <p:nvCxnSpPr>
          <p:cNvPr id="8" name="直線コネクタ 7">
            <a:extLst>
              <a:ext uri="{FF2B5EF4-FFF2-40B4-BE49-F238E27FC236}">
                <a16:creationId xmlns:a16="http://schemas.microsoft.com/office/drawing/2014/main" id="{FCD571D0-E8DC-134C-904F-CAD2C4C6FE27}"/>
              </a:ext>
            </a:extLst>
          </p:cNvPr>
          <p:cNvCxnSpPr>
            <a:cxnSpLocks/>
          </p:cNvCxnSpPr>
          <p:nvPr/>
        </p:nvCxnSpPr>
        <p:spPr>
          <a:xfrm>
            <a:off x="11203004" y="471645"/>
            <a:ext cx="0" cy="13850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テキスト プレースホルダー 11"/>
          <p:cNvSpPr>
            <a:spLocks noGrp="1"/>
          </p:cNvSpPr>
          <p:nvPr>
            <p:ph type="body" sz="quarter" idx="13" hasCustomPrompt="1"/>
          </p:nvPr>
        </p:nvSpPr>
        <p:spPr>
          <a:xfrm>
            <a:off x="457200" y="6465600"/>
            <a:ext cx="4557600" cy="194400"/>
          </a:xfrm>
        </p:spPr>
        <p:txBody>
          <a:bodyPr/>
          <a:lstStyle>
            <a:lvl1pPr marL="0" indent="0">
              <a:buNone/>
              <a:defRPr sz="950" b="0">
                <a:solidFill>
                  <a:schemeClr val="tx2"/>
                </a:solidFill>
              </a:defRPr>
            </a:lvl1pPr>
            <a:lvl2pPr>
              <a:defRPr sz="950"/>
            </a:lvl2pPr>
            <a:lvl3pPr>
              <a:defRPr sz="950"/>
            </a:lvl3pPr>
            <a:lvl4pPr>
              <a:defRPr sz="950"/>
            </a:lvl4pPr>
            <a:lvl5pPr>
              <a:defRPr sz="950"/>
            </a:lvl5pPr>
          </a:lstStyle>
          <a:p>
            <a:pPr lvl="0"/>
            <a:r>
              <a:rPr kumimoji="1" lang="ja-JP" altLang="en-US"/>
              <a:t>著作権の情報など、参考情報を記載する場所</a:t>
            </a:r>
          </a:p>
        </p:txBody>
      </p:sp>
      <p:sp>
        <p:nvSpPr>
          <p:cNvPr id="9" name="図プレースホルダー 8"/>
          <p:cNvSpPr>
            <a:spLocks noGrp="1"/>
          </p:cNvSpPr>
          <p:nvPr>
            <p:ph type="pic" sz="quarter" idx="14"/>
          </p:nvPr>
        </p:nvSpPr>
        <p:spPr>
          <a:xfrm>
            <a:off x="784800" y="1267200"/>
            <a:ext cx="5040000" cy="3546000"/>
          </a:xfrm>
          <a:solidFill>
            <a:schemeClr val="accent1">
              <a:lumMod val="20000"/>
              <a:lumOff val="80000"/>
            </a:schemeClr>
          </a:solidFill>
        </p:spPr>
        <p:txBody>
          <a:bodyPr/>
          <a:lstStyle/>
          <a:p>
            <a:r>
              <a:rPr kumimoji="1" lang="zh-CN" altLang="en-US"/>
              <a:t>单击图标添加图片</a:t>
            </a:r>
            <a:endParaRPr kumimoji="1" lang="ja-JP" altLang="en-US"/>
          </a:p>
        </p:txBody>
      </p:sp>
      <p:sp>
        <p:nvSpPr>
          <p:cNvPr id="11" name="テキスト プレースホルダー 5"/>
          <p:cNvSpPr>
            <a:spLocks noGrp="1"/>
          </p:cNvSpPr>
          <p:nvPr>
            <p:ph type="body" sz="quarter" idx="15" hasCustomPrompt="1"/>
          </p:nvPr>
        </p:nvSpPr>
        <p:spPr>
          <a:xfrm>
            <a:off x="766763" y="5299200"/>
            <a:ext cx="5040000" cy="831600"/>
          </a:xfrm>
        </p:spPr>
        <p:txBody>
          <a:bodyPr/>
          <a:lstStyle>
            <a:lvl1pPr marL="0" indent="0">
              <a:buNone/>
              <a:defRPr b="0"/>
            </a:lvl1pPr>
          </a:lstStyle>
          <a:p>
            <a:pPr lvl="0"/>
            <a:r>
              <a:rPr kumimoji="1" lang="ja-JP" altLang="en-US"/>
              <a:t>本文を挿入</a:t>
            </a:r>
          </a:p>
        </p:txBody>
      </p:sp>
      <p:sp>
        <p:nvSpPr>
          <p:cNvPr id="13" name="テキスト プレースホルダー 5"/>
          <p:cNvSpPr>
            <a:spLocks noGrp="1"/>
          </p:cNvSpPr>
          <p:nvPr>
            <p:ph type="body" sz="quarter" idx="16" hasCustomPrompt="1"/>
          </p:nvPr>
        </p:nvSpPr>
        <p:spPr>
          <a:xfrm>
            <a:off x="6367201" y="4935600"/>
            <a:ext cx="5040000" cy="406800"/>
          </a:xfrm>
        </p:spPr>
        <p:txBody>
          <a:bodyPr/>
          <a:lstStyle>
            <a:lvl1pPr marL="0" indent="0">
              <a:buNone/>
              <a:defRPr/>
            </a:lvl1pPr>
          </a:lstStyle>
          <a:p>
            <a:pPr lvl="0"/>
            <a:r>
              <a:rPr kumimoji="1" lang="ja-JP" altLang="en-US"/>
              <a:t>図の見出しを挿入</a:t>
            </a:r>
          </a:p>
        </p:txBody>
      </p:sp>
      <p:sp>
        <p:nvSpPr>
          <p:cNvPr id="14" name="図プレースホルダー 8"/>
          <p:cNvSpPr>
            <a:spLocks noGrp="1"/>
          </p:cNvSpPr>
          <p:nvPr>
            <p:ph type="pic" sz="quarter" idx="17"/>
          </p:nvPr>
        </p:nvSpPr>
        <p:spPr>
          <a:xfrm>
            <a:off x="6385238" y="1267200"/>
            <a:ext cx="5040000" cy="3546000"/>
          </a:xfrm>
          <a:solidFill>
            <a:schemeClr val="accent1">
              <a:lumMod val="20000"/>
              <a:lumOff val="80000"/>
            </a:schemeClr>
          </a:solidFill>
        </p:spPr>
        <p:txBody>
          <a:bodyPr/>
          <a:lstStyle/>
          <a:p>
            <a:r>
              <a:rPr kumimoji="1" lang="zh-CN" altLang="en-US"/>
              <a:t>单击图标添加图片</a:t>
            </a:r>
            <a:endParaRPr kumimoji="1" lang="ja-JP" altLang="en-US"/>
          </a:p>
        </p:txBody>
      </p:sp>
      <p:sp>
        <p:nvSpPr>
          <p:cNvPr id="15" name="テキスト プレースホルダー 5"/>
          <p:cNvSpPr>
            <a:spLocks noGrp="1"/>
          </p:cNvSpPr>
          <p:nvPr>
            <p:ph type="body" sz="quarter" idx="18" hasCustomPrompt="1"/>
          </p:nvPr>
        </p:nvSpPr>
        <p:spPr>
          <a:xfrm>
            <a:off x="6367201" y="5299200"/>
            <a:ext cx="5040000" cy="831600"/>
          </a:xfrm>
        </p:spPr>
        <p:txBody>
          <a:bodyPr/>
          <a:lstStyle>
            <a:lvl1pPr marL="0" indent="0">
              <a:buNone/>
              <a:defRPr b="0"/>
            </a:lvl1pPr>
          </a:lstStyle>
          <a:p>
            <a:pPr lvl="0"/>
            <a:r>
              <a:rPr kumimoji="1" lang="ja-JP" altLang="en-US"/>
              <a:t>本文を挿入</a:t>
            </a:r>
          </a:p>
        </p:txBody>
      </p:sp>
      <p:sp>
        <p:nvSpPr>
          <p:cNvPr id="16" name="テキスト プレースホルダー 13"/>
          <p:cNvSpPr>
            <a:spLocks noGrp="1"/>
          </p:cNvSpPr>
          <p:nvPr>
            <p:ph type="body" sz="quarter" idx="19" hasCustomPrompt="1"/>
          </p:nvPr>
        </p:nvSpPr>
        <p:spPr>
          <a:xfrm>
            <a:off x="8459788" y="403225"/>
            <a:ext cx="2743200" cy="277813"/>
          </a:xfrm>
        </p:spPr>
        <p:txBody>
          <a:bodyPr lIns="90000" tIns="90000" rIns="90000" anchor="ctr" anchorCtr="0"/>
          <a:lstStyle>
            <a:lvl1pPr marL="0" indent="0" algn="r">
              <a:buNone/>
              <a:defRPr sz="1200" b="0">
                <a:solidFill>
                  <a:schemeClr val="tx2"/>
                </a:solidFill>
                <a:latin typeface="+mn-ea"/>
                <a:ea typeface="+mn-ea"/>
              </a:defRPr>
            </a:lvl1pPr>
          </a:lstStyle>
          <a:p>
            <a:pPr lvl="0"/>
            <a:r>
              <a:rPr kumimoji="1" lang="en-US" altLang="ja-JP"/>
              <a:t>01</a:t>
            </a:r>
            <a:r>
              <a:rPr kumimoji="1" lang="ja-JP" altLang="en-US"/>
              <a:t>　見出しを入れる</a:t>
            </a:r>
          </a:p>
        </p:txBody>
      </p:sp>
    </p:spTree>
    <p:extLst>
      <p:ext uri="{BB962C8B-B14F-4D97-AF65-F5344CB8AC3E}">
        <p14:creationId xmlns:p14="http://schemas.microsoft.com/office/powerpoint/2010/main" val="871992972"/>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図　３つ">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zh-CN" altLang="en-US"/>
              <a:t>单击此处编辑母版标题样式</a:t>
            </a:r>
            <a:endParaRPr kumimoji="1" lang="ja-JP" altLang="en-US"/>
          </a:p>
        </p:txBody>
      </p:sp>
      <p:sp>
        <p:nvSpPr>
          <p:cNvPr id="3" name="フッター プレースホルダー 2"/>
          <p:cNvSpPr>
            <a:spLocks noGrp="1"/>
          </p:cNvSpPr>
          <p:nvPr>
            <p:ph type="ftr" sz="quarter" idx="10"/>
          </p:nvPr>
        </p:nvSpPr>
        <p:spPr/>
        <p:txBody>
          <a:bodyPr/>
          <a:lstStyle/>
          <a:p>
            <a:endParaRPr lang="en-US"/>
          </a:p>
        </p:txBody>
      </p:sp>
      <p:sp>
        <p:nvSpPr>
          <p:cNvPr id="4" name="スライド番号プレースホルダー 3"/>
          <p:cNvSpPr>
            <a:spLocks noGrp="1"/>
          </p:cNvSpPr>
          <p:nvPr>
            <p:ph type="sldNum" sz="quarter" idx="11"/>
          </p:nvPr>
        </p:nvSpPr>
        <p:spPr/>
        <p:txBody>
          <a:bodyPr/>
          <a:lstStyle/>
          <a:p>
            <a:fld id="{E2B18E97-1989-4D85-BA90-17B226C62452}" type="slidenum">
              <a:rPr lang="en-US" smtClean="0"/>
              <a:pPr/>
              <a:t>‹#›</a:t>
            </a:fld>
            <a:endParaRPr lang="en-US"/>
          </a:p>
        </p:txBody>
      </p:sp>
      <p:sp>
        <p:nvSpPr>
          <p:cNvPr id="6" name="テキスト プレースホルダー 5"/>
          <p:cNvSpPr>
            <a:spLocks noGrp="1"/>
          </p:cNvSpPr>
          <p:nvPr>
            <p:ph type="body" sz="quarter" idx="12" hasCustomPrompt="1"/>
          </p:nvPr>
        </p:nvSpPr>
        <p:spPr>
          <a:xfrm>
            <a:off x="766763" y="3513600"/>
            <a:ext cx="3240000" cy="406800"/>
          </a:xfrm>
        </p:spPr>
        <p:txBody>
          <a:bodyPr/>
          <a:lstStyle>
            <a:lvl1pPr marL="0" indent="0">
              <a:buNone/>
              <a:defRPr/>
            </a:lvl1pPr>
          </a:lstStyle>
          <a:p>
            <a:pPr lvl="0"/>
            <a:r>
              <a:rPr kumimoji="1" lang="ja-JP" altLang="en-US"/>
              <a:t>図の見出しを挿入</a:t>
            </a:r>
          </a:p>
        </p:txBody>
      </p:sp>
      <p:cxnSp>
        <p:nvCxnSpPr>
          <p:cNvPr id="8" name="直線コネクタ 7">
            <a:extLst>
              <a:ext uri="{FF2B5EF4-FFF2-40B4-BE49-F238E27FC236}">
                <a16:creationId xmlns:a16="http://schemas.microsoft.com/office/drawing/2014/main" id="{FCD571D0-E8DC-134C-904F-CAD2C4C6FE27}"/>
              </a:ext>
            </a:extLst>
          </p:cNvPr>
          <p:cNvCxnSpPr>
            <a:cxnSpLocks/>
          </p:cNvCxnSpPr>
          <p:nvPr/>
        </p:nvCxnSpPr>
        <p:spPr>
          <a:xfrm>
            <a:off x="11203004" y="471645"/>
            <a:ext cx="0" cy="13850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テキスト プレースホルダー 11"/>
          <p:cNvSpPr>
            <a:spLocks noGrp="1"/>
          </p:cNvSpPr>
          <p:nvPr>
            <p:ph type="body" sz="quarter" idx="13" hasCustomPrompt="1"/>
          </p:nvPr>
        </p:nvSpPr>
        <p:spPr>
          <a:xfrm>
            <a:off x="457200" y="6465600"/>
            <a:ext cx="4557600" cy="194400"/>
          </a:xfrm>
        </p:spPr>
        <p:txBody>
          <a:bodyPr/>
          <a:lstStyle>
            <a:lvl1pPr marL="0" indent="0">
              <a:buNone/>
              <a:defRPr sz="950" b="0">
                <a:solidFill>
                  <a:schemeClr val="tx2"/>
                </a:solidFill>
              </a:defRPr>
            </a:lvl1pPr>
            <a:lvl2pPr>
              <a:defRPr sz="950"/>
            </a:lvl2pPr>
            <a:lvl3pPr>
              <a:defRPr sz="950"/>
            </a:lvl3pPr>
            <a:lvl4pPr>
              <a:defRPr sz="950"/>
            </a:lvl4pPr>
            <a:lvl5pPr>
              <a:defRPr sz="950"/>
            </a:lvl5pPr>
          </a:lstStyle>
          <a:p>
            <a:pPr lvl="0"/>
            <a:r>
              <a:rPr kumimoji="1" lang="ja-JP" altLang="en-US"/>
              <a:t>著作権の情報など、参考情報を記載する場所</a:t>
            </a:r>
          </a:p>
        </p:txBody>
      </p:sp>
      <p:sp>
        <p:nvSpPr>
          <p:cNvPr id="9" name="図プレースホルダー 8"/>
          <p:cNvSpPr>
            <a:spLocks noGrp="1"/>
          </p:cNvSpPr>
          <p:nvPr>
            <p:ph type="pic" sz="quarter" idx="14"/>
          </p:nvPr>
        </p:nvSpPr>
        <p:spPr>
          <a:xfrm>
            <a:off x="784800" y="1267200"/>
            <a:ext cx="3240000" cy="2160000"/>
          </a:xfrm>
          <a:solidFill>
            <a:schemeClr val="accent1">
              <a:lumMod val="20000"/>
              <a:lumOff val="80000"/>
            </a:schemeClr>
          </a:solidFill>
        </p:spPr>
        <p:txBody>
          <a:bodyPr/>
          <a:lstStyle/>
          <a:p>
            <a:r>
              <a:rPr kumimoji="1" lang="zh-CN" altLang="en-US"/>
              <a:t>单击图标添加图片</a:t>
            </a:r>
            <a:endParaRPr kumimoji="1" lang="ja-JP" altLang="en-US"/>
          </a:p>
        </p:txBody>
      </p:sp>
      <p:sp>
        <p:nvSpPr>
          <p:cNvPr id="11" name="テキスト プレースホルダー 5"/>
          <p:cNvSpPr>
            <a:spLocks noGrp="1"/>
          </p:cNvSpPr>
          <p:nvPr>
            <p:ph type="body" sz="quarter" idx="15" hasCustomPrompt="1"/>
          </p:nvPr>
        </p:nvSpPr>
        <p:spPr>
          <a:xfrm>
            <a:off x="766763" y="3873600"/>
            <a:ext cx="3240000" cy="2217600"/>
          </a:xfrm>
        </p:spPr>
        <p:txBody>
          <a:bodyPr/>
          <a:lstStyle>
            <a:lvl1pPr marL="0" indent="0">
              <a:buNone/>
              <a:defRPr sz="1600" b="0"/>
            </a:lvl1pPr>
          </a:lstStyle>
          <a:p>
            <a:pPr lvl="0"/>
            <a:r>
              <a:rPr kumimoji="1" lang="ja-JP" altLang="en-US"/>
              <a:t>本文を挿入</a:t>
            </a:r>
          </a:p>
        </p:txBody>
      </p:sp>
      <p:sp>
        <p:nvSpPr>
          <p:cNvPr id="16" name="テキスト プレースホルダー 5"/>
          <p:cNvSpPr>
            <a:spLocks noGrp="1"/>
          </p:cNvSpPr>
          <p:nvPr>
            <p:ph type="body" sz="quarter" idx="16" hasCustomPrompt="1"/>
          </p:nvPr>
        </p:nvSpPr>
        <p:spPr>
          <a:xfrm>
            <a:off x="8167201" y="3513600"/>
            <a:ext cx="3240000" cy="406800"/>
          </a:xfrm>
        </p:spPr>
        <p:txBody>
          <a:bodyPr/>
          <a:lstStyle>
            <a:lvl1pPr marL="0" indent="0">
              <a:buNone/>
              <a:defRPr/>
            </a:lvl1pPr>
          </a:lstStyle>
          <a:p>
            <a:pPr lvl="0"/>
            <a:r>
              <a:rPr kumimoji="1" lang="ja-JP" altLang="en-US"/>
              <a:t>図の見出しを挿入</a:t>
            </a:r>
          </a:p>
        </p:txBody>
      </p:sp>
      <p:sp>
        <p:nvSpPr>
          <p:cNvPr id="17" name="図プレースホルダー 8"/>
          <p:cNvSpPr>
            <a:spLocks noGrp="1"/>
          </p:cNvSpPr>
          <p:nvPr>
            <p:ph type="pic" sz="quarter" idx="17"/>
          </p:nvPr>
        </p:nvSpPr>
        <p:spPr>
          <a:xfrm>
            <a:off x="8185238" y="1267200"/>
            <a:ext cx="3240000" cy="2160000"/>
          </a:xfrm>
          <a:solidFill>
            <a:schemeClr val="accent1">
              <a:lumMod val="20000"/>
              <a:lumOff val="80000"/>
            </a:schemeClr>
          </a:solidFill>
        </p:spPr>
        <p:txBody>
          <a:bodyPr/>
          <a:lstStyle/>
          <a:p>
            <a:r>
              <a:rPr kumimoji="1" lang="zh-CN" altLang="en-US"/>
              <a:t>单击图标添加图片</a:t>
            </a:r>
            <a:endParaRPr kumimoji="1" lang="ja-JP" altLang="en-US"/>
          </a:p>
        </p:txBody>
      </p:sp>
      <p:sp>
        <p:nvSpPr>
          <p:cNvPr id="18" name="テキスト プレースホルダー 5"/>
          <p:cNvSpPr>
            <a:spLocks noGrp="1"/>
          </p:cNvSpPr>
          <p:nvPr>
            <p:ph type="body" sz="quarter" idx="18" hasCustomPrompt="1"/>
          </p:nvPr>
        </p:nvSpPr>
        <p:spPr>
          <a:xfrm>
            <a:off x="8167201" y="3873600"/>
            <a:ext cx="3240000" cy="2217600"/>
          </a:xfrm>
        </p:spPr>
        <p:txBody>
          <a:bodyPr/>
          <a:lstStyle>
            <a:lvl1pPr marL="0" indent="0">
              <a:buNone/>
              <a:defRPr sz="1600" b="0"/>
            </a:lvl1pPr>
          </a:lstStyle>
          <a:p>
            <a:pPr lvl="0"/>
            <a:r>
              <a:rPr kumimoji="1" lang="ja-JP" altLang="en-US"/>
              <a:t>本文を挿入</a:t>
            </a:r>
          </a:p>
        </p:txBody>
      </p:sp>
      <p:sp>
        <p:nvSpPr>
          <p:cNvPr id="19" name="テキスト プレースホルダー 5"/>
          <p:cNvSpPr>
            <a:spLocks noGrp="1"/>
          </p:cNvSpPr>
          <p:nvPr>
            <p:ph type="body" sz="quarter" idx="19" hasCustomPrompt="1"/>
          </p:nvPr>
        </p:nvSpPr>
        <p:spPr>
          <a:xfrm>
            <a:off x="4485019" y="3513600"/>
            <a:ext cx="3240000" cy="406800"/>
          </a:xfrm>
        </p:spPr>
        <p:txBody>
          <a:bodyPr/>
          <a:lstStyle>
            <a:lvl1pPr marL="0" indent="0">
              <a:buNone/>
              <a:defRPr/>
            </a:lvl1pPr>
          </a:lstStyle>
          <a:p>
            <a:pPr lvl="0"/>
            <a:r>
              <a:rPr kumimoji="1" lang="ja-JP" altLang="en-US"/>
              <a:t>図の見出しを挿入</a:t>
            </a:r>
          </a:p>
        </p:txBody>
      </p:sp>
      <p:sp>
        <p:nvSpPr>
          <p:cNvPr id="20" name="図プレースホルダー 8"/>
          <p:cNvSpPr>
            <a:spLocks noGrp="1"/>
          </p:cNvSpPr>
          <p:nvPr>
            <p:ph type="pic" sz="quarter" idx="20"/>
          </p:nvPr>
        </p:nvSpPr>
        <p:spPr>
          <a:xfrm>
            <a:off x="4485019" y="1267200"/>
            <a:ext cx="3240000" cy="2160000"/>
          </a:xfrm>
          <a:solidFill>
            <a:schemeClr val="accent1">
              <a:lumMod val="20000"/>
              <a:lumOff val="80000"/>
            </a:schemeClr>
          </a:solidFill>
        </p:spPr>
        <p:txBody>
          <a:bodyPr/>
          <a:lstStyle/>
          <a:p>
            <a:r>
              <a:rPr kumimoji="1" lang="zh-CN" altLang="en-US"/>
              <a:t>单击图标添加图片</a:t>
            </a:r>
            <a:endParaRPr kumimoji="1" lang="ja-JP" altLang="en-US"/>
          </a:p>
        </p:txBody>
      </p:sp>
      <p:sp>
        <p:nvSpPr>
          <p:cNvPr id="21" name="テキスト プレースホルダー 5"/>
          <p:cNvSpPr>
            <a:spLocks noGrp="1"/>
          </p:cNvSpPr>
          <p:nvPr>
            <p:ph type="body" sz="quarter" idx="21" hasCustomPrompt="1"/>
          </p:nvPr>
        </p:nvSpPr>
        <p:spPr>
          <a:xfrm>
            <a:off x="4485019" y="3873600"/>
            <a:ext cx="3240000" cy="2217600"/>
          </a:xfrm>
        </p:spPr>
        <p:txBody>
          <a:bodyPr/>
          <a:lstStyle>
            <a:lvl1pPr marL="0" indent="0">
              <a:buNone/>
              <a:defRPr sz="1600" b="0"/>
            </a:lvl1pPr>
          </a:lstStyle>
          <a:p>
            <a:pPr lvl="0"/>
            <a:r>
              <a:rPr kumimoji="1" lang="ja-JP" altLang="en-US"/>
              <a:t>本文を挿入</a:t>
            </a:r>
          </a:p>
        </p:txBody>
      </p:sp>
      <p:sp>
        <p:nvSpPr>
          <p:cNvPr id="22" name="テキスト プレースホルダー 13"/>
          <p:cNvSpPr>
            <a:spLocks noGrp="1"/>
          </p:cNvSpPr>
          <p:nvPr>
            <p:ph type="body" sz="quarter" idx="22" hasCustomPrompt="1"/>
          </p:nvPr>
        </p:nvSpPr>
        <p:spPr>
          <a:xfrm>
            <a:off x="8459788" y="403225"/>
            <a:ext cx="2743200" cy="277813"/>
          </a:xfrm>
        </p:spPr>
        <p:txBody>
          <a:bodyPr lIns="90000" tIns="90000" rIns="90000" anchor="ctr" anchorCtr="0"/>
          <a:lstStyle>
            <a:lvl1pPr marL="0" indent="0" algn="r">
              <a:buNone/>
              <a:defRPr sz="1200" b="0">
                <a:solidFill>
                  <a:schemeClr val="tx2"/>
                </a:solidFill>
                <a:latin typeface="+mn-ea"/>
                <a:ea typeface="+mn-ea"/>
              </a:defRPr>
            </a:lvl1pPr>
          </a:lstStyle>
          <a:p>
            <a:pPr lvl="0"/>
            <a:r>
              <a:rPr kumimoji="1" lang="en-US" altLang="ja-JP"/>
              <a:t>01</a:t>
            </a:r>
            <a:r>
              <a:rPr kumimoji="1" lang="ja-JP" altLang="en-US"/>
              <a:t>　見出しを入れる</a:t>
            </a:r>
          </a:p>
        </p:txBody>
      </p:sp>
    </p:spTree>
    <p:extLst>
      <p:ext uri="{BB962C8B-B14F-4D97-AF65-F5344CB8AC3E}">
        <p14:creationId xmlns:p14="http://schemas.microsoft.com/office/powerpoint/2010/main" val="277425151"/>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本文なし">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zh-CN" altLang="en-US"/>
              <a:t>单击此处编辑母版标题样式</a:t>
            </a:r>
            <a:endParaRPr kumimoji="1" lang="ja-JP" altLang="en-US"/>
          </a:p>
        </p:txBody>
      </p:sp>
      <p:sp>
        <p:nvSpPr>
          <p:cNvPr id="3" name="フッター プレースホルダー 2"/>
          <p:cNvSpPr>
            <a:spLocks noGrp="1"/>
          </p:cNvSpPr>
          <p:nvPr>
            <p:ph type="ftr" sz="quarter" idx="10"/>
          </p:nvPr>
        </p:nvSpPr>
        <p:spPr/>
        <p:txBody>
          <a:bodyPr/>
          <a:lstStyle/>
          <a:p>
            <a:endParaRPr lang="en-US"/>
          </a:p>
        </p:txBody>
      </p:sp>
      <p:sp>
        <p:nvSpPr>
          <p:cNvPr id="4" name="スライド番号プレースホルダー 3"/>
          <p:cNvSpPr>
            <a:spLocks noGrp="1"/>
          </p:cNvSpPr>
          <p:nvPr>
            <p:ph type="sldNum" sz="quarter" idx="11"/>
          </p:nvPr>
        </p:nvSpPr>
        <p:spPr/>
        <p:txBody>
          <a:bodyPr/>
          <a:lstStyle/>
          <a:p>
            <a:fld id="{E2B18E97-1989-4D85-BA90-17B226C62452}" type="slidenum">
              <a:rPr lang="en-US" smtClean="0"/>
              <a:pPr/>
              <a:t>‹#›</a:t>
            </a:fld>
            <a:endParaRPr lang="en-US"/>
          </a:p>
        </p:txBody>
      </p:sp>
      <p:cxnSp>
        <p:nvCxnSpPr>
          <p:cNvPr id="8" name="直線コネクタ 7">
            <a:extLst>
              <a:ext uri="{FF2B5EF4-FFF2-40B4-BE49-F238E27FC236}">
                <a16:creationId xmlns:a16="http://schemas.microsoft.com/office/drawing/2014/main" id="{FCD571D0-E8DC-134C-904F-CAD2C4C6FE27}"/>
              </a:ext>
            </a:extLst>
          </p:cNvPr>
          <p:cNvCxnSpPr>
            <a:cxnSpLocks/>
          </p:cNvCxnSpPr>
          <p:nvPr/>
        </p:nvCxnSpPr>
        <p:spPr>
          <a:xfrm>
            <a:off x="11203004" y="471645"/>
            <a:ext cx="0" cy="13850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テキスト プレースホルダー 11"/>
          <p:cNvSpPr>
            <a:spLocks noGrp="1"/>
          </p:cNvSpPr>
          <p:nvPr>
            <p:ph type="body" sz="quarter" idx="13" hasCustomPrompt="1"/>
          </p:nvPr>
        </p:nvSpPr>
        <p:spPr>
          <a:xfrm>
            <a:off x="457200" y="6465600"/>
            <a:ext cx="4557600" cy="194400"/>
          </a:xfrm>
        </p:spPr>
        <p:txBody>
          <a:bodyPr/>
          <a:lstStyle>
            <a:lvl1pPr marL="0" indent="0">
              <a:buNone/>
              <a:defRPr sz="950" b="0">
                <a:solidFill>
                  <a:schemeClr val="tx2"/>
                </a:solidFill>
              </a:defRPr>
            </a:lvl1pPr>
            <a:lvl2pPr>
              <a:defRPr sz="950"/>
            </a:lvl2pPr>
            <a:lvl3pPr>
              <a:defRPr sz="950"/>
            </a:lvl3pPr>
            <a:lvl4pPr>
              <a:defRPr sz="950"/>
            </a:lvl4pPr>
            <a:lvl5pPr>
              <a:defRPr sz="950"/>
            </a:lvl5pPr>
          </a:lstStyle>
          <a:p>
            <a:pPr lvl="0"/>
            <a:r>
              <a:rPr kumimoji="1" lang="ja-JP" altLang="en-US"/>
              <a:t>著作権の情報など、参考情報を記載する場所</a:t>
            </a:r>
          </a:p>
        </p:txBody>
      </p:sp>
      <p:sp>
        <p:nvSpPr>
          <p:cNvPr id="9" name="テキスト プレースホルダー 5"/>
          <p:cNvSpPr>
            <a:spLocks noGrp="1"/>
          </p:cNvSpPr>
          <p:nvPr>
            <p:ph type="body" sz="quarter" idx="19" hasCustomPrompt="1"/>
          </p:nvPr>
        </p:nvSpPr>
        <p:spPr>
          <a:xfrm>
            <a:off x="8185238" y="1268413"/>
            <a:ext cx="3240000" cy="406800"/>
          </a:xfrm>
        </p:spPr>
        <p:txBody>
          <a:bodyPr/>
          <a:lstStyle>
            <a:lvl1pPr marL="0" indent="0">
              <a:buNone/>
              <a:defRPr/>
            </a:lvl1pPr>
          </a:lstStyle>
          <a:p>
            <a:pPr lvl="0"/>
            <a:r>
              <a:rPr kumimoji="1" lang="ja-JP" altLang="en-US"/>
              <a:t>見出しを挿入</a:t>
            </a:r>
          </a:p>
        </p:txBody>
      </p:sp>
      <p:sp>
        <p:nvSpPr>
          <p:cNvPr id="10" name="テキスト プレースホルダー 5"/>
          <p:cNvSpPr>
            <a:spLocks noGrp="1"/>
          </p:cNvSpPr>
          <p:nvPr>
            <p:ph type="body" sz="quarter" idx="21" hasCustomPrompt="1"/>
          </p:nvPr>
        </p:nvSpPr>
        <p:spPr>
          <a:xfrm>
            <a:off x="8185238" y="1628413"/>
            <a:ext cx="3240000" cy="2217600"/>
          </a:xfrm>
        </p:spPr>
        <p:txBody>
          <a:bodyPr/>
          <a:lstStyle>
            <a:lvl1pPr marL="0" indent="0">
              <a:buNone/>
              <a:defRPr sz="1600" b="0"/>
            </a:lvl1pPr>
          </a:lstStyle>
          <a:p>
            <a:pPr lvl="0"/>
            <a:r>
              <a:rPr kumimoji="1" lang="ja-JP" altLang="en-US"/>
              <a:t>本文を挿入</a:t>
            </a:r>
          </a:p>
        </p:txBody>
      </p:sp>
      <p:sp>
        <p:nvSpPr>
          <p:cNvPr id="14" name="テキスト プレースホルダー 13"/>
          <p:cNvSpPr>
            <a:spLocks noGrp="1"/>
          </p:cNvSpPr>
          <p:nvPr>
            <p:ph type="body" sz="quarter" idx="15" hasCustomPrompt="1"/>
          </p:nvPr>
        </p:nvSpPr>
        <p:spPr>
          <a:xfrm>
            <a:off x="8459788" y="403225"/>
            <a:ext cx="2743200" cy="277813"/>
          </a:xfrm>
        </p:spPr>
        <p:txBody>
          <a:bodyPr lIns="90000" tIns="90000" rIns="90000" anchor="ctr" anchorCtr="0"/>
          <a:lstStyle>
            <a:lvl1pPr marL="0" indent="0" algn="r">
              <a:buNone/>
              <a:defRPr sz="1200" b="0">
                <a:solidFill>
                  <a:schemeClr val="tx2"/>
                </a:solidFill>
                <a:latin typeface="+mn-ea"/>
                <a:ea typeface="+mn-ea"/>
              </a:defRPr>
            </a:lvl1pPr>
          </a:lstStyle>
          <a:p>
            <a:pPr lvl="0"/>
            <a:r>
              <a:rPr kumimoji="1" lang="en-US" altLang="ja-JP"/>
              <a:t>01</a:t>
            </a:r>
            <a:r>
              <a:rPr kumimoji="1" lang="ja-JP" altLang="en-US"/>
              <a:t>　見出しを入れる</a:t>
            </a:r>
          </a:p>
        </p:txBody>
      </p:sp>
    </p:spTree>
    <p:extLst>
      <p:ext uri="{BB962C8B-B14F-4D97-AF65-F5344CB8AC3E}">
        <p14:creationId xmlns:p14="http://schemas.microsoft.com/office/powerpoint/2010/main" val="3597054779"/>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映像挿入用">
    <p:spTree>
      <p:nvGrpSpPr>
        <p:cNvPr id="1" name=""/>
        <p:cNvGrpSpPr/>
        <p:nvPr/>
      </p:nvGrpSpPr>
      <p:grpSpPr>
        <a:xfrm>
          <a:off x="0" y="0"/>
          <a:ext cx="0" cy="0"/>
          <a:chOff x="0" y="0"/>
          <a:chExt cx="0" cy="0"/>
        </a:xfrm>
      </p:grpSpPr>
      <p:sp>
        <p:nvSpPr>
          <p:cNvPr id="3" name="フッター プレースホルダー 2"/>
          <p:cNvSpPr>
            <a:spLocks noGrp="1"/>
          </p:cNvSpPr>
          <p:nvPr>
            <p:ph type="ftr" sz="quarter" idx="10"/>
          </p:nvPr>
        </p:nvSpPr>
        <p:spPr/>
        <p:txBody>
          <a:bodyPr/>
          <a:lstStyle/>
          <a:p>
            <a:endParaRPr lang="en-US"/>
          </a:p>
        </p:txBody>
      </p:sp>
      <p:sp>
        <p:nvSpPr>
          <p:cNvPr id="5" name="正方形/長方形 4"/>
          <p:cNvSpPr/>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1" name="メディア プレースホルダー 13">
            <a:extLst>
              <a:ext uri="{FF2B5EF4-FFF2-40B4-BE49-F238E27FC236}">
                <a16:creationId xmlns:a16="http://schemas.microsoft.com/office/drawing/2014/main" id="{684C1CAD-C30B-7E43-B5D2-24B291D6F0E3}"/>
              </a:ext>
            </a:extLst>
          </p:cNvPr>
          <p:cNvSpPr>
            <a:spLocks noGrp="1"/>
          </p:cNvSpPr>
          <p:nvPr>
            <p:ph type="media" sz="quarter" idx="11"/>
          </p:nvPr>
        </p:nvSpPr>
        <p:spPr>
          <a:xfrm>
            <a:off x="949325" y="792163"/>
            <a:ext cx="10293350" cy="5273675"/>
          </a:xfrm>
        </p:spPr>
        <p:txBody>
          <a:bodyPr/>
          <a:lstStyle/>
          <a:p>
            <a:r>
              <a:rPr kumimoji="1" lang="zh-CN" altLang="en-US"/>
              <a:t>单击图标添加媒体</a:t>
            </a:r>
            <a:endParaRPr kumimoji="1" lang="ja-JP" altLang="en-US"/>
          </a:p>
        </p:txBody>
      </p:sp>
    </p:spTree>
    <p:extLst>
      <p:ext uri="{BB962C8B-B14F-4D97-AF65-F5344CB8AC3E}">
        <p14:creationId xmlns:p14="http://schemas.microsoft.com/office/powerpoint/2010/main" val="3269034505"/>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扉１">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398D7F38-DDA7-4F41-9C45-DC88D48798CB}"/>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kumimoji="1" lang="ja-JP" altLang="en-US" sz="1400">
              <a:latin typeface="Hiragino Kaku Gothic Pro W3" panose="020B0300000000000000" pitchFamily="34" charset="-128"/>
              <a:ea typeface="Hiragino Kaku Gothic Pro W3" panose="020B0300000000000000" pitchFamily="34" charset="-128"/>
            </a:endParaRPr>
          </a:p>
        </p:txBody>
      </p:sp>
      <p:sp>
        <p:nvSpPr>
          <p:cNvPr id="11" name="正方形/長方形 10">
            <a:extLst>
              <a:ext uri="{FF2B5EF4-FFF2-40B4-BE49-F238E27FC236}">
                <a16:creationId xmlns:a16="http://schemas.microsoft.com/office/drawing/2014/main" id="{B1D5614A-0C16-C347-8073-D8211B5B5E93}"/>
              </a:ext>
            </a:extLst>
          </p:cNvPr>
          <p:cNvSpPr/>
          <p:nvPr/>
        </p:nvSpPr>
        <p:spPr>
          <a:xfrm>
            <a:off x="7428000" y="0"/>
            <a:ext cx="4764000" cy="6858000"/>
          </a:xfrm>
          <a:prstGeom prst="rect">
            <a:avLst/>
          </a:prstGeom>
          <a:solidFill>
            <a:srgbClr val="00B0F0">
              <a:alpha val="28235"/>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C00000"/>
              </a:solidFill>
            </a:endParaRPr>
          </a:p>
        </p:txBody>
      </p:sp>
      <p:sp>
        <p:nvSpPr>
          <p:cNvPr id="2" name="タイトル 1"/>
          <p:cNvSpPr>
            <a:spLocks noGrp="1"/>
          </p:cNvSpPr>
          <p:nvPr>
            <p:ph type="title" hasCustomPrompt="1"/>
          </p:nvPr>
        </p:nvSpPr>
        <p:spPr/>
        <p:txBody>
          <a:bodyPr/>
          <a:lstStyle/>
          <a:p>
            <a:r>
              <a:rPr kumimoji="1" lang="ja-JP" altLang="en-US"/>
              <a:t>中扉タイトル１</a:t>
            </a:r>
          </a:p>
        </p:txBody>
      </p:sp>
      <p:sp>
        <p:nvSpPr>
          <p:cNvPr id="3" name="フッター プレースホルダー 2"/>
          <p:cNvSpPr>
            <a:spLocks noGrp="1"/>
          </p:cNvSpPr>
          <p:nvPr>
            <p:ph type="ftr" sz="quarter" idx="10"/>
          </p:nvPr>
        </p:nvSpPr>
        <p:spPr/>
        <p:txBody>
          <a:bodyPr/>
          <a:lstStyle/>
          <a:p>
            <a:endParaRPr lang="en-US"/>
          </a:p>
        </p:txBody>
      </p:sp>
      <p:sp>
        <p:nvSpPr>
          <p:cNvPr id="4" name="スライド番号プレースホルダー 3"/>
          <p:cNvSpPr>
            <a:spLocks noGrp="1"/>
          </p:cNvSpPr>
          <p:nvPr>
            <p:ph type="sldNum" sz="quarter" idx="11"/>
          </p:nvPr>
        </p:nvSpPr>
        <p:spPr/>
        <p:txBody>
          <a:bodyPr/>
          <a:lstStyle/>
          <a:p>
            <a:fld id="{E2B18E97-1989-4D85-BA90-17B226C62452}" type="slidenum">
              <a:rPr lang="en-US" smtClean="0"/>
              <a:pPr/>
              <a:t>‹#›</a:t>
            </a:fld>
            <a:endParaRPr lang="en-US"/>
          </a:p>
        </p:txBody>
      </p:sp>
      <p:cxnSp>
        <p:nvCxnSpPr>
          <p:cNvPr id="8" name="直線コネクタ 7">
            <a:extLst>
              <a:ext uri="{FF2B5EF4-FFF2-40B4-BE49-F238E27FC236}">
                <a16:creationId xmlns:a16="http://schemas.microsoft.com/office/drawing/2014/main" id="{FCD571D0-E8DC-134C-904F-CAD2C4C6FE27}"/>
              </a:ext>
            </a:extLst>
          </p:cNvPr>
          <p:cNvCxnSpPr>
            <a:cxnSpLocks/>
          </p:cNvCxnSpPr>
          <p:nvPr/>
        </p:nvCxnSpPr>
        <p:spPr>
          <a:xfrm>
            <a:off x="11203004" y="471645"/>
            <a:ext cx="0" cy="13850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 name="図プレースホルダー 8">
            <a:extLst>
              <a:ext uri="{FF2B5EF4-FFF2-40B4-BE49-F238E27FC236}">
                <a16:creationId xmlns:a16="http://schemas.microsoft.com/office/drawing/2014/main" id="{4D4C501F-A81B-BD42-8EE6-016A977A2FA9}"/>
              </a:ext>
            </a:extLst>
          </p:cNvPr>
          <p:cNvSpPr>
            <a:spLocks noGrp="1"/>
          </p:cNvSpPr>
          <p:nvPr>
            <p:ph type="pic" sz="quarter" idx="12"/>
          </p:nvPr>
        </p:nvSpPr>
        <p:spPr>
          <a:xfrm>
            <a:off x="766763" y="901521"/>
            <a:ext cx="10658476" cy="5227817"/>
          </a:xfrm>
          <a:prstGeom prst="roundRect">
            <a:avLst>
              <a:gd name="adj" fmla="val 4655"/>
            </a:avLst>
          </a:prstGeom>
          <a:solidFill>
            <a:schemeClr val="bg1"/>
          </a:solidFill>
        </p:spPr>
        <p:txBody>
          <a:bodyPr/>
          <a:lstStyle/>
          <a:p>
            <a:r>
              <a:rPr kumimoji="1" lang="zh-CN" altLang="en-US"/>
              <a:t>单击图标添加图片</a:t>
            </a:r>
            <a:endParaRPr kumimoji="1" lang="ja-JP" altLang="en-US"/>
          </a:p>
        </p:txBody>
      </p:sp>
      <p:sp>
        <p:nvSpPr>
          <p:cNvPr id="13" name="テキスト プレースホルダー 13"/>
          <p:cNvSpPr>
            <a:spLocks noGrp="1"/>
          </p:cNvSpPr>
          <p:nvPr>
            <p:ph type="body" sz="quarter" idx="15" hasCustomPrompt="1"/>
          </p:nvPr>
        </p:nvSpPr>
        <p:spPr>
          <a:xfrm>
            <a:off x="8459788" y="403225"/>
            <a:ext cx="2743200" cy="277813"/>
          </a:xfrm>
        </p:spPr>
        <p:txBody>
          <a:bodyPr lIns="90000" tIns="90000" rIns="90000" anchor="ctr" anchorCtr="0"/>
          <a:lstStyle>
            <a:lvl1pPr marL="0" indent="0" algn="r">
              <a:buNone/>
              <a:defRPr sz="1200" b="0">
                <a:solidFill>
                  <a:schemeClr val="tx2"/>
                </a:solidFill>
                <a:latin typeface="+mn-ea"/>
                <a:ea typeface="+mn-ea"/>
              </a:defRPr>
            </a:lvl1pPr>
          </a:lstStyle>
          <a:p>
            <a:pPr lvl="0"/>
            <a:r>
              <a:rPr kumimoji="1" lang="en-US" altLang="ja-JP"/>
              <a:t>01</a:t>
            </a:r>
            <a:r>
              <a:rPr kumimoji="1" lang="ja-JP" altLang="en-US"/>
              <a:t>　見出しを入れる</a:t>
            </a:r>
          </a:p>
        </p:txBody>
      </p:sp>
    </p:spTree>
    <p:extLst>
      <p:ext uri="{BB962C8B-B14F-4D97-AF65-F5344CB8AC3E}">
        <p14:creationId xmlns:p14="http://schemas.microsoft.com/office/powerpoint/2010/main" val="1720480927"/>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扉２">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398D7F38-DDA7-4F41-9C45-DC88D48798CB}"/>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kumimoji="1" lang="ja-JP" altLang="en-US" sz="1400">
              <a:latin typeface="Hiragino Kaku Gothic Pro W3" panose="020B0300000000000000" pitchFamily="34" charset="-128"/>
              <a:ea typeface="Hiragino Kaku Gothic Pro W3" panose="020B0300000000000000" pitchFamily="34" charset="-128"/>
            </a:endParaRPr>
          </a:p>
        </p:txBody>
      </p:sp>
      <p:sp>
        <p:nvSpPr>
          <p:cNvPr id="11" name="正方形/長方形 10">
            <a:extLst>
              <a:ext uri="{FF2B5EF4-FFF2-40B4-BE49-F238E27FC236}">
                <a16:creationId xmlns:a16="http://schemas.microsoft.com/office/drawing/2014/main" id="{B1D5614A-0C16-C347-8073-D8211B5B5E93}"/>
              </a:ext>
            </a:extLst>
          </p:cNvPr>
          <p:cNvSpPr/>
          <p:nvPr/>
        </p:nvSpPr>
        <p:spPr>
          <a:xfrm>
            <a:off x="7428000" y="0"/>
            <a:ext cx="4764000" cy="6858000"/>
          </a:xfrm>
          <a:prstGeom prst="rect">
            <a:avLst/>
          </a:prstGeom>
          <a:solidFill>
            <a:srgbClr val="C0000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C00000"/>
              </a:solidFill>
            </a:endParaRPr>
          </a:p>
        </p:txBody>
      </p:sp>
      <p:sp>
        <p:nvSpPr>
          <p:cNvPr id="2" name="タイトル 1"/>
          <p:cNvSpPr>
            <a:spLocks noGrp="1"/>
          </p:cNvSpPr>
          <p:nvPr>
            <p:ph type="title" hasCustomPrompt="1"/>
          </p:nvPr>
        </p:nvSpPr>
        <p:spPr/>
        <p:txBody>
          <a:bodyPr/>
          <a:lstStyle/>
          <a:p>
            <a:r>
              <a:rPr kumimoji="1" lang="ja-JP" altLang="en-US"/>
              <a:t>中扉タイトル２</a:t>
            </a:r>
          </a:p>
        </p:txBody>
      </p:sp>
      <p:sp>
        <p:nvSpPr>
          <p:cNvPr id="3" name="フッター プレースホルダー 2"/>
          <p:cNvSpPr>
            <a:spLocks noGrp="1"/>
          </p:cNvSpPr>
          <p:nvPr>
            <p:ph type="ftr" sz="quarter" idx="10"/>
          </p:nvPr>
        </p:nvSpPr>
        <p:spPr/>
        <p:txBody>
          <a:bodyPr/>
          <a:lstStyle/>
          <a:p>
            <a:endParaRPr lang="en-US"/>
          </a:p>
        </p:txBody>
      </p:sp>
      <p:sp>
        <p:nvSpPr>
          <p:cNvPr id="4" name="スライド番号プレースホルダー 3"/>
          <p:cNvSpPr>
            <a:spLocks noGrp="1"/>
          </p:cNvSpPr>
          <p:nvPr>
            <p:ph type="sldNum" sz="quarter" idx="11"/>
          </p:nvPr>
        </p:nvSpPr>
        <p:spPr/>
        <p:txBody>
          <a:bodyPr/>
          <a:lstStyle>
            <a:lvl1pPr>
              <a:defRPr>
                <a:solidFill>
                  <a:schemeClr val="bg1"/>
                </a:solidFill>
              </a:defRPr>
            </a:lvl1pPr>
          </a:lstStyle>
          <a:p>
            <a:fld id="{E2B18E97-1989-4D85-BA90-17B226C62452}" type="slidenum">
              <a:rPr lang="en-US" smtClean="0"/>
              <a:pPr/>
              <a:t>‹#›</a:t>
            </a:fld>
            <a:endParaRPr lang="en-US"/>
          </a:p>
        </p:txBody>
      </p:sp>
      <p:cxnSp>
        <p:nvCxnSpPr>
          <p:cNvPr id="8" name="直線コネクタ 7">
            <a:extLst>
              <a:ext uri="{FF2B5EF4-FFF2-40B4-BE49-F238E27FC236}">
                <a16:creationId xmlns:a16="http://schemas.microsoft.com/office/drawing/2014/main" id="{FCD571D0-E8DC-134C-904F-CAD2C4C6FE27}"/>
              </a:ext>
            </a:extLst>
          </p:cNvPr>
          <p:cNvCxnSpPr>
            <a:cxnSpLocks/>
          </p:cNvCxnSpPr>
          <p:nvPr/>
        </p:nvCxnSpPr>
        <p:spPr>
          <a:xfrm>
            <a:off x="11203004" y="471645"/>
            <a:ext cx="0" cy="1385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図プレースホルダー 8">
            <a:extLst>
              <a:ext uri="{FF2B5EF4-FFF2-40B4-BE49-F238E27FC236}">
                <a16:creationId xmlns:a16="http://schemas.microsoft.com/office/drawing/2014/main" id="{4D4C501F-A81B-BD42-8EE6-016A977A2FA9}"/>
              </a:ext>
            </a:extLst>
          </p:cNvPr>
          <p:cNvSpPr>
            <a:spLocks noGrp="1"/>
          </p:cNvSpPr>
          <p:nvPr>
            <p:ph type="pic" sz="quarter" idx="12"/>
          </p:nvPr>
        </p:nvSpPr>
        <p:spPr>
          <a:xfrm>
            <a:off x="766763" y="901521"/>
            <a:ext cx="10658476" cy="5227817"/>
          </a:xfrm>
          <a:prstGeom prst="roundRect">
            <a:avLst>
              <a:gd name="adj" fmla="val 4655"/>
            </a:avLst>
          </a:prstGeom>
          <a:solidFill>
            <a:schemeClr val="bg1"/>
          </a:solidFill>
        </p:spPr>
        <p:txBody>
          <a:bodyPr/>
          <a:lstStyle/>
          <a:p>
            <a:r>
              <a:rPr kumimoji="1" lang="zh-CN" altLang="en-US"/>
              <a:t>单击图标添加图片</a:t>
            </a:r>
            <a:endParaRPr kumimoji="1" lang="ja-JP" altLang="en-US"/>
          </a:p>
        </p:txBody>
      </p:sp>
      <p:sp>
        <p:nvSpPr>
          <p:cNvPr id="12" name="テキスト プレースホルダー 13"/>
          <p:cNvSpPr>
            <a:spLocks noGrp="1"/>
          </p:cNvSpPr>
          <p:nvPr>
            <p:ph type="body" sz="quarter" idx="15" hasCustomPrompt="1"/>
          </p:nvPr>
        </p:nvSpPr>
        <p:spPr>
          <a:xfrm>
            <a:off x="8459788" y="403225"/>
            <a:ext cx="2743200" cy="277813"/>
          </a:xfrm>
        </p:spPr>
        <p:txBody>
          <a:bodyPr lIns="90000" tIns="90000" rIns="90000" anchor="ctr" anchorCtr="0"/>
          <a:lstStyle>
            <a:lvl1pPr marL="0" indent="0" algn="r">
              <a:buNone/>
              <a:defRPr sz="1200" b="0">
                <a:solidFill>
                  <a:schemeClr val="bg1"/>
                </a:solidFill>
                <a:latin typeface="+mn-ea"/>
                <a:ea typeface="+mn-ea"/>
              </a:defRPr>
            </a:lvl1pPr>
          </a:lstStyle>
          <a:p>
            <a:pPr lvl="0"/>
            <a:r>
              <a:rPr kumimoji="1" lang="en-US" altLang="ja-JP"/>
              <a:t>01</a:t>
            </a:r>
            <a:r>
              <a:rPr kumimoji="1" lang="ja-JP" altLang="en-US"/>
              <a:t>　見出しを入れる</a:t>
            </a:r>
          </a:p>
        </p:txBody>
      </p:sp>
    </p:spTree>
    <p:extLst>
      <p:ext uri="{BB962C8B-B14F-4D97-AF65-F5344CB8AC3E}">
        <p14:creationId xmlns:p14="http://schemas.microsoft.com/office/powerpoint/2010/main" val="1950366524"/>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扉３">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398D7F38-DDA7-4F41-9C45-DC88D48798CB}"/>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kumimoji="1" lang="ja-JP" altLang="en-US" sz="1400">
              <a:latin typeface="Hiragino Kaku Gothic Pro W3" panose="020B0300000000000000" pitchFamily="34" charset="-128"/>
              <a:ea typeface="Hiragino Kaku Gothic Pro W3" panose="020B0300000000000000" pitchFamily="34" charset="-128"/>
            </a:endParaRPr>
          </a:p>
        </p:txBody>
      </p:sp>
      <p:sp>
        <p:nvSpPr>
          <p:cNvPr id="11" name="正方形/長方形 10">
            <a:extLst>
              <a:ext uri="{FF2B5EF4-FFF2-40B4-BE49-F238E27FC236}">
                <a16:creationId xmlns:a16="http://schemas.microsoft.com/office/drawing/2014/main" id="{B1D5614A-0C16-C347-8073-D8211B5B5E93}"/>
              </a:ext>
            </a:extLst>
          </p:cNvPr>
          <p:cNvSpPr/>
          <p:nvPr/>
        </p:nvSpPr>
        <p:spPr>
          <a:xfrm>
            <a:off x="7428000" y="0"/>
            <a:ext cx="4764000" cy="6858000"/>
          </a:xfrm>
          <a:prstGeom prst="rect">
            <a:avLst/>
          </a:prstGeom>
          <a:solidFill>
            <a:srgbClr val="E3C84C">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C00000"/>
              </a:solidFill>
            </a:endParaRPr>
          </a:p>
        </p:txBody>
      </p:sp>
      <p:sp>
        <p:nvSpPr>
          <p:cNvPr id="2" name="タイトル 1"/>
          <p:cNvSpPr>
            <a:spLocks noGrp="1"/>
          </p:cNvSpPr>
          <p:nvPr>
            <p:ph type="title" hasCustomPrompt="1"/>
          </p:nvPr>
        </p:nvSpPr>
        <p:spPr/>
        <p:txBody>
          <a:bodyPr/>
          <a:lstStyle/>
          <a:p>
            <a:r>
              <a:rPr kumimoji="1" lang="ja-JP" altLang="en-US"/>
              <a:t>中扉タイトル３</a:t>
            </a:r>
          </a:p>
        </p:txBody>
      </p:sp>
      <p:sp>
        <p:nvSpPr>
          <p:cNvPr id="3" name="フッター プレースホルダー 2"/>
          <p:cNvSpPr>
            <a:spLocks noGrp="1"/>
          </p:cNvSpPr>
          <p:nvPr>
            <p:ph type="ftr" sz="quarter" idx="10"/>
          </p:nvPr>
        </p:nvSpPr>
        <p:spPr/>
        <p:txBody>
          <a:bodyPr/>
          <a:lstStyle/>
          <a:p>
            <a:endParaRPr lang="en-US"/>
          </a:p>
        </p:txBody>
      </p:sp>
      <p:sp>
        <p:nvSpPr>
          <p:cNvPr id="4" name="スライド番号プレースホルダー 3"/>
          <p:cNvSpPr>
            <a:spLocks noGrp="1"/>
          </p:cNvSpPr>
          <p:nvPr>
            <p:ph type="sldNum" sz="quarter" idx="11"/>
          </p:nvPr>
        </p:nvSpPr>
        <p:spPr/>
        <p:txBody>
          <a:bodyPr/>
          <a:lstStyle/>
          <a:p>
            <a:fld id="{E2B18E97-1989-4D85-BA90-17B226C62452}" type="slidenum">
              <a:rPr lang="en-US" smtClean="0"/>
              <a:pPr/>
              <a:t>‹#›</a:t>
            </a:fld>
            <a:endParaRPr lang="en-US"/>
          </a:p>
        </p:txBody>
      </p:sp>
      <p:cxnSp>
        <p:nvCxnSpPr>
          <p:cNvPr id="8" name="直線コネクタ 7">
            <a:extLst>
              <a:ext uri="{FF2B5EF4-FFF2-40B4-BE49-F238E27FC236}">
                <a16:creationId xmlns:a16="http://schemas.microsoft.com/office/drawing/2014/main" id="{FCD571D0-E8DC-134C-904F-CAD2C4C6FE27}"/>
              </a:ext>
            </a:extLst>
          </p:cNvPr>
          <p:cNvCxnSpPr>
            <a:cxnSpLocks/>
          </p:cNvCxnSpPr>
          <p:nvPr/>
        </p:nvCxnSpPr>
        <p:spPr>
          <a:xfrm>
            <a:off x="11203004" y="471645"/>
            <a:ext cx="0" cy="13850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 name="図プレースホルダー 8">
            <a:extLst>
              <a:ext uri="{FF2B5EF4-FFF2-40B4-BE49-F238E27FC236}">
                <a16:creationId xmlns:a16="http://schemas.microsoft.com/office/drawing/2014/main" id="{4D4C501F-A81B-BD42-8EE6-016A977A2FA9}"/>
              </a:ext>
            </a:extLst>
          </p:cNvPr>
          <p:cNvSpPr>
            <a:spLocks noGrp="1"/>
          </p:cNvSpPr>
          <p:nvPr>
            <p:ph type="pic" sz="quarter" idx="12"/>
          </p:nvPr>
        </p:nvSpPr>
        <p:spPr>
          <a:xfrm>
            <a:off x="766763" y="901521"/>
            <a:ext cx="10658476" cy="5227817"/>
          </a:xfrm>
          <a:prstGeom prst="roundRect">
            <a:avLst>
              <a:gd name="adj" fmla="val 4655"/>
            </a:avLst>
          </a:prstGeom>
          <a:solidFill>
            <a:schemeClr val="bg1"/>
          </a:solidFill>
        </p:spPr>
        <p:txBody>
          <a:bodyPr/>
          <a:lstStyle/>
          <a:p>
            <a:r>
              <a:rPr kumimoji="1" lang="zh-CN" altLang="en-US"/>
              <a:t>单击图标添加图片</a:t>
            </a:r>
            <a:endParaRPr kumimoji="1" lang="ja-JP" altLang="en-US"/>
          </a:p>
        </p:txBody>
      </p:sp>
      <p:sp>
        <p:nvSpPr>
          <p:cNvPr id="12" name="テキスト プレースホルダー 13"/>
          <p:cNvSpPr>
            <a:spLocks noGrp="1"/>
          </p:cNvSpPr>
          <p:nvPr>
            <p:ph type="body" sz="quarter" idx="15" hasCustomPrompt="1"/>
          </p:nvPr>
        </p:nvSpPr>
        <p:spPr>
          <a:xfrm>
            <a:off x="8459788" y="403225"/>
            <a:ext cx="2743200" cy="277813"/>
          </a:xfrm>
        </p:spPr>
        <p:txBody>
          <a:bodyPr lIns="90000" tIns="90000" rIns="90000" anchor="ctr" anchorCtr="0"/>
          <a:lstStyle>
            <a:lvl1pPr marL="0" indent="0" algn="r">
              <a:buNone/>
              <a:defRPr sz="1200" b="0">
                <a:solidFill>
                  <a:schemeClr val="tx2"/>
                </a:solidFill>
                <a:latin typeface="+mn-ea"/>
                <a:ea typeface="+mn-ea"/>
              </a:defRPr>
            </a:lvl1pPr>
          </a:lstStyle>
          <a:p>
            <a:pPr lvl="0"/>
            <a:r>
              <a:rPr kumimoji="1" lang="en-US" altLang="ja-JP"/>
              <a:t>01</a:t>
            </a:r>
            <a:r>
              <a:rPr kumimoji="1" lang="ja-JP" altLang="en-US"/>
              <a:t>　見出しを入れる</a:t>
            </a:r>
          </a:p>
        </p:txBody>
      </p:sp>
    </p:spTree>
    <p:extLst>
      <p:ext uri="{BB962C8B-B14F-4D97-AF65-F5344CB8AC3E}">
        <p14:creationId xmlns:p14="http://schemas.microsoft.com/office/powerpoint/2010/main" val="4001085305"/>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扉４">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398D7F38-DDA7-4F41-9C45-DC88D48798CB}"/>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kumimoji="1" lang="ja-JP" altLang="en-US" sz="1400">
              <a:latin typeface="Hiragino Kaku Gothic Pro W3" panose="020B0300000000000000" pitchFamily="34" charset="-128"/>
              <a:ea typeface="Hiragino Kaku Gothic Pro W3" panose="020B0300000000000000" pitchFamily="34" charset="-128"/>
            </a:endParaRPr>
          </a:p>
        </p:txBody>
      </p:sp>
      <p:sp>
        <p:nvSpPr>
          <p:cNvPr id="11" name="正方形/長方形 10">
            <a:extLst>
              <a:ext uri="{FF2B5EF4-FFF2-40B4-BE49-F238E27FC236}">
                <a16:creationId xmlns:a16="http://schemas.microsoft.com/office/drawing/2014/main" id="{B1D5614A-0C16-C347-8073-D8211B5B5E93}"/>
              </a:ext>
            </a:extLst>
          </p:cNvPr>
          <p:cNvSpPr/>
          <p:nvPr/>
        </p:nvSpPr>
        <p:spPr>
          <a:xfrm>
            <a:off x="7428000" y="0"/>
            <a:ext cx="4764000" cy="6858000"/>
          </a:xfrm>
          <a:prstGeom prst="rect">
            <a:avLst/>
          </a:prstGeom>
          <a:solidFill>
            <a:srgbClr val="548234">
              <a:alpha val="5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C00000"/>
              </a:solidFill>
            </a:endParaRPr>
          </a:p>
        </p:txBody>
      </p:sp>
      <p:sp>
        <p:nvSpPr>
          <p:cNvPr id="2" name="タイトル 1"/>
          <p:cNvSpPr>
            <a:spLocks noGrp="1"/>
          </p:cNvSpPr>
          <p:nvPr>
            <p:ph type="title" hasCustomPrompt="1"/>
          </p:nvPr>
        </p:nvSpPr>
        <p:spPr/>
        <p:txBody>
          <a:bodyPr/>
          <a:lstStyle/>
          <a:p>
            <a:r>
              <a:rPr kumimoji="1" lang="ja-JP" altLang="en-US"/>
              <a:t>中扉タイトル４</a:t>
            </a:r>
          </a:p>
        </p:txBody>
      </p:sp>
      <p:sp>
        <p:nvSpPr>
          <p:cNvPr id="3" name="フッター プレースホルダー 2"/>
          <p:cNvSpPr>
            <a:spLocks noGrp="1"/>
          </p:cNvSpPr>
          <p:nvPr>
            <p:ph type="ftr" sz="quarter" idx="10"/>
          </p:nvPr>
        </p:nvSpPr>
        <p:spPr/>
        <p:txBody>
          <a:bodyPr/>
          <a:lstStyle/>
          <a:p>
            <a:endParaRPr lang="en-US"/>
          </a:p>
        </p:txBody>
      </p:sp>
      <p:sp>
        <p:nvSpPr>
          <p:cNvPr id="4" name="スライド番号プレースホルダー 3"/>
          <p:cNvSpPr>
            <a:spLocks noGrp="1"/>
          </p:cNvSpPr>
          <p:nvPr>
            <p:ph type="sldNum" sz="quarter" idx="11"/>
          </p:nvPr>
        </p:nvSpPr>
        <p:spPr/>
        <p:txBody>
          <a:bodyPr/>
          <a:lstStyle>
            <a:lvl1pPr>
              <a:defRPr>
                <a:solidFill>
                  <a:schemeClr val="bg1"/>
                </a:solidFill>
              </a:defRPr>
            </a:lvl1pPr>
          </a:lstStyle>
          <a:p>
            <a:fld id="{E2B18E97-1989-4D85-BA90-17B226C62452}" type="slidenum">
              <a:rPr lang="en-US" smtClean="0"/>
              <a:pPr/>
              <a:t>‹#›</a:t>
            </a:fld>
            <a:endParaRPr lang="en-US"/>
          </a:p>
        </p:txBody>
      </p:sp>
      <p:cxnSp>
        <p:nvCxnSpPr>
          <p:cNvPr id="8" name="直線コネクタ 7">
            <a:extLst>
              <a:ext uri="{FF2B5EF4-FFF2-40B4-BE49-F238E27FC236}">
                <a16:creationId xmlns:a16="http://schemas.microsoft.com/office/drawing/2014/main" id="{FCD571D0-E8DC-134C-904F-CAD2C4C6FE27}"/>
              </a:ext>
            </a:extLst>
          </p:cNvPr>
          <p:cNvCxnSpPr>
            <a:cxnSpLocks/>
          </p:cNvCxnSpPr>
          <p:nvPr/>
        </p:nvCxnSpPr>
        <p:spPr>
          <a:xfrm>
            <a:off x="11203004" y="471645"/>
            <a:ext cx="0" cy="1385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図プレースホルダー 8">
            <a:extLst>
              <a:ext uri="{FF2B5EF4-FFF2-40B4-BE49-F238E27FC236}">
                <a16:creationId xmlns:a16="http://schemas.microsoft.com/office/drawing/2014/main" id="{4D4C501F-A81B-BD42-8EE6-016A977A2FA9}"/>
              </a:ext>
            </a:extLst>
          </p:cNvPr>
          <p:cNvSpPr>
            <a:spLocks noGrp="1"/>
          </p:cNvSpPr>
          <p:nvPr>
            <p:ph type="pic" sz="quarter" idx="12"/>
          </p:nvPr>
        </p:nvSpPr>
        <p:spPr>
          <a:xfrm>
            <a:off x="766763" y="901521"/>
            <a:ext cx="10658476" cy="5227817"/>
          </a:xfrm>
          <a:prstGeom prst="roundRect">
            <a:avLst>
              <a:gd name="adj" fmla="val 4655"/>
            </a:avLst>
          </a:prstGeom>
          <a:solidFill>
            <a:schemeClr val="bg1"/>
          </a:solidFill>
        </p:spPr>
        <p:txBody>
          <a:bodyPr/>
          <a:lstStyle/>
          <a:p>
            <a:r>
              <a:rPr kumimoji="1" lang="zh-CN" altLang="en-US"/>
              <a:t>单击图标添加图片</a:t>
            </a:r>
            <a:endParaRPr kumimoji="1" lang="ja-JP" altLang="en-US"/>
          </a:p>
        </p:txBody>
      </p:sp>
      <p:sp>
        <p:nvSpPr>
          <p:cNvPr id="12" name="テキスト プレースホルダー 13"/>
          <p:cNvSpPr>
            <a:spLocks noGrp="1"/>
          </p:cNvSpPr>
          <p:nvPr>
            <p:ph type="body" sz="quarter" idx="15" hasCustomPrompt="1"/>
          </p:nvPr>
        </p:nvSpPr>
        <p:spPr>
          <a:xfrm>
            <a:off x="8459788" y="403225"/>
            <a:ext cx="2743200" cy="277813"/>
          </a:xfrm>
        </p:spPr>
        <p:txBody>
          <a:bodyPr lIns="90000" tIns="90000" rIns="90000" anchor="ctr" anchorCtr="0"/>
          <a:lstStyle>
            <a:lvl1pPr marL="0" indent="0" algn="r">
              <a:buNone/>
              <a:defRPr sz="1200" b="0">
                <a:solidFill>
                  <a:schemeClr val="bg1"/>
                </a:solidFill>
                <a:latin typeface="+mn-ea"/>
                <a:ea typeface="+mn-ea"/>
              </a:defRPr>
            </a:lvl1pPr>
          </a:lstStyle>
          <a:p>
            <a:pPr lvl="0"/>
            <a:r>
              <a:rPr kumimoji="1" lang="en-US" altLang="ja-JP"/>
              <a:t>01</a:t>
            </a:r>
            <a:r>
              <a:rPr kumimoji="1" lang="ja-JP" altLang="en-US"/>
              <a:t>　見出しを入れる</a:t>
            </a:r>
          </a:p>
        </p:txBody>
      </p:sp>
    </p:spTree>
    <p:extLst>
      <p:ext uri="{BB962C8B-B14F-4D97-AF65-F5344CB8AC3E}">
        <p14:creationId xmlns:p14="http://schemas.microsoft.com/office/powerpoint/2010/main" val="2285902811"/>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扉５">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398D7F38-DDA7-4F41-9C45-DC88D48798CB}"/>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kumimoji="1" lang="ja-JP" altLang="en-US" sz="1400">
              <a:latin typeface="Hiragino Kaku Gothic Pro W3" panose="020B0300000000000000" pitchFamily="34" charset="-128"/>
              <a:ea typeface="Hiragino Kaku Gothic Pro W3" panose="020B0300000000000000" pitchFamily="34" charset="-128"/>
            </a:endParaRPr>
          </a:p>
        </p:txBody>
      </p:sp>
      <p:sp>
        <p:nvSpPr>
          <p:cNvPr id="11" name="正方形/長方形 10">
            <a:extLst>
              <a:ext uri="{FF2B5EF4-FFF2-40B4-BE49-F238E27FC236}">
                <a16:creationId xmlns:a16="http://schemas.microsoft.com/office/drawing/2014/main" id="{B1D5614A-0C16-C347-8073-D8211B5B5E93}"/>
              </a:ext>
            </a:extLst>
          </p:cNvPr>
          <p:cNvSpPr/>
          <p:nvPr/>
        </p:nvSpPr>
        <p:spPr>
          <a:xfrm>
            <a:off x="7428000" y="0"/>
            <a:ext cx="4764000" cy="6858000"/>
          </a:xfrm>
          <a:prstGeom prst="rect">
            <a:avLst/>
          </a:prstGeom>
          <a:solidFill>
            <a:srgbClr val="4C5B60">
              <a:alpha val="5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C00000"/>
              </a:solidFill>
            </a:endParaRPr>
          </a:p>
        </p:txBody>
      </p:sp>
      <p:sp>
        <p:nvSpPr>
          <p:cNvPr id="2" name="タイトル 1"/>
          <p:cNvSpPr>
            <a:spLocks noGrp="1"/>
          </p:cNvSpPr>
          <p:nvPr>
            <p:ph type="title" hasCustomPrompt="1"/>
          </p:nvPr>
        </p:nvSpPr>
        <p:spPr/>
        <p:txBody>
          <a:bodyPr/>
          <a:lstStyle/>
          <a:p>
            <a:r>
              <a:rPr kumimoji="1" lang="ja-JP" altLang="en-US"/>
              <a:t>中扉タイトル５</a:t>
            </a:r>
          </a:p>
        </p:txBody>
      </p:sp>
      <p:sp>
        <p:nvSpPr>
          <p:cNvPr id="3" name="フッター プレースホルダー 2"/>
          <p:cNvSpPr>
            <a:spLocks noGrp="1"/>
          </p:cNvSpPr>
          <p:nvPr>
            <p:ph type="ftr" sz="quarter" idx="10"/>
          </p:nvPr>
        </p:nvSpPr>
        <p:spPr/>
        <p:txBody>
          <a:bodyPr/>
          <a:lstStyle>
            <a:lvl1pPr>
              <a:defRPr>
                <a:solidFill>
                  <a:schemeClr val="bg1"/>
                </a:solidFill>
              </a:defRPr>
            </a:lvl1pPr>
          </a:lstStyle>
          <a:p>
            <a:endParaRPr lang="en-US"/>
          </a:p>
        </p:txBody>
      </p:sp>
      <p:sp>
        <p:nvSpPr>
          <p:cNvPr id="4" name="スライド番号プレースホルダー 3"/>
          <p:cNvSpPr>
            <a:spLocks noGrp="1"/>
          </p:cNvSpPr>
          <p:nvPr>
            <p:ph type="sldNum" sz="quarter" idx="11"/>
          </p:nvPr>
        </p:nvSpPr>
        <p:spPr/>
        <p:txBody>
          <a:bodyPr/>
          <a:lstStyle>
            <a:lvl1pPr>
              <a:defRPr>
                <a:solidFill>
                  <a:schemeClr val="bg1"/>
                </a:solidFill>
              </a:defRPr>
            </a:lvl1pPr>
          </a:lstStyle>
          <a:p>
            <a:fld id="{E2B18E97-1989-4D85-BA90-17B226C62452}" type="slidenum">
              <a:rPr lang="en-US" smtClean="0"/>
              <a:pPr/>
              <a:t>‹#›</a:t>
            </a:fld>
            <a:endParaRPr lang="en-US"/>
          </a:p>
        </p:txBody>
      </p:sp>
      <p:cxnSp>
        <p:nvCxnSpPr>
          <p:cNvPr id="8" name="直線コネクタ 7">
            <a:extLst>
              <a:ext uri="{FF2B5EF4-FFF2-40B4-BE49-F238E27FC236}">
                <a16:creationId xmlns:a16="http://schemas.microsoft.com/office/drawing/2014/main" id="{FCD571D0-E8DC-134C-904F-CAD2C4C6FE27}"/>
              </a:ext>
            </a:extLst>
          </p:cNvPr>
          <p:cNvCxnSpPr>
            <a:cxnSpLocks/>
          </p:cNvCxnSpPr>
          <p:nvPr/>
        </p:nvCxnSpPr>
        <p:spPr>
          <a:xfrm>
            <a:off x="11203004" y="471645"/>
            <a:ext cx="0" cy="1385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図プレースホルダー 8">
            <a:extLst>
              <a:ext uri="{FF2B5EF4-FFF2-40B4-BE49-F238E27FC236}">
                <a16:creationId xmlns:a16="http://schemas.microsoft.com/office/drawing/2014/main" id="{4D4C501F-A81B-BD42-8EE6-016A977A2FA9}"/>
              </a:ext>
            </a:extLst>
          </p:cNvPr>
          <p:cNvSpPr>
            <a:spLocks noGrp="1"/>
          </p:cNvSpPr>
          <p:nvPr>
            <p:ph type="pic" sz="quarter" idx="12"/>
          </p:nvPr>
        </p:nvSpPr>
        <p:spPr>
          <a:xfrm>
            <a:off x="766763" y="901521"/>
            <a:ext cx="10658476" cy="5227817"/>
          </a:xfrm>
          <a:prstGeom prst="roundRect">
            <a:avLst>
              <a:gd name="adj" fmla="val 4655"/>
            </a:avLst>
          </a:prstGeom>
          <a:solidFill>
            <a:schemeClr val="bg1"/>
          </a:solidFill>
        </p:spPr>
        <p:txBody>
          <a:bodyPr/>
          <a:lstStyle/>
          <a:p>
            <a:r>
              <a:rPr kumimoji="1" lang="zh-CN" altLang="en-US"/>
              <a:t>单击图标添加图片</a:t>
            </a:r>
            <a:endParaRPr kumimoji="1" lang="ja-JP" altLang="en-US"/>
          </a:p>
        </p:txBody>
      </p:sp>
      <p:sp>
        <p:nvSpPr>
          <p:cNvPr id="12" name="テキスト プレースホルダー 13"/>
          <p:cNvSpPr>
            <a:spLocks noGrp="1"/>
          </p:cNvSpPr>
          <p:nvPr>
            <p:ph type="body" sz="quarter" idx="15" hasCustomPrompt="1"/>
          </p:nvPr>
        </p:nvSpPr>
        <p:spPr>
          <a:xfrm>
            <a:off x="8459788" y="403225"/>
            <a:ext cx="2743200" cy="277813"/>
          </a:xfrm>
        </p:spPr>
        <p:txBody>
          <a:bodyPr lIns="90000" tIns="90000" rIns="90000" anchor="ctr" anchorCtr="0"/>
          <a:lstStyle>
            <a:lvl1pPr marL="0" indent="0" algn="r">
              <a:buNone/>
              <a:defRPr sz="1200" b="0">
                <a:solidFill>
                  <a:schemeClr val="bg1"/>
                </a:solidFill>
                <a:latin typeface="+mn-ea"/>
                <a:ea typeface="+mn-ea"/>
              </a:defRPr>
            </a:lvl1pPr>
          </a:lstStyle>
          <a:p>
            <a:pPr lvl="0"/>
            <a:r>
              <a:rPr kumimoji="1" lang="en-US" altLang="ja-JP"/>
              <a:t>01</a:t>
            </a:r>
            <a:r>
              <a:rPr kumimoji="1" lang="ja-JP" altLang="en-US"/>
              <a:t>　見出しを入れる</a:t>
            </a:r>
          </a:p>
        </p:txBody>
      </p:sp>
    </p:spTree>
    <p:extLst>
      <p:ext uri="{BB962C8B-B14F-4D97-AF65-F5344CB8AC3E}">
        <p14:creationId xmlns:p14="http://schemas.microsoft.com/office/powerpoint/2010/main" val="1132077158"/>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最後のページ">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398D7F38-DDA7-4F41-9C45-DC88D48798CB}"/>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kumimoji="1" lang="ja-JP" altLang="en-US" sz="1400">
              <a:latin typeface="Hiragino Kaku Gothic Pro W3" panose="020B0300000000000000" pitchFamily="34" charset="-128"/>
              <a:ea typeface="Hiragino Kaku Gothic Pro W3" panose="020B0300000000000000" pitchFamily="34" charset="-128"/>
            </a:endParaRPr>
          </a:p>
        </p:txBody>
      </p:sp>
      <p:pic>
        <p:nvPicPr>
          <p:cNvPr id="12" name="図 11">
            <a:extLst>
              <a:ext uri="{FF2B5EF4-FFF2-40B4-BE49-F238E27FC236}">
                <a16:creationId xmlns:a16="http://schemas.microsoft.com/office/drawing/2014/main" id="{89B1C4E1-242C-CD47-A10F-D580B42DF540}"/>
              </a:ext>
            </a:extLst>
          </p:cNvPr>
          <p:cNvPicPr>
            <a:picLocks noChangeAspect="1"/>
          </p:cNvPicPr>
          <p:nvPr/>
        </p:nvPicPr>
        <p:blipFill>
          <a:blip r:embed="rId2"/>
          <a:stretch>
            <a:fillRect/>
          </a:stretch>
        </p:blipFill>
        <p:spPr>
          <a:xfrm>
            <a:off x="4909496" y="1927225"/>
            <a:ext cx="2373008" cy="3003550"/>
          </a:xfrm>
          <a:prstGeom prst="rect">
            <a:avLst/>
          </a:prstGeom>
        </p:spPr>
      </p:pic>
    </p:spTree>
    <p:extLst>
      <p:ext uri="{BB962C8B-B14F-4D97-AF65-F5344CB8AC3E}">
        <p14:creationId xmlns:p14="http://schemas.microsoft.com/office/powerpoint/2010/main" val="1381719660"/>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3D4D8E17-0A3C-49C2-943F-7AB0ED31512A}" type="datetime1">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B18E97-1989-4D85-BA90-17B226C62452}" type="slidenum">
              <a:rPr lang="en-US" smtClean="0"/>
              <a:t>‹#›</a:t>
            </a:fld>
            <a:endParaRPr lang="en-US"/>
          </a:p>
        </p:txBody>
      </p:sp>
    </p:spTree>
    <p:extLst>
      <p:ext uri="{BB962C8B-B14F-4D97-AF65-F5344CB8AC3E}">
        <p14:creationId xmlns:p14="http://schemas.microsoft.com/office/powerpoint/2010/main" val="18315762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766800" y="304496"/>
            <a:ext cx="7772400" cy="522000"/>
          </a:xfrm>
          <a:prstGeom prst="rect">
            <a:avLst/>
          </a:prstGeom>
        </p:spPr>
        <p:txBody>
          <a:bodyPr vert="horz" lIns="0" tIns="72000" rIns="91440" bIns="45720" rtlCol="0" anchor="ctr">
            <a:no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766800" y="1267200"/>
            <a:ext cx="10659600" cy="4860000"/>
          </a:xfrm>
          <a:prstGeom prst="rect">
            <a:avLst/>
          </a:prstGeom>
        </p:spPr>
        <p:txBody>
          <a:bodyPr vert="horz" lIns="0" tIns="0" rIns="0" bIns="45720" rtlCol="0">
            <a:noAutofit/>
          </a:bodyPr>
          <a:lstStyle/>
          <a:p>
            <a:pPr lvl="0"/>
            <a:r>
              <a:rPr kumimoji="1" lang="ja-JP" altLang="en-US"/>
              <a:t>マスター テキストの書式設定</a:t>
            </a:r>
          </a:p>
          <a:p>
            <a:pPr lvl="1"/>
            <a:r>
              <a:rPr kumimoji="1" lang="ja-JP" altLang="en-US"/>
              <a:t>第</a:t>
            </a:r>
            <a:r>
              <a:rPr kumimoji="1" lang="en-US" altLang="ja-JP"/>
              <a:t>2</a:t>
            </a:r>
            <a:r>
              <a:rPr kumimoji="1" lang="ja-JP" altLang="en-US"/>
              <a:t>レベル</a:t>
            </a:r>
            <a:br>
              <a:rPr kumimoji="1" lang="en-US" altLang="ja-JP"/>
            </a:br>
            <a:endParaRPr kumimoji="1" lang="ja-JP" altLang="en-US"/>
          </a:p>
        </p:txBody>
      </p:sp>
      <p:sp>
        <p:nvSpPr>
          <p:cNvPr id="5" name="フッター プレースホルダー 4"/>
          <p:cNvSpPr>
            <a:spLocks noGrp="1"/>
          </p:cNvSpPr>
          <p:nvPr>
            <p:ph type="ftr" sz="quarter" idx="3"/>
          </p:nvPr>
        </p:nvSpPr>
        <p:spPr>
          <a:xfrm>
            <a:off x="7632000" y="6465600"/>
            <a:ext cx="4114800" cy="193140"/>
          </a:xfrm>
          <a:prstGeom prst="rect">
            <a:avLst/>
          </a:prstGeom>
        </p:spPr>
        <p:txBody>
          <a:bodyPr vert="horz" lIns="91440" tIns="45720" rIns="0" bIns="45720" rtlCol="0" anchor="ctr"/>
          <a:lstStyle>
            <a:lvl1pPr algn="ctr">
              <a:defRPr sz="950">
                <a:solidFill>
                  <a:schemeClr val="tx1">
                    <a:tint val="75000"/>
                  </a:schemeClr>
                </a:solidFill>
              </a:defRPr>
            </a:lvl1pPr>
          </a:lstStyle>
          <a:p>
            <a:endParaRPr lang="en-US"/>
          </a:p>
        </p:txBody>
      </p:sp>
      <p:sp>
        <p:nvSpPr>
          <p:cNvPr id="6" name="スライド番号プレースホルダー 5"/>
          <p:cNvSpPr>
            <a:spLocks noGrp="1"/>
          </p:cNvSpPr>
          <p:nvPr>
            <p:ph type="sldNum" sz="quarter" idx="4"/>
          </p:nvPr>
        </p:nvSpPr>
        <p:spPr>
          <a:xfrm>
            <a:off x="11203200" y="403200"/>
            <a:ext cx="525780" cy="277200"/>
          </a:xfrm>
          <a:prstGeom prst="rect">
            <a:avLst/>
          </a:prstGeom>
        </p:spPr>
        <p:txBody>
          <a:bodyPr vert="horz" lIns="91440" tIns="45720" rIns="91440" bIns="45720" rtlCol="0" anchor="ctr"/>
          <a:lstStyle>
            <a:lvl1pPr algn="ctr">
              <a:defRPr sz="1200">
                <a:solidFill>
                  <a:schemeClr val="tx1">
                    <a:tint val="75000"/>
                  </a:schemeClr>
                </a:solidFill>
                <a:latin typeface="+mn-lt"/>
              </a:defRPr>
            </a:lvl1pPr>
          </a:lstStyle>
          <a:p>
            <a:fld id="{E2B18E97-1989-4D85-BA90-17B226C62452}" type="slidenum">
              <a:rPr lang="en-US" smtClean="0"/>
              <a:pPr/>
              <a:t>‹#›</a:t>
            </a:fld>
            <a:endParaRPr lang="en-US"/>
          </a:p>
        </p:txBody>
      </p:sp>
      <p:cxnSp>
        <p:nvCxnSpPr>
          <p:cNvPr id="7" name="直線コネクタ 6">
            <a:extLst>
              <a:ext uri="{FF2B5EF4-FFF2-40B4-BE49-F238E27FC236}">
                <a16:creationId xmlns:a16="http://schemas.microsoft.com/office/drawing/2014/main" id="{DBD5A517-CD92-5549-B362-9A124FEF1206}"/>
              </a:ext>
            </a:extLst>
          </p:cNvPr>
          <p:cNvCxnSpPr/>
          <p:nvPr/>
        </p:nvCxnSpPr>
        <p:spPr>
          <a:xfrm>
            <a:off x="444000" y="901521"/>
            <a:ext cx="11304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5547230"/>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Lst>
  <p:hf hdr="0"/>
  <p:txStyles>
    <p:titleStyle>
      <a:lvl1pPr algn="l" defTabSz="914400" rtl="0" eaLnBrk="1" latinLnBrk="0" hangingPunct="1">
        <a:lnSpc>
          <a:spcPct val="90000"/>
        </a:lnSpc>
        <a:spcBef>
          <a:spcPct val="0"/>
        </a:spcBef>
        <a:buNone/>
        <a:defRPr kumimoji="1"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700"/>
        </a:spcBef>
        <a:buSzPct val="80000"/>
        <a:buFont typeface="Wingdings" panose="05000000000000000000" pitchFamily="2" charset="2"/>
        <a:buChar char="l"/>
        <a:defRPr kumimoji="1" sz="1800" b="1" kern="1200">
          <a:solidFill>
            <a:schemeClr val="tx1"/>
          </a:solidFill>
          <a:latin typeface="+mn-lt"/>
          <a:ea typeface="+mn-ea"/>
          <a:cs typeface="+mn-cs"/>
        </a:defRPr>
      </a:lvl1pPr>
      <a:lvl2pPr marL="457200" marR="0" indent="0" algn="l" defTabSz="914400" rtl="0" eaLnBrk="1" fontAlgn="auto" latinLnBrk="0" hangingPunct="1">
        <a:lnSpc>
          <a:spcPct val="120000"/>
        </a:lnSpc>
        <a:spcBef>
          <a:spcPts val="700"/>
        </a:spcBef>
        <a:spcAft>
          <a:spcPts val="0"/>
        </a:spcAft>
        <a:buClrTx/>
        <a:buSzTx/>
        <a:buFont typeface="Arial" panose="020B0604020202020204" pitchFamily="34" charset="0"/>
        <a:buNone/>
        <a:tabLst/>
        <a:defRPr kumimoji="1" sz="18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483">
          <p15:clr>
            <a:srgbClr val="F26B43"/>
          </p15:clr>
        </p15:guide>
        <p15:guide id="4" pos="7197">
          <p15:clr>
            <a:srgbClr val="F26B43"/>
          </p15:clr>
        </p15:guide>
        <p15:guide id="5" orient="horz" pos="799" userDrawn="1">
          <p15:clr>
            <a:srgbClr val="F26B43"/>
          </p15:clr>
        </p15:guide>
        <p15:guide id="6" pos="644" userDrawn="1">
          <p15:clr>
            <a:srgbClr val="F26B43"/>
          </p15:clr>
        </p15:guide>
        <p15:guide id="7" orient="horz" pos="3861" userDrawn="1">
          <p15:clr>
            <a:srgbClr val="F26B43"/>
          </p15:clr>
        </p15:guide>
        <p15:guide id="8" pos="959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6.jpeg"/><Relationship Id="rId5" Type="http://schemas.openxmlformats.org/officeDocument/2006/relationships/image" Target="../media/image25.png"/><Relationship Id="rId4" Type="http://schemas.openxmlformats.org/officeDocument/2006/relationships/image" Target="../media/image24.png"/></Relationships>
</file>

<file path=ppt/slides/_rels/slide6.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diagramQuickStyle" Target="../diagrams/quickStyle1.xml"/><Relationship Id="rId3" Type="http://schemas.openxmlformats.org/officeDocument/2006/relationships/image" Target="../media/image25.png"/><Relationship Id="rId7" Type="http://schemas.openxmlformats.org/officeDocument/2006/relationships/image" Target="../media/image29.png"/><Relationship Id="rId12" Type="http://schemas.openxmlformats.org/officeDocument/2006/relationships/diagramLayout" Target="../diagrams/layout1.xml"/><Relationship Id="rId2" Type="http://schemas.openxmlformats.org/officeDocument/2006/relationships/notesSlide" Target="../notesSlides/notesSlide6.xml"/><Relationship Id="rId16" Type="http://schemas.openxmlformats.org/officeDocument/2006/relationships/image" Target="../media/image24.png"/><Relationship Id="rId1" Type="http://schemas.openxmlformats.org/officeDocument/2006/relationships/slideLayout" Target="../slideLayouts/slideLayout2.xml"/><Relationship Id="rId6" Type="http://schemas.microsoft.com/office/2007/relationships/hdphoto" Target="../media/hdphoto2.wdp"/><Relationship Id="rId11" Type="http://schemas.openxmlformats.org/officeDocument/2006/relationships/diagramData" Target="../diagrams/data1.xml"/><Relationship Id="rId5" Type="http://schemas.openxmlformats.org/officeDocument/2006/relationships/image" Target="../media/image28.png"/><Relationship Id="rId15" Type="http://schemas.microsoft.com/office/2007/relationships/diagramDrawing" Target="../diagrams/drawing1.xml"/><Relationship Id="rId10" Type="http://schemas.microsoft.com/office/2007/relationships/hdphoto" Target="../media/hdphoto3.wdp"/><Relationship Id="rId4" Type="http://schemas.openxmlformats.org/officeDocument/2006/relationships/image" Target="../media/image27.png"/><Relationship Id="rId9" Type="http://schemas.openxmlformats.org/officeDocument/2006/relationships/image" Target="../media/image31.png"/><Relationship Id="rId14" Type="http://schemas.openxmlformats.org/officeDocument/2006/relationships/diagramColors" Target="../diagrams/colors1.xml"/></Relationships>
</file>

<file path=ppt/slides/_rels/slide7.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2.pn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microsoft.com/office/2007/relationships/hdphoto" Target="../media/hdphoto4.wdp"/><Relationship Id="rId13" Type="http://schemas.openxmlformats.org/officeDocument/2006/relationships/image" Target="../media/image51.png"/><Relationship Id="rId3" Type="http://schemas.openxmlformats.org/officeDocument/2006/relationships/image" Target="../media/image42.png"/><Relationship Id="rId7" Type="http://schemas.openxmlformats.org/officeDocument/2006/relationships/image" Target="../media/image46.png"/><Relationship Id="rId12" Type="http://schemas.openxmlformats.org/officeDocument/2006/relationships/image" Target="../media/image50.jpeg"/><Relationship Id="rId2" Type="http://schemas.openxmlformats.org/officeDocument/2006/relationships/notesSlide" Target="../notesSlides/notesSlide12.xml"/><Relationship Id="rId1" Type="http://schemas.openxmlformats.org/officeDocument/2006/relationships/slideLayout" Target="../slideLayouts/slideLayout10.xml"/><Relationship Id="rId6" Type="http://schemas.openxmlformats.org/officeDocument/2006/relationships/image" Target="../media/image45.svg"/><Relationship Id="rId11" Type="http://schemas.openxmlformats.org/officeDocument/2006/relationships/image" Target="../media/image49.png"/><Relationship Id="rId5" Type="http://schemas.openxmlformats.org/officeDocument/2006/relationships/image" Target="../media/image44.png"/><Relationship Id="rId15" Type="http://schemas.openxmlformats.org/officeDocument/2006/relationships/image" Target="../media/image53.png"/><Relationship Id="rId10" Type="http://schemas.openxmlformats.org/officeDocument/2006/relationships/image" Target="../media/image48.png"/><Relationship Id="rId4" Type="http://schemas.openxmlformats.org/officeDocument/2006/relationships/image" Target="../media/image43.png"/><Relationship Id="rId9" Type="http://schemas.openxmlformats.org/officeDocument/2006/relationships/image" Target="../media/image47.png"/><Relationship Id="rId14" Type="http://schemas.openxmlformats.org/officeDocument/2006/relationships/image" Target="../media/image5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占位符 10">
            <a:extLst>
              <a:ext uri="{FF2B5EF4-FFF2-40B4-BE49-F238E27FC236}">
                <a16:creationId xmlns:a16="http://schemas.microsoft.com/office/drawing/2014/main" id="{0BCBFFF2-AF03-28B9-7D42-920D303B71B3}"/>
              </a:ext>
            </a:extLst>
          </p:cNvPr>
          <p:cNvPicPr>
            <a:picLocks noGrp="1" noChangeAspect="1"/>
          </p:cNvPicPr>
          <p:nvPr>
            <p:ph type="pic" sz="quarter" idx="11"/>
          </p:nvPr>
        </p:nvPicPr>
        <p:blipFill>
          <a:blip r:embed="rId3">
            <a:extLst>
              <a:ext uri="{28A0092B-C50C-407E-A947-70E740481C1C}">
                <a14:useLocalDpi xmlns:a14="http://schemas.microsoft.com/office/drawing/2010/main" val="0"/>
              </a:ext>
            </a:extLst>
          </a:blip>
          <a:srcRect t="30866" b="30866"/>
          <a:stretch/>
        </p:blipFill>
        <p:spPr>
          <a:noFill/>
        </p:spPr>
      </p:pic>
      <p:sp>
        <p:nvSpPr>
          <p:cNvPr id="3" name="副标题 2">
            <a:extLst>
              <a:ext uri="{FF2B5EF4-FFF2-40B4-BE49-F238E27FC236}">
                <a16:creationId xmlns:a16="http://schemas.microsoft.com/office/drawing/2014/main" id="{BF15D790-76EF-5A3D-EB15-9CCD1DCEB690}"/>
              </a:ext>
            </a:extLst>
          </p:cNvPr>
          <p:cNvSpPr>
            <a:spLocks noGrp="1"/>
          </p:cNvSpPr>
          <p:nvPr>
            <p:ph type="body" sz="quarter" idx="12"/>
          </p:nvPr>
        </p:nvSpPr>
        <p:spPr/>
        <p:txBody>
          <a:bodyPr>
            <a:normAutofit/>
          </a:bodyPr>
          <a:lstStyle/>
          <a:p>
            <a:endParaRPr lang="en-US" altLang="ja-JP" sz="1800"/>
          </a:p>
          <a:p>
            <a:endParaRPr lang="en-US" sz="1800"/>
          </a:p>
        </p:txBody>
      </p:sp>
      <p:sp>
        <p:nvSpPr>
          <p:cNvPr id="5" name="文本占位符 4">
            <a:extLst>
              <a:ext uri="{FF2B5EF4-FFF2-40B4-BE49-F238E27FC236}">
                <a16:creationId xmlns:a16="http://schemas.microsoft.com/office/drawing/2014/main" id="{C44557DB-A381-BA03-D1D5-5E8B0BD0289F}"/>
              </a:ext>
            </a:extLst>
          </p:cNvPr>
          <p:cNvSpPr>
            <a:spLocks noGrp="1"/>
          </p:cNvSpPr>
          <p:nvPr>
            <p:ph type="body" sz="quarter" idx="13"/>
          </p:nvPr>
        </p:nvSpPr>
        <p:spPr>
          <a:xfrm>
            <a:off x="766762" y="4321640"/>
            <a:ext cx="10658475" cy="410400"/>
          </a:xfrm>
        </p:spPr>
        <p:txBody>
          <a:bodyPr/>
          <a:lstStyle/>
          <a:p>
            <a:r>
              <a:rPr lang="ja-JP" altLang="en-US" sz="2000" dirty="0">
                <a:solidFill>
                  <a:schemeClr val="tx1"/>
                </a:solidFill>
              </a:rPr>
              <a:t>大規模</a:t>
            </a:r>
            <a:r>
              <a:rPr lang="en-US" altLang="ja-JP" sz="2000" dirty="0">
                <a:solidFill>
                  <a:schemeClr val="tx1"/>
                </a:solidFill>
              </a:rPr>
              <a:t>MRA</a:t>
            </a:r>
            <a:r>
              <a:rPr lang="ja-JP" altLang="en-US" sz="2000" dirty="0">
                <a:solidFill>
                  <a:schemeClr val="tx1"/>
                </a:solidFill>
              </a:rPr>
              <a:t>データに基づく脳動脈形状の統計的解析パイプラインの開発</a:t>
            </a:r>
            <a:endParaRPr lang="en-US" sz="2000" dirty="0">
              <a:solidFill>
                <a:schemeClr val="tx1"/>
              </a:solidFill>
            </a:endParaRPr>
          </a:p>
        </p:txBody>
      </p:sp>
      <p:sp>
        <p:nvSpPr>
          <p:cNvPr id="6" name="文本占位符 5">
            <a:extLst>
              <a:ext uri="{FF2B5EF4-FFF2-40B4-BE49-F238E27FC236}">
                <a16:creationId xmlns:a16="http://schemas.microsoft.com/office/drawing/2014/main" id="{ED32AB86-90B4-739E-6A20-7C3904705408}"/>
              </a:ext>
            </a:extLst>
          </p:cNvPr>
          <p:cNvSpPr>
            <a:spLocks noGrp="1"/>
          </p:cNvSpPr>
          <p:nvPr>
            <p:ph type="body" sz="quarter" idx="14"/>
          </p:nvPr>
        </p:nvSpPr>
        <p:spPr>
          <a:xfrm>
            <a:off x="766762" y="5201228"/>
            <a:ext cx="10658475" cy="800882"/>
          </a:xfrm>
        </p:spPr>
        <p:txBody>
          <a:bodyPr/>
          <a:lstStyle/>
          <a:p>
            <a:r>
              <a:rPr lang="ja-JP" altLang="en-US" sz="1800" dirty="0"/>
              <a:t>陳　エン</a:t>
            </a:r>
            <a:r>
              <a:rPr lang="en-US" altLang="ja-JP" sz="1800" baseline="30000" dirty="0"/>
              <a:t>[1]</a:t>
            </a:r>
            <a:r>
              <a:rPr lang="en-US" altLang="ja-JP" sz="1800" dirty="0"/>
              <a:t>, Bai Yang</a:t>
            </a:r>
            <a:r>
              <a:rPr lang="en-US" altLang="ja-JP" sz="1800" baseline="30000" dirty="0"/>
              <a:t>[1]</a:t>
            </a:r>
            <a:r>
              <a:rPr lang="en-US" altLang="ja-JP" sz="1800" dirty="0"/>
              <a:t>, </a:t>
            </a:r>
            <a:r>
              <a:rPr lang="ja-JP" altLang="en-US" sz="1800" dirty="0"/>
              <a:t>小林　匡治</a:t>
            </a:r>
            <a:r>
              <a:rPr lang="en-US" altLang="ja-JP" sz="1800" baseline="30000" dirty="0"/>
              <a:t>[1,2]</a:t>
            </a:r>
            <a:r>
              <a:rPr lang="en-US" altLang="ja-JP" sz="1800" dirty="0"/>
              <a:t>, </a:t>
            </a:r>
            <a:r>
              <a:rPr lang="ja-JP" altLang="en-US" sz="1800" dirty="0"/>
              <a:t>大島　まり</a:t>
            </a:r>
            <a:r>
              <a:rPr lang="en-US" altLang="ja-JP" sz="1800" baseline="30000" dirty="0"/>
              <a:t>[1]</a:t>
            </a:r>
          </a:p>
          <a:p>
            <a:r>
              <a:rPr lang="en-US" altLang="ja-JP" sz="1800" dirty="0"/>
              <a:t>[1]</a:t>
            </a:r>
            <a:r>
              <a:rPr lang="ja-JP" altLang="en-US" sz="1800" dirty="0"/>
              <a:t>東京大学</a:t>
            </a:r>
            <a:r>
              <a:rPr lang="en-US" altLang="ja-JP" sz="1800" dirty="0"/>
              <a:t>, [2]</a:t>
            </a:r>
            <a:r>
              <a:rPr lang="ja-JP" altLang="en-US" sz="1800" dirty="0"/>
              <a:t>株式会社カイ</a:t>
            </a:r>
            <a:endParaRPr lang="en-US" altLang="ja-JP" sz="1800" dirty="0"/>
          </a:p>
        </p:txBody>
      </p:sp>
      <p:sp>
        <p:nvSpPr>
          <p:cNvPr id="7" name="文本占位符 6">
            <a:extLst>
              <a:ext uri="{FF2B5EF4-FFF2-40B4-BE49-F238E27FC236}">
                <a16:creationId xmlns:a16="http://schemas.microsoft.com/office/drawing/2014/main" id="{D449D396-967B-E5DD-F900-87F9E5D9F8F6}"/>
              </a:ext>
            </a:extLst>
          </p:cNvPr>
          <p:cNvSpPr>
            <a:spLocks noGrp="1"/>
          </p:cNvSpPr>
          <p:nvPr>
            <p:ph type="body" sz="quarter" idx="15"/>
          </p:nvPr>
        </p:nvSpPr>
        <p:spPr/>
        <p:txBody>
          <a:bodyPr/>
          <a:lstStyle/>
          <a:p>
            <a:r>
              <a:rPr lang="en-US" altLang="zh-CN" dirty="0"/>
              <a:t>2025.12.06</a:t>
            </a:r>
            <a:r>
              <a:rPr lang="ja-JP" altLang="en-US" dirty="0"/>
              <a:t>　バイオフロンティア講演会　</a:t>
            </a:r>
            <a:r>
              <a:rPr lang="en-US" altLang="ja-JP" dirty="0"/>
              <a:t>1E12</a:t>
            </a:r>
          </a:p>
        </p:txBody>
      </p:sp>
      <p:sp>
        <p:nvSpPr>
          <p:cNvPr id="2" name="标题 1">
            <a:extLst>
              <a:ext uri="{FF2B5EF4-FFF2-40B4-BE49-F238E27FC236}">
                <a16:creationId xmlns:a16="http://schemas.microsoft.com/office/drawing/2014/main" id="{9A7F5ED6-4AB3-CDE0-187E-CB17BAF95905}"/>
              </a:ext>
            </a:extLst>
          </p:cNvPr>
          <p:cNvSpPr>
            <a:spLocks noGrp="1"/>
          </p:cNvSpPr>
          <p:nvPr>
            <p:ph type="ctrTitle" idx="4294967295"/>
          </p:nvPr>
        </p:nvSpPr>
        <p:spPr>
          <a:xfrm>
            <a:off x="2029968" y="4105528"/>
            <a:ext cx="3017520" cy="187381"/>
          </a:xfrm>
        </p:spPr>
        <p:txBody>
          <a:bodyPr>
            <a:normAutofit/>
          </a:bodyPr>
          <a:lstStyle/>
          <a:p>
            <a:r>
              <a:rPr lang="ja-JP" altLang="en-US" sz="100">
                <a:solidFill>
                  <a:schemeClr val="bg1"/>
                </a:solidFill>
              </a:rPr>
              <a:t>大規模</a:t>
            </a:r>
            <a:r>
              <a:rPr lang="en-US" altLang="ja-JP" sz="100">
                <a:solidFill>
                  <a:schemeClr val="bg1"/>
                </a:solidFill>
              </a:rPr>
              <a:t>MRA</a:t>
            </a:r>
            <a:r>
              <a:rPr lang="ja-JP" altLang="en-US" sz="100">
                <a:solidFill>
                  <a:schemeClr val="bg1"/>
                </a:solidFill>
              </a:rPr>
              <a:t>データに基づく脳動脈形状の統計的解析パイプラインの開発</a:t>
            </a:r>
            <a:endParaRPr lang="en-US" sz="100">
              <a:solidFill>
                <a:schemeClr val="bg1"/>
              </a:solidFill>
            </a:endParaRPr>
          </a:p>
        </p:txBody>
      </p:sp>
      <p:grpSp>
        <p:nvGrpSpPr>
          <p:cNvPr id="19" name="组合 18">
            <a:extLst>
              <a:ext uri="{FF2B5EF4-FFF2-40B4-BE49-F238E27FC236}">
                <a16:creationId xmlns:a16="http://schemas.microsoft.com/office/drawing/2014/main" id="{B82EEB16-EB68-3631-763D-C013470D53CA}"/>
              </a:ext>
            </a:extLst>
          </p:cNvPr>
          <p:cNvGrpSpPr/>
          <p:nvPr/>
        </p:nvGrpSpPr>
        <p:grpSpPr>
          <a:xfrm>
            <a:off x="0" y="0"/>
            <a:ext cx="12192000" cy="669845"/>
            <a:chOff x="-275239" y="0"/>
            <a:chExt cx="12192000" cy="669845"/>
          </a:xfrm>
        </p:grpSpPr>
        <p:sp>
          <p:nvSpPr>
            <p:cNvPr id="18" name="矩形 17">
              <a:extLst>
                <a:ext uri="{FF2B5EF4-FFF2-40B4-BE49-F238E27FC236}">
                  <a16:creationId xmlns:a16="http://schemas.microsoft.com/office/drawing/2014/main" id="{7A1942EB-8518-FBDE-C210-35849EE02476}"/>
                </a:ext>
              </a:extLst>
            </p:cNvPr>
            <p:cNvSpPr/>
            <p:nvPr/>
          </p:nvSpPr>
          <p:spPr>
            <a:xfrm>
              <a:off x="-275239" y="0"/>
              <a:ext cx="12192000" cy="66984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pic>
          <p:nvPicPr>
            <p:cNvPr id="15" name="図 5" descr="OshimaLab.png">
              <a:extLst>
                <a:ext uri="{FF2B5EF4-FFF2-40B4-BE49-F238E27FC236}">
                  <a16:creationId xmlns:a16="http://schemas.microsoft.com/office/drawing/2014/main" id="{F5A45D48-9C71-6553-383D-09A90729B33F}"/>
                </a:ext>
              </a:extLst>
            </p:cNvPr>
            <p:cNvPicPr>
              <a:picLocks noChangeAspect="1"/>
            </p:cNvPicPr>
            <p:nvPr/>
          </p:nvPicPr>
          <p:blipFill>
            <a:blip r:embed="rId4" cstate="print"/>
            <a:srcRect t="6826" b="-1"/>
            <a:stretch>
              <a:fillRect/>
            </a:stretch>
          </p:blipFill>
          <p:spPr>
            <a:xfrm>
              <a:off x="-47243" y="22859"/>
              <a:ext cx="2592007" cy="624125"/>
            </a:xfrm>
            <a:prstGeom prst="rect">
              <a:avLst/>
            </a:prstGeom>
          </p:spPr>
        </p:pic>
      </p:grpSp>
    </p:spTree>
    <p:extLst>
      <p:ext uri="{BB962C8B-B14F-4D97-AF65-F5344CB8AC3E}">
        <p14:creationId xmlns:p14="http://schemas.microsoft.com/office/powerpoint/2010/main" val="901519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95E785-DE0B-F62C-81AD-CD74785CAD06}"/>
              </a:ext>
            </a:extLst>
          </p:cNvPr>
          <p:cNvSpPr>
            <a:spLocks noGrp="1"/>
          </p:cNvSpPr>
          <p:nvPr>
            <p:ph type="title"/>
          </p:nvPr>
        </p:nvSpPr>
        <p:spPr/>
        <p:txBody>
          <a:bodyPr/>
          <a:lstStyle/>
          <a:p>
            <a:r>
              <a:rPr lang="ja-JP" altLang="en-US"/>
              <a:t>研究背景</a:t>
            </a:r>
            <a:endParaRPr lang="en-US"/>
          </a:p>
        </p:txBody>
      </p:sp>
      <p:sp>
        <p:nvSpPr>
          <p:cNvPr id="4" name="灯片编号占位符 3">
            <a:extLst>
              <a:ext uri="{FF2B5EF4-FFF2-40B4-BE49-F238E27FC236}">
                <a16:creationId xmlns:a16="http://schemas.microsoft.com/office/drawing/2014/main" id="{38CBBD73-5321-93D8-BAB9-37848D424561}"/>
              </a:ext>
            </a:extLst>
          </p:cNvPr>
          <p:cNvSpPr>
            <a:spLocks noGrp="1"/>
          </p:cNvSpPr>
          <p:nvPr>
            <p:ph type="sldNum" sz="quarter" idx="11"/>
          </p:nvPr>
        </p:nvSpPr>
        <p:spPr/>
        <p:txBody>
          <a:bodyPr/>
          <a:lstStyle/>
          <a:p>
            <a:fld id="{EE7526AA-F3CD-450D-ADBB-FB2EBC484A89}" type="slidenum">
              <a:rPr lang="en-US" smtClean="0"/>
              <a:t>2</a:t>
            </a:fld>
            <a:endParaRPr lang="en-US"/>
          </a:p>
        </p:txBody>
      </p:sp>
      <p:sp>
        <p:nvSpPr>
          <p:cNvPr id="3" name="内容占位符 2">
            <a:extLst>
              <a:ext uri="{FF2B5EF4-FFF2-40B4-BE49-F238E27FC236}">
                <a16:creationId xmlns:a16="http://schemas.microsoft.com/office/drawing/2014/main" id="{9601C6DC-76DE-910C-2EA5-845920901960}"/>
              </a:ext>
            </a:extLst>
          </p:cNvPr>
          <p:cNvSpPr>
            <a:spLocks noGrp="1"/>
          </p:cNvSpPr>
          <p:nvPr>
            <p:ph type="body" sz="quarter" idx="12"/>
          </p:nvPr>
        </p:nvSpPr>
        <p:spPr>
          <a:xfrm>
            <a:off x="457200" y="1152213"/>
            <a:ext cx="4910137" cy="1713693"/>
          </a:xfrm>
        </p:spPr>
        <p:txBody>
          <a:bodyPr>
            <a:normAutofit/>
          </a:bodyPr>
          <a:lstStyle/>
          <a:p>
            <a:pPr marL="0" indent="0">
              <a:buNone/>
            </a:pPr>
            <a:r>
              <a:rPr lang="en-US" b="1" dirty="0" err="1"/>
              <a:t>脳血管</a:t>
            </a:r>
            <a:r>
              <a:rPr lang="ja-JP" altLang="en-US" dirty="0"/>
              <a:t>（</a:t>
            </a:r>
            <a:r>
              <a:rPr lang="en-US" altLang="ja-JP" dirty="0"/>
              <a:t>Fig. 1</a:t>
            </a:r>
            <a:r>
              <a:rPr lang="ja-JP" altLang="en-US" dirty="0"/>
              <a:t>）</a:t>
            </a:r>
            <a:r>
              <a:rPr lang="en-US" b="1" dirty="0" err="1"/>
              <a:t>疾患のメカニズム解明</a:t>
            </a:r>
            <a:endParaRPr lang="en-US" b="1" dirty="0"/>
          </a:p>
          <a:p>
            <a:pPr>
              <a:buFont typeface="Wingdings" panose="05000000000000000000" pitchFamily="2" charset="2"/>
              <a:buChar char="§"/>
            </a:pPr>
            <a:r>
              <a:rPr lang="ja-JP" altLang="en-US" sz="1600" dirty="0"/>
              <a:t>脳卒中：日本死因の</a:t>
            </a:r>
            <a:r>
              <a:rPr lang="en-US" altLang="ja-JP" sz="1600" dirty="0"/>
              <a:t>4</a:t>
            </a:r>
            <a:r>
              <a:rPr lang="ja-JP" altLang="en-US" sz="1600" dirty="0"/>
              <a:t>位、要介護認定最多の要因</a:t>
            </a:r>
            <a:endParaRPr lang="en-US" altLang="ja-JP" sz="1600" dirty="0"/>
          </a:p>
          <a:p>
            <a:pPr>
              <a:buFont typeface="Wingdings" panose="05000000000000000000" pitchFamily="2" charset="2"/>
              <a:buChar char="§"/>
            </a:pPr>
            <a:r>
              <a:rPr lang="ja-JP" altLang="en-US" sz="1600" dirty="0"/>
              <a:t>脳動脈瘤（</a:t>
            </a:r>
            <a:r>
              <a:rPr lang="en-US" altLang="ja-JP" sz="1600" dirty="0"/>
              <a:t>Fig. 2</a:t>
            </a:r>
            <a:r>
              <a:rPr lang="ja-JP" altLang="en-US" sz="1600" dirty="0"/>
              <a:t>）：日本人口の</a:t>
            </a:r>
            <a:r>
              <a:rPr lang="en-US" altLang="ja-JP" sz="1600" dirty="0"/>
              <a:t>3%</a:t>
            </a:r>
            <a:r>
              <a:rPr lang="ja-JP" altLang="en-US" sz="1600" dirty="0"/>
              <a:t>～</a:t>
            </a:r>
            <a:r>
              <a:rPr lang="en-US" altLang="ja-JP" sz="1600" dirty="0"/>
              <a:t>5%</a:t>
            </a:r>
            <a:r>
              <a:rPr lang="ja-JP" altLang="en-US" sz="1600" dirty="0"/>
              <a:t>が保有、破裂がくも膜下出血につながる。</a:t>
            </a:r>
            <a:endParaRPr lang="en-US" altLang="ja-JP" sz="1600" dirty="0"/>
          </a:p>
        </p:txBody>
      </p:sp>
      <p:sp>
        <p:nvSpPr>
          <p:cNvPr id="20" name="文本占位符 19">
            <a:extLst>
              <a:ext uri="{FF2B5EF4-FFF2-40B4-BE49-F238E27FC236}">
                <a16:creationId xmlns:a16="http://schemas.microsoft.com/office/drawing/2014/main" id="{24B14586-F9DA-4601-1A2B-8811BAAB3172}"/>
              </a:ext>
            </a:extLst>
          </p:cNvPr>
          <p:cNvSpPr>
            <a:spLocks noGrp="1"/>
          </p:cNvSpPr>
          <p:nvPr>
            <p:ph type="body" sz="quarter" idx="13"/>
          </p:nvPr>
        </p:nvSpPr>
        <p:spPr/>
        <p:txBody>
          <a:bodyPr/>
          <a:lstStyle/>
          <a:p>
            <a:r>
              <a:rPr lang="en-US" altLang="zh-CN" dirty="0"/>
              <a:t>2025.12.06</a:t>
            </a:r>
            <a:r>
              <a:rPr lang="ja-JP" altLang="en-US" dirty="0"/>
              <a:t>　バイオフロンティア講演会　</a:t>
            </a:r>
            <a:r>
              <a:rPr lang="en-US" altLang="ja-JP" dirty="0"/>
              <a:t>1E12</a:t>
            </a:r>
          </a:p>
        </p:txBody>
      </p:sp>
      <p:sp>
        <p:nvSpPr>
          <p:cNvPr id="21" name="文本占位符 20">
            <a:extLst>
              <a:ext uri="{FF2B5EF4-FFF2-40B4-BE49-F238E27FC236}">
                <a16:creationId xmlns:a16="http://schemas.microsoft.com/office/drawing/2014/main" id="{9344B16E-E6E7-C79D-3EB6-3B6AC62ECF6B}"/>
              </a:ext>
            </a:extLst>
          </p:cNvPr>
          <p:cNvSpPr>
            <a:spLocks noGrp="1"/>
          </p:cNvSpPr>
          <p:nvPr>
            <p:ph type="body" sz="quarter" idx="14"/>
          </p:nvPr>
        </p:nvSpPr>
        <p:spPr/>
        <p:txBody>
          <a:bodyPr/>
          <a:lstStyle/>
          <a:p>
            <a:endParaRPr lang="en-US"/>
          </a:p>
        </p:txBody>
      </p:sp>
      <p:grpSp>
        <p:nvGrpSpPr>
          <p:cNvPr id="18" name="组合 17">
            <a:extLst>
              <a:ext uri="{FF2B5EF4-FFF2-40B4-BE49-F238E27FC236}">
                <a16:creationId xmlns:a16="http://schemas.microsoft.com/office/drawing/2014/main" id="{B933CC20-389D-60F3-7090-D9A0C7EF7AA7}"/>
              </a:ext>
            </a:extLst>
          </p:cNvPr>
          <p:cNvGrpSpPr/>
          <p:nvPr/>
        </p:nvGrpSpPr>
        <p:grpSpPr>
          <a:xfrm>
            <a:off x="140281" y="3321474"/>
            <a:ext cx="1877040" cy="2729987"/>
            <a:chOff x="7290348" y="1512501"/>
            <a:chExt cx="1754592" cy="2551897"/>
          </a:xfrm>
        </p:grpSpPr>
        <p:sp>
          <p:nvSpPr>
            <p:cNvPr id="17" name="矩形 16">
              <a:extLst>
                <a:ext uri="{FF2B5EF4-FFF2-40B4-BE49-F238E27FC236}">
                  <a16:creationId xmlns:a16="http://schemas.microsoft.com/office/drawing/2014/main" id="{D25EF142-023A-0F1E-316C-7D36C00D3654}"/>
                </a:ext>
              </a:extLst>
            </p:cNvPr>
            <p:cNvSpPr/>
            <p:nvPr/>
          </p:nvSpPr>
          <p:spPr>
            <a:xfrm>
              <a:off x="7290348" y="1512501"/>
              <a:ext cx="1754592" cy="25490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pic>
          <p:nvPicPr>
            <p:cNvPr id="12" name="图片 11">
              <a:extLst>
                <a:ext uri="{FF2B5EF4-FFF2-40B4-BE49-F238E27FC236}">
                  <a16:creationId xmlns:a16="http://schemas.microsoft.com/office/drawing/2014/main" id="{55CCDC51-3B08-A81E-9AB4-A784FA58E63D}"/>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2209" b="97791" l="9804" r="89840">
                          <a14:foregroundMark x1="33512" y1="9325" x2="35651" y2="12883"/>
                          <a14:foregroundMark x1="64171" y1="7853" x2="67023" y2="12270"/>
                          <a14:foregroundMark x1="33512" y1="3313" x2="38681" y2="2331"/>
                          <a14:foregroundMark x1="41533" y1="96196" x2="44385" y2="91779"/>
                          <a14:foregroundMark x1="65597" y1="97791" x2="65597" y2="97791"/>
                        </a14:backgroundRemoval>
                      </a14:imgEffect>
                    </a14:imgLayer>
                  </a14:imgProps>
                </a:ext>
              </a:extLst>
            </a:blip>
            <a:stretch>
              <a:fillRect/>
            </a:stretch>
          </p:blipFill>
          <p:spPr>
            <a:xfrm>
              <a:off x="7290348" y="1515391"/>
              <a:ext cx="1754592" cy="2549007"/>
            </a:xfrm>
            <a:prstGeom prst="rect">
              <a:avLst/>
            </a:prstGeom>
            <a:effectLst/>
          </p:spPr>
        </p:pic>
      </p:grpSp>
      <p:pic>
        <p:nvPicPr>
          <p:cNvPr id="16" name="图片 15">
            <a:extLst>
              <a:ext uri="{FF2B5EF4-FFF2-40B4-BE49-F238E27FC236}">
                <a16:creationId xmlns:a16="http://schemas.microsoft.com/office/drawing/2014/main" id="{158F66C6-55EF-363B-2210-2381E10CBFFC}"/>
              </a:ext>
            </a:extLst>
          </p:cNvPr>
          <p:cNvPicPr>
            <a:picLocks noChangeAspect="1"/>
          </p:cNvPicPr>
          <p:nvPr/>
        </p:nvPicPr>
        <p:blipFill>
          <a:blip r:embed="rId5"/>
          <a:srcRect l="3414" r="57198"/>
          <a:stretch>
            <a:fillRect/>
          </a:stretch>
        </p:blipFill>
        <p:spPr>
          <a:xfrm>
            <a:off x="2154481" y="3321474"/>
            <a:ext cx="1152301" cy="1564816"/>
          </a:xfrm>
          <a:prstGeom prst="rect">
            <a:avLst/>
          </a:prstGeom>
          <a:ln w="19050">
            <a:solidFill>
              <a:schemeClr val="tx1">
                <a:lumMod val="75000"/>
                <a:lumOff val="25000"/>
              </a:schemeClr>
            </a:solidFill>
            <a:prstDash val="sysDash"/>
          </a:ln>
        </p:spPr>
      </p:pic>
      <p:sp>
        <p:nvSpPr>
          <p:cNvPr id="22" name="椭圆 21">
            <a:extLst>
              <a:ext uri="{FF2B5EF4-FFF2-40B4-BE49-F238E27FC236}">
                <a16:creationId xmlns:a16="http://schemas.microsoft.com/office/drawing/2014/main" id="{9BB810EE-8577-DED3-7604-BA30DD6F7E59}"/>
              </a:ext>
            </a:extLst>
          </p:cNvPr>
          <p:cNvSpPr/>
          <p:nvPr/>
        </p:nvSpPr>
        <p:spPr>
          <a:xfrm>
            <a:off x="713827" y="3511974"/>
            <a:ext cx="670560" cy="586740"/>
          </a:xfrm>
          <a:prstGeom prst="ellipse">
            <a:avLst/>
          </a:prstGeom>
          <a:ln w="19050">
            <a:solidFill>
              <a:schemeClr val="tx1">
                <a:lumMod val="75000"/>
                <a:lumOff val="25000"/>
              </a:schemeClr>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US"/>
          </a:p>
        </p:txBody>
      </p:sp>
      <p:cxnSp>
        <p:nvCxnSpPr>
          <p:cNvPr id="24" name="直接连接符 23">
            <a:extLst>
              <a:ext uri="{FF2B5EF4-FFF2-40B4-BE49-F238E27FC236}">
                <a16:creationId xmlns:a16="http://schemas.microsoft.com/office/drawing/2014/main" id="{9D4F2606-C9BF-FF1E-B57C-84ACE30F7C8C}"/>
              </a:ext>
            </a:extLst>
          </p:cNvPr>
          <p:cNvCxnSpPr>
            <a:cxnSpLocks/>
            <a:stCxn id="22" idx="0"/>
          </p:cNvCxnSpPr>
          <p:nvPr/>
        </p:nvCxnSpPr>
        <p:spPr>
          <a:xfrm flipV="1">
            <a:off x="1049107" y="3311949"/>
            <a:ext cx="1091091" cy="200025"/>
          </a:xfrm>
          <a:prstGeom prst="line">
            <a:avLst/>
          </a:prstGeom>
          <a:ln w="19050">
            <a:solidFill>
              <a:schemeClr val="tx1">
                <a:lumMod val="75000"/>
                <a:lumOff val="2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5ED41AF1-6A61-5DED-FDF8-409983833689}"/>
              </a:ext>
            </a:extLst>
          </p:cNvPr>
          <p:cNvCxnSpPr>
            <a:cxnSpLocks/>
            <a:stCxn id="22" idx="4"/>
          </p:cNvCxnSpPr>
          <p:nvPr/>
        </p:nvCxnSpPr>
        <p:spPr>
          <a:xfrm>
            <a:off x="1049107" y="4098714"/>
            <a:ext cx="1091091" cy="796766"/>
          </a:xfrm>
          <a:prstGeom prst="line">
            <a:avLst/>
          </a:prstGeom>
          <a:ln w="19050">
            <a:solidFill>
              <a:schemeClr val="tx1">
                <a:lumMod val="75000"/>
                <a:lumOff val="2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56404F3B-95B1-0F8D-3C44-BB32044DC432}"/>
              </a:ext>
            </a:extLst>
          </p:cNvPr>
          <p:cNvSpPr txBox="1"/>
          <p:nvPr/>
        </p:nvSpPr>
        <p:spPr>
          <a:xfrm>
            <a:off x="601032" y="6057894"/>
            <a:ext cx="2435282" cy="261610"/>
          </a:xfrm>
          <a:prstGeom prst="rect">
            <a:avLst/>
          </a:prstGeom>
          <a:noFill/>
        </p:spPr>
        <p:txBody>
          <a:bodyPr wrap="none" rtlCol="0">
            <a:spAutoFit/>
          </a:bodyPr>
          <a:lstStyle/>
          <a:p>
            <a:r>
              <a:rPr lang="en-US" altLang="ja-JP" sz="1100" b="1" dirty="0">
                <a:latin typeface="+mj-ea"/>
                <a:ea typeface="+mj-ea"/>
              </a:rPr>
              <a:t>Fig.1 </a:t>
            </a:r>
            <a:r>
              <a:rPr lang="ja-JP" altLang="en-US" sz="1100" b="1" dirty="0">
                <a:latin typeface="+mj-ea"/>
                <a:ea typeface="+mj-ea"/>
              </a:rPr>
              <a:t>脳動脈血管とウィリス動脈輪</a:t>
            </a:r>
            <a:endParaRPr lang="en-US" sz="1100" b="1" dirty="0">
              <a:latin typeface="+mj-ea"/>
              <a:ea typeface="+mj-ea"/>
            </a:endParaRPr>
          </a:p>
        </p:txBody>
      </p:sp>
      <p:cxnSp>
        <p:nvCxnSpPr>
          <p:cNvPr id="34" name="直接连接符 33">
            <a:extLst>
              <a:ext uri="{FF2B5EF4-FFF2-40B4-BE49-F238E27FC236}">
                <a16:creationId xmlns:a16="http://schemas.microsoft.com/office/drawing/2014/main" id="{2B2BE688-533F-101D-A6C1-9FB5BF20ECF7}"/>
              </a:ext>
            </a:extLst>
          </p:cNvPr>
          <p:cNvCxnSpPr>
            <a:cxnSpLocks/>
          </p:cNvCxnSpPr>
          <p:nvPr/>
        </p:nvCxnSpPr>
        <p:spPr>
          <a:xfrm>
            <a:off x="5367337" y="1152213"/>
            <a:ext cx="0" cy="1752661"/>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7" name="Picture 2" descr="KoreaMed">
            <a:extLst>
              <a:ext uri="{FF2B5EF4-FFF2-40B4-BE49-F238E27FC236}">
                <a16:creationId xmlns:a16="http://schemas.microsoft.com/office/drawing/2014/main" id="{FC4F5E6F-F311-A31C-C589-E1F98D41A8D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62072" y="3331001"/>
            <a:ext cx="4273928" cy="2624501"/>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547A2BD7-A09B-B859-2A11-EF4BC3B3F8FB}"/>
              </a:ext>
            </a:extLst>
          </p:cNvPr>
          <p:cNvSpPr txBox="1"/>
          <p:nvPr/>
        </p:nvSpPr>
        <p:spPr>
          <a:xfrm>
            <a:off x="4628734" y="6057894"/>
            <a:ext cx="3140603" cy="261610"/>
          </a:xfrm>
          <a:prstGeom prst="rect">
            <a:avLst/>
          </a:prstGeom>
          <a:noFill/>
        </p:spPr>
        <p:txBody>
          <a:bodyPr wrap="none" rtlCol="0">
            <a:spAutoFit/>
          </a:bodyPr>
          <a:lstStyle/>
          <a:p>
            <a:r>
              <a:rPr lang="en-US" altLang="ja-JP" sz="1100" b="1" dirty="0">
                <a:latin typeface="+mj-ea"/>
                <a:ea typeface="+mj-ea"/>
              </a:rPr>
              <a:t>Fig.2 </a:t>
            </a:r>
            <a:r>
              <a:rPr lang="ja-JP" altLang="en-US" sz="1100" b="1" dirty="0">
                <a:latin typeface="+mj-ea"/>
                <a:ea typeface="+mj-ea"/>
              </a:rPr>
              <a:t>内頸動脈サイホン部に発症する脳動脈瘤</a:t>
            </a:r>
            <a:endParaRPr lang="en-US" sz="1100" b="1" dirty="0">
              <a:latin typeface="+mj-ea"/>
              <a:ea typeface="+mj-ea"/>
            </a:endParaRPr>
          </a:p>
        </p:txBody>
      </p:sp>
      <p:cxnSp>
        <p:nvCxnSpPr>
          <p:cNvPr id="9" name="直接连接符 8">
            <a:extLst>
              <a:ext uri="{FF2B5EF4-FFF2-40B4-BE49-F238E27FC236}">
                <a16:creationId xmlns:a16="http://schemas.microsoft.com/office/drawing/2014/main" id="{D00D8526-929A-E77D-1059-C4628A0B561B}"/>
              </a:ext>
            </a:extLst>
          </p:cNvPr>
          <p:cNvCxnSpPr>
            <a:cxnSpLocks/>
          </p:cNvCxnSpPr>
          <p:nvPr/>
        </p:nvCxnSpPr>
        <p:spPr>
          <a:xfrm>
            <a:off x="3654673" y="3142819"/>
            <a:ext cx="0" cy="3176685"/>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CCA8422D-27A2-60FD-A730-5143C82095AD}"/>
              </a:ext>
            </a:extLst>
          </p:cNvPr>
          <p:cNvCxnSpPr>
            <a:cxnSpLocks/>
          </p:cNvCxnSpPr>
          <p:nvPr/>
        </p:nvCxnSpPr>
        <p:spPr>
          <a:xfrm>
            <a:off x="8620373" y="3142819"/>
            <a:ext cx="0" cy="3176685"/>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0A1AEF9C-F8C3-9CD6-8882-B2330E4EB33E}"/>
              </a:ext>
            </a:extLst>
          </p:cNvPr>
          <p:cNvSpPr txBox="1"/>
          <p:nvPr/>
        </p:nvSpPr>
        <p:spPr>
          <a:xfrm>
            <a:off x="5651501" y="1027617"/>
            <a:ext cx="6108562" cy="2148899"/>
          </a:xfrm>
          <a:prstGeom prst="rect">
            <a:avLst/>
          </a:prstGeom>
        </p:spPr>
        <p:txBody>
          <a:bodyPr vert="horz" lIns="0" tIns="0" rIns="0" bIns="45720" rtlCol="0">
            <a:normAutofit/>
          </a:bodyPr>
          <a:lstStyle>
            <a:lvl1pPr indent="0">
              <a:lnSpc>
                <a:spcPct val="120000"/>
              </a:lnSpc>
              <a:spcBef>
                <a:spcPts val="800"/>
              </a:spcBef>
              <a:buSzPct val="80000"/>
              <a:buFont typeface="Wingdings" panose="05000000000000000000" pitchFamily="2" charset="2"/>
              <a:buNone/>
              <a:defRPr b="1"/>
            </a:lvl1pPr>
            <a:lvl2pPr marR="0" indent="0" fontAlgn="auto">
              <a:lnSpc>
                <a:spcPct val="120000"/>
              </a:lnSpc>
              <a:spcBef>
                <a:spcPts val="800"/>
              </a:spcBef>
              <a:spcAft>
                <a:spcPts val="0"/>
              </a:spcAft>
              <a:buClrTx/>
              <a:buSzTx/>
              <a:buFont typeface="Arial" panose="020B0604020202020204" pitchFamily="34" charset="0"/>
              <a:buNone/>
              <a:tabLst/>
              <a:defRPr>
                <a:latin typeface="+mn-ea"/>
              </a:defRPr>
            </a:lvl2pPr>
            <a:lvl3pPr marL="1143000" indent="-228600">
              <a:lnSpc>
                <a:spcPct val="90000"/>
              </a:lnSpc>
              <a:spcBef>
                <a:spcPts val="500"/>
              </a:spcBef>
              <a:buFont typeface="Arial" panose="020B0604020202020204" pitchFamily="34" charset="0"/>
              <a:buChar char="•"/>
              <a:defRPr sz="2000">
                <a:latin typeface="+mn-ea"/>
              </a:defRPr>
            </a:lvl3pPr>
            <a:lvl4pPr marL="1600200" indent="-228600">
              <a:lnSpc>
                <a:spcPct val="90000"/>
              </a:lnSpc>
              <a:spcBef>
                <a:spcPts val="500"/>
              </a:spcBef>
              <a:buFont typeface="Arial" panose="020B0604020202020204" pitchFamily="34" charset="0"/>
              <a:buChar char="•"/>
              <a:defRPr>
                <a:latin typeface="+mn-ea"/>
              </a:defRPr>
            </a:lvl4pPr>
            <a:lvl5pPr marL="2057400" indent="-228600">
              <a:lnSpc>
                <a:spcPct val="90000"/>
              </a:lnSpc>
              <a:spcBef>
                <a:spcPts val="500"/>
              </a:spcBef>
              <a:buFont typeface="Arial" panose="020B0604020202020204" pitchFamily="34" charset="0"/>
              <a:buChar char="•"/>
              <a:defRPr>
                <a:latin typeface="+mn-ea"/>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ja-JP" altLang="en-US" dirty="0"/>
              <a:t>ウィリス動脈輪（</a:t>
            </a:r>
            <a:r>
              <a:rPr lang="en-US" altLang="ja-JP" dirty="0" err="1"/>
              <a:t>CoW</a:t>
            </a:r>
            <a:r>
              <a:rPr lang="ja-JP" altLang="en-US" dirty="0"/>
              <a:t>）と脳動脈血管</a:t>
            </a:r>
            <a:endParaRPr lang="en-US" altLang="ja-JP" dirty="0"/>
          </a:p>
          <a:p>
            <a:pPr marL="285750" indent="-285750">
              <a:buFont typeface="Arial" panose="020B0604020202020204" pitchFamily="34" charset="0"/>
              <a:buChar char="•"/>
            </a:pPr>
            <a:r>
              <a:rPr lang="ja-JP" altLang="en-US" sz="1700" dirty="0"/>
              <a:t>リング状の血管網、脳全域に供血</a:t>
            </a:r>
            <a:endParaRPr lang="en-US" altLang="ja-JP" sz="1700" dirty="0"/>
          </a:p>
          <a:p>
            <a:pPr marL="285750" indent="-285750">
              <a:buFont typeface="Arial" panose="020B0604020202020204" pitchFamily="34" charset="0"/>
              <a:buChar char="•"/>
            </a:pPr>
            <a:r>
              <a:rPr lang="ja-JP" altLang="en-US" sz="1700" dirty="0"/>
              <a:t>構造的制約によって生じる自然な湾曲（</a:t>
            </a:r>
            <a:r>
              <a:rPr lang="en-US" altLang="ja-JP" sz="1700" dirty="0"/>
              <a:t>Fig.3</a:t>
            </a:r>
            <a:r>
              <a:rPr lang="ja-JP" altLang="en-US" sz="1700" dirty="0"/>
              <a:t>上）</a:t>
            </a:r>
            <a:endParaRPr lang="en-US" altLang="ja-JP" sz="1700" dirty="0"/>
          </a:p>
          <a:p>
            <a:r>
              <a:rPr lang="ja-JP" altLang="en-US" sz="1700"/>
              <a:t>⇒動脈</a:t>
            </a:r>
            <a:r>
              <a:rPr lang="ja-JP" altLang="en-US" sz="1700" dirty="0"/>
              <a:t>瘤形成リスク</a:t>
            </a:r>
            <a:endParaRPr lang="en-US" sz="1700" dirty="0"/>
          </a:p>
        </p:txBody>
      </p:sp>
      <p:pic>
        <p:nvPicPr>
          <p:cNvPr id="15" name="图片 14" descr="卡通人物&#10;&#10;AI 生成的内容可能不正确。">
            <a:extLst>
              <a:ext uri="{FF2B5EF4-FFF2-40B4-BE49-F238E27FC236}">
                <a16:creationId xmlns:a16="http://schemas.microsoft.com/office/drawing/2014/main" id="{BDDDE4BC-7167-1B57-4B71-B1460FCDCCD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785049" y="3331001"/>
            <a:ext cx="2975015" cy="1377222"/>
          </a:xfrm>
          <a:prstGeom prst="rect">
            <a:avLst/>
          </a:prstGeom>
        </p:spPr>
      </p:pic>
      <p:sp>
        <p:nvSpPr>
          <p:cNvPr id="19" name="文本框 18">
            <a:extLst>
              <a:ext uri="{FF2B5EF4-FFF2-40B4-BE49-F238E27FC236}">
                <a16:creationId xmlns:a16="http://schemas.microsoft.com/office/drawing/2014/main" id="{7A4DE6D5-A24F-7D3E-0AAB-FE1EA1CED853}"/>
              </a:ext>
            </a:extLst>
          </p:cNvPr>
          <p:cNvSpPr txBox="1"/>
          <p:nvPr/>
        </p:nvSpPr>
        <p:spPr>
          <a:xfrm>
            <a:off x="8904746" y="6034713"/>
            <a:ext cx="3074469" cy="430887"/>
          </a:xfrm>
          <a:prstGeom prst="rect">
            <a:avLst/>
          </a:prstGeom>
          <a:noFill/>
        </p:spPr>
        <p:txBody>
          <a:bodyPr wrap="square" rtlCol="0">
            <a:spAutoFit/>
          </a:bodyPr>
          <a:lstStyle/>
          <a:p>
            <a:r>
              <a:rPr lang="en-US" altLang="ja-JP" sz="1100" b="1" dirty="0">
                <a:latin typeface="+mj-ea"/>
                <a:ea typeface="+mj-ea"/>
              </a:rPr>
              <a:t>Fig.3 </a:t>
            </a:r>
            <a:r>
              <a:rPr lang="ja-JP" altLang="en-US" sz="1100" b="1" dirty="0">
                <a:latin typeface="+mj-ea"/>
                <a:ea typeface="+mj-ea"/>
              </a:rPr>
              <a:t>上：内頸動脈サイホン部の形態分類；下：加齢と伴う頸動脈の屈曲度変化</a:t>
            </a:r>
            <a:r>
              <a:rPr lang="en-US" altLang="ja-JP" sz="1100" b="1" dirty="0">
                <a:latin typeface="+mj-ea"/>
                <a:ea typeface="+mj-ea"/>
              </a:rPr>
              <a:t>[1]</a:t>
            </a:r>
            <a:endParaRPr lang="en-US" sz="1100" b="1" dirty="0">
              <a:latin typeface="+mj-ea"/>
              <a:ea typeface="+mj-ea"/>
            </a:endParaRPr>
          </a:p>
        </p:txBody>
      </p:sp>
      <p:pic>
        <p:nvPicPr>
          <p:cNvPr id="2050" name="Picture 2">
            <a:extLst>
              <a:ext uri="{FF2B5EF4-FFF2-40B4-BE49-F238E27FC236}">
                <a16:creationId xmlns:a16="http://schemas.microsoft.com/office/drawing/2014/main" id="{4315C900-F0BD-7F59-3C85-ED4545E71BA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692601" y="4976274"/>
            <a:ext cx="3159912" cy="854109"/>
          </a:xfrm>
          <a:prstGeom prst="rect">
            <a:avLst/>
          </a:prstGeom>
          <a:noFill/>
          <a:extLst>
            <a:ext uri="{909E8E84-426E-40DD-AFC4-6F175D3DCCD1}">
              <a14:hiddenFill xmlns:a14="http://schemas.microsoft.com/office/drawing/2010/main">
                <a:solidFill>
                  <a:srgbClr val="FFFFFF"/>
                </a:solidFill>
              </a14:hiddenFill>
            </a:ext>
          </a:extLst>
        </p:spPr>
      </p:pic>
      <p:sp>
        <p:nvSpPr>
          <p:cNvPr id="25" name="文本框 24">
            <a:extLst>
              <a:ext uri="{FF2B5EF4-FFF2-40B4-BE49-F238E27FC236}">
                <a16:creationId xmlns:a16="http://schemas.microsoft.com/office/drawing/2014/main" id="{78A0264F-7158-AB60-ACF8-54F58DF32E9A}"/>
              </a:ext>
            </a:extLst>
          </p:cNvPr>
          <p:cNvSpPr txBox="1"/>
          <p:nvPr/>
        </p:nvSpPr>
        <p:spPr>
          <a:xfrm>
            <a:off x="7531156" y="6562800"/>
            <a:ext cx="4600463" cy="338554"/>
          </a:xfrm>
          <a:prstGeom prst="rect">
            <a:avLst/>
          </a:prstGeom>
          <a:noFill/>
        </p:spPr>
        <p:txBody>
          <a:bodyPr wrap="square">
            <a:spAutoFit/>
          </a:bodyPr>
          <a:lstStyle/>
          <a:p>
            <a:r>
              <a:rPr lang="en-US" sz="800" dirty="0">
                <a:solidFill>
                  <a:srgbClr val="222222"/>
                </a:solidFill>
                <a:latin typeface="Arial" panose="020B0604020202020204" pitchFamily="34" charset="0"/>
              </a:rPr>
              <a:t>[1] </a:t>
            </a:r>
            <a:r>
              <a:rPr lang="en-US" sz="800" b="0" i="0" dirty="0">
                <a:solidFill>
                  <a:srgbClr val="222222"/>
                </a:solidFill>
                <a:effectLst/>
                <a:latin typeface="Arial" panose="020B0604020202020204" pitchFamily="34" charset="0"/>
              </a:rPr>
              <a:t>Sun, Zhe, et al. "Age-related tortuosity of carotid and vertebral arteries: quantitative evaluation with MR angiography." </a:t>
            </a:r>
            <a:r>
              <a:rPr lang="en-US" sz="800" b="0" i="1" dirty="0">
                <a:solidFill>
                  <a:srgbClr val="222222"/>
                </a:solidFill>
                <a:effectLst/>
                <a:latin typeface="Arial" panose="020B0604020202020204" pitchFamily="34" charset="0"/>
              </a:rPr>
              <a:t>Frontiers in Neurology</a:t>
            </a:r>
            <a:r>
              <a:rPr lang="en-US" sz="800" b="0" i="0" dirty="0">
                <a:solidFill>
                  <a:srgbClr val="222222"/>
                </a:solidFill>
                <a:effectLst/>
                <a:latin typeface="Arial" panose="020B0604020202020204" pitchFamily="34" charset="0"/>
              </a:rPr>
              <a:t> 13 (2022): 858805.</a:t>
            </a:r>
            <a:endParaRPr lang="en-US" sz="800" dirty="0"/>
          </a:p>
        </p:txBody>
      </p:sp>
      <p:sp>
        <p:nvSpPr>
          <p:cNvPr id="5" name="TextBox 4">
            <a:extLst>
              <a:ext uri="{FF2B5EF4-FFF2-40B4-BE49-F238E27FC236}">
                <a16:creationId xmlns:a16="http://schemas.microsoft.com/office/drawing/2014/main" id="{E60E94CA-5875-3306-0A26-720FD89CCB35}"/>
              </a:ext>
            </a:extLst>
          </p:cNvPr>
          <p:cNvSpPr txBox="1"/>
          <p:nvPr/>
        </p:nvSpPr>
        <p:spPr>
          <a:xfrm>
            <a:off x="429454" y="3280045"/>
            <a:ext cx="659155" cy="369332"/>
          </a:xfrm>
          <a:prstGeom prst="rect">
            <a:avLst/>
          </a:prstGeom>
          <a:noFill/>
        </p:spPr>
        <p:txBody>
          <a:bodyPr wrap="none" rtlCol="0">
            <a:spAutoFit/>
          </a:bodyPr>
          <a:lstStyle/>
          <a:p>
            <a:r>
              <a:rPr lang="en-JP" dirty="0">
                <a:latin typeface="Aptos Display" panose="020B0004020202020204" pitchFamily="34" charset="0"/>
              </a:rPr>
              <a:t>CoW</a:t>
            </a:r>
          </a:p>
        </p:txBody>
      </p:sp>
    </p:spTree>
    <p:extLst>
      <p:ext uri="{BB962C8B-B14F-4D97-AF65-F5344CB8AC3E}">
        <p14:creationId xmlns:p14="http://schemas.microsoft.com/office/powerpoint/2010/main" val="2220040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BAE4A9-4298-83F8-12F3-15335C794E7B}"/>
              </a:ext>
            </a:extLst>
          </p:cNvPr>
          <p:cNvSpPr>
            <a:spLocks noGrp="1"/>
          </p:cNvSpPr>
          <p:nvPr>
            <p:ph type="title"/>
          </p:nvPr>
        </p:nvSpPr>
        <p:spPr/>
        <p:txBody>
          <a:bodyPr/>
          <a:lstStyle/>
          <a:p>
            <a:r>
              <a:rPr lang="en-US" dirty="0" err="1"/>
              <a:t>研究背景と先行研究</a:t>
            </a:r>
            <a:endParaRPr lang="en-US" dirty="0"/>
          </a:p>
        </p:txBody>
      </p:sp>
      <p:sp>
        <p:nvSpPr>
          <p:cNvPr id="3" name="页脚占位符 2">
            <a:extLst>
              <a:ext uri="{FF2B5EF4-FFF2-40B4-BE49-F238E27FC236}">
                <a16:creationId xmlns:a16="http://schemas.microsoft.com/office/drawing/2014/main" id="{13449A4E-C6B5-4ECB-5D62-7B36EC6F7075}"/>
              </a:ext>
            </a:extLst>
          </p:cNvPr>
          <p:cNvSpPr>
            <a:spLocks noGrp="1"/>
          </p:cNvSpPr>
          <p:nvPr>
            <p:ph type="ftr" sz="quarter" idx="10"/>
          </p:nvPr>
        </p:nvSpPr>
        <p:spPr/>
        <p:txBody>
          <a:bodyPr/>
          <a:lstStyle/>
          <a:p>
            <a:endParaRPr lang="en-US"/>
          </a:p>
        </p:txBody>
      </p:sp>
      <p:sp>
        <p:nvSpPr>
          <p:cNvPr id="4" name="灯片编号占位符 3">
            <a:extLst>
              <a:ext uri="{FF2B5EF4-FFF2-40B4-BE49-F238E27FC236}">
                <a16:creationId xmlns:a16="http://schemas.microsoft.com/office/drawing/2014/main" id="{F6D307AE-C821-30B0-9160-5D995EB9423E}"/>
              </a:ext>
            </a:extLst>
          </p:cNvPr>
          <p:cNvSpPr>
            <a:spLocks noGrp="1"/>
          </p:cNvSpPr>
          <p:nvPr>
            <p:ph type="sldNum" sz="quarter" idx="11"/>
          </p:nvPr>
        </p:nvSpPr>
        <p:spPr/>
        <p:txBody>
          <a:bodyPr/>
          <a:lstStyle/>
          <a:p>
            <a:fld id="{E2B18E97-1989-4D85-BA90-17B226C62452}" type="slidenum">
              <a:rPr lang="en-US" smtClean="0"/>
              <a:pPr/>
              <a:t>3</a:t>
            </a:fld>
            <a:endParaRPr lang="en-US"/>
          </a:p>
        </p:txBody>
      </p:sp>
      <p:sp>
        <p:nvSpPr>
          <p:cNvPr id="5" name="文本占位符 4">
            <a:extLst>
              <a:ext uri="{FF2B5EF4-FFF2-40B4-BE49-F238E27FC236}">
                <a16:creationId xmlns:a16="http://schemas.microsoft.com/office/drawing/2014/main" id="{5EA170FF-420B-B60E-F405-8BD73E26754B}"/>
              </a:ext>
            </a:extLst>
          </p:cNvPr>
          <p:cNvSpPr>
            <a:spLocks noGrp="1"/>
          </p:cNvSpPr>
          <p:nvPr>
            <p:ph type="body" sz="quarter" idx="12"/>
          </p:nvPr>
        </p:nvSpPr>
        <p:spPr/>
        <p:txBody>
          <a:bodyPr/>
          <a:lstStyle/>
          <a:p>
            <a:pPr marL="0" indent="0">
              <a:buNone/>
            </a:pPr>
            <a:r>
              <a:rPr lang="ja-JP" altLang="en-US" dirty="0"/>
              <a:t>脳血管医用</a:t>
            </a:r>
            <a:r>
              <a:rPr lang="ja-JP" altLang="en-US"/>
              <a:t>画像データ（</a:t>
            </a:r>
            <a:r>
              <a:rPr lang="en-US" altLang="ja-JP" dirty="0"/>
              <a:t>MRA/CTA</a:t>
            </a:r>
            <a:r>
              <a:rPr lang="ja-JP" altLang="en-US"/>
              <a:t>）</a:t>
            </a:r>
            <a:endParaRPr lang="en-US" altLang="ja-JP" dirty="0"/>
          </a:p>
          <a:p>
            <a:r>
              <a:rPr lang="ja-JP" altLang="en-US" dirty="0"/>
              <a:t>多様な用途：</a:t>
            </a:r>
            <a:r>
              <a:rPr lang="en-US" altLang="ja-JP" dirty="0"/>
              <a:t>CFD</a:t>
            </a:r>
            <a:r>
              <a:rPr lang="ja-JP" altLang="en-US" dirty="0"/>
              <a:t>研究、</a:t>
            </a:r>
            <a:r>
              <a:rPr lang="en-US" altLang="ja-JP" dirty="0"/>
              <a:t>Computer Vision/Graphics</a:t>
            </a:r>
            <a:r>
              <a:rPr lang="ja-JP" altLang="en-US" dirty="0"/>
              <a:t>、</a:t>
            </a:r>
            <a:r>
              <a:rPr lang="en-US" altLang="ja-JP" dirty="0"/>
              <a:t>Statistical Shape Analysis</a:t>
            </a:r>
          </a:p>
          <a:p>
            <a:endParaRPr lang="en-US" altLang="ja-JP" dirty="0"/>
          </a:p>
          <a:p>
            <a:pPr marL="0" indent="0">
              <a:buNone/>
            </a:pPr>
            <a:endParaRPr lang="en-US" altLang="ja-JP" dirty="0"/>
          </a:p>
          <a:p>
            <a:pPr marL="0" indent="0">
              <a:buNone/>
            </a:pPr>
            <a:endParaRPr lang="en-US" altLang="ja-JP" dirty="0"/>
          </a:p>
          <a:p>
            <a:pPr marL="0" indent="0">
              <a:buNone/>
            </a:pPr>
            <a:endParaRPr lang="en-US" altLang="ja-JP" dirty="0"/>
          </a:p>
          <a:p>
            <a:endParaRPr lang="en-US" altLang="ja-JP" dirty="0"/>
          </a:p>
          <a:p>
            <a:endParaRPr lang="en-US" altLang="ja-JP" dirty="0"/>
          </a:p>
          <a:p>
            <a:pPr marL="0" indent="0">
              <a:buNone/>
            </a:pPr>
            <a:endParaRPr lang="en-US" altLang="ja-JP" dirty="0"/>
          </a:p>
          <a:p>
            <a:endParaRPr lang="en-US" altLang="ja-JP" dirty="0"/>
          </a:p>
          <a:p>
            <a:r>
              <a:rPr lang="ja-JP" altLang="en-US" dirty="0"/>
              <a:t>膨大なデータを</a:t>
            </a:r>
            <a:r>
              <a:rPr lang="ja-JP" altLang="en-US"/>
              <a:t>処理する標準化・自動化パイプライン</a:t>
            </a:r>
            <a:r>
              <a:rPr lang="ja-JP" altLang="en-US" dirty="0"/>
              <a:t>が必要</a:t>
            </a:r>
            <a:endParaRPr lang="en-US" dirty="0"/>
          </a:p>
        </p:txBody>
      </p:sp>
      <p:sp>
        <p:nvSpPr>
          <p:cNvPr id="6" name="文本占位符 5">
            <a:extLst>
              <a:ext uri="{FF2B5EF4-FFF2-40B4-BE49-F238E27FC236}">
                <a16:creationId xmlns:a16="http://schemas.microsoft.com/office/drawing/2014/main" id="{651D518B-E0BE-8C15-ED51-E60A471A7012}"/>
              </a:ext>
            </a:extLst>
          </p:cNvPr>
          <p:cNvSpPr>
            <a:spLocks noGrp="1"/>
          </p:cNvSpPr>
          <p:nvPr>
            <p:ph type="body" sz="quarter" idx="13"/>
          </p:nvPr>
        </p:nvSpPr>
        <p:spPr/>
        <p:txBody>
          <a:bodyPr/>
          <a:lstStyle/>
          <a:p>
            <a:r>
              <a:rPr lang="en-US" altLang="zh-CN" dirty="0"/>
              <a:t>2025.12.06</a:t>
            </a:r>
            <a:r>
              <a:rPr lang="ja-JP" altLang="en-US" dirty="0"/>
              <a:t>　バイオフロンティア講演会　</a:t>
            </a:r>
            <a:r>
              <a:rPr lang="en-US" altLang="ja-JP" dirty="0"/>
              <a:t>1E12</a:t>
            </a:r>
          </a:p>
        </p:txBody>
      </p:sp>
      <p:sp>
        <p:nvSpPr>
          <p:cNvPr id="7" name="文本占位符 6">
            <a:extLst>
              <a:ext uri="{FF2B5EF4-FFF2-40B4-BE49-F238E27FC236}">
                <a16:creationId xmlns:a16="http://schemas.microsoft.com/office/drawing/2014/main" id="{262CAA42-D764-B937-FC27-B0994B7580F1}"/>
              </a:ext>
            </a:extLst>
          </p:cNvPr>
          <p:cNvSpPr>
            <a:spLocks noGrp="1"/>
          </p:cNvSpPr>
          <p:nvPr>
            <p:ph type="body" sz="quarter" idx="14"/>
          </p:nvPr>
        </p:nvSpPr>
        <p:spPr/>
        <p:txBody>
          <a:bodyPr/>
          <a:lstStyle/>
          <a:p>
            <a:endParaRPr lang="en-US"/>
          </a:p>
        </p:txBody>
      </p:sp>
      <p:pic>
        <p:nvPicPr>
          <p:cNvPr id="8" name="图片 7">
            <a:extLst>
              <a:ext uri="{FF2B5EF4-FFF2-40B4-BE49-F238E27FC236}">
                <a16:creationId xmlns:a16="http://schemas.microsoft.com/office/drawing/2014/main" id="{22113741-7F8F-8B4D-7F73-9B71DB3D55EC}"/>
              </a:ext>
            </a:extLst>
          </p:cNvPr>
          <p:cNvPicPr>
            <a:picLocks noChangeAspect="1"/>
          </p:cNvPicPr>
          <p:nvPr/>
        </p:nvPicPr>
        <p:blipFill>
          <a:blip r:embed="rId3"/>
          <a:stretch>
            <a:fillRect/>
          </a:stretch>
        </p:blipFill>
        <p:spPr>
          <a:xfrm>
            <a:off x="202897" y="3068265"/>
            <a:ext cx="2382715" cy="1410818"/>
          </a:xfrm>
          <a:prstGeom prst="rect">
            <a:avLst/>
          </a:prstGeom>
        </p:spPr>
      </p:pic>
      <p:sp>
        <p:nvSpPr>
          <p:cNvPr id="9" name="文本框 8">
            <a:extLst>
              <a:ext uri="{FF2B5EF4-FFF2-40B4-BE49-F238E27FC236}">
                <a16:creationId xmlns:a16="http://schemas.microsoft.com/office/drawing/2014/main" id="{2E39BE17-1EE6-828E-342D-986596CC6880}"/>
              </a:ext>
            </a:extLst>
          </p:cNvPr>
          <p:cNvSpPr txBox="1"/>
          <p:nvPr/>
        </p:nvSpPr>
        <p:spPr>
          <a:xfrm>
            <a:off x="55729" y="7002014"/>
            <a:ext cx="9194542" cy="461665"/>
          </a:xfrm>
          <a:prstGeom prst="rect">
            <a:avLst/>
          </a:prstGeom>
          <a:noFill/>
        </p:spPr>
        <p:txBody>
          <a:bodyPr wrap="square">
            <a:spAutoFit/>
          </a:bodyPr>
          <a:lstStyle/>
          <a:p>
            <a:r>
              <a:rPr lang="en-US" altLang="zh-CN" sz="800" i="1" dirty="0"/>
              <a:t>[1] Kulcsár, Zsolt, et al. "Hemodynamics of cerebral aneurysm initiation: the role of wall shear stress and spatial wall shear stress gradient." American Journal of neuroradiology 32.3 (2011): 587-594.</a:t>
            </a:r>
          </a:p>
          <a:p>
            <a:r>
              <a:rPr lang="en-US" altLang="zh-CN" sz="800" i="1" dirty="0"/>
              <a:t>[2] Lauric, Alexandra, et al. "Curvature effect on hemodynamic conditions at the inner bend of the carotid siphon and its relation to aneurysm formation." Journal of biomechanics 47.12 (2014): 3018-3027.</a:t>
            </a:r>
          </a:p>
          <a:p>
            <a:endParaRPr lang="zh-CN" altLang="en-US" sz="800" i="1" dirty="0"/>
          </a:p>
        </p:txBody>
      </p:sp>
      <p:pic>
        <p:nvPicPr>
          <p:cNvPr id="11" name="图片 10">
            <a:extLst>
              <a:ext uri="{FF2B5EF4-FFF2-40B4-BE49-F238E27FC236}">
                <a16:creationId xmlns:a16="http://schemas.microsoft.com/office/drawing/2014/main" id="{38A7169D-4B6B-BBA2-54D1-F577575D56DD}"/>
              </a:ext>
            </a:extLst>
          </p:cNvPr>
          <p:cNvPicPr>
            <a:picLocks noChangeAspect="1"/>
          </p:cNvPicPr>
          <p:nvPr/>
        </p:nvPicPr>
        <p:blipFill>
          <a:blip r:embed="rId4"/>
          <a:stretch>
            <a:fillRect/>
          </a:stretch>
        </p:blipFill>
        <p:spPr>
          <a:xfrm>
            <a:off x="8865429" y="3774764"/>
            <a:ext cx="3160014" cy="1280626"/>
          </a:xfrm>
          <a:prstGeom prst="rect">
            <a:avLst/>
          </a:prstGeom>
        </p:spPr>
      </p:pic>
      <p:pic>
        <p:nvPicPr>
          <p:cNvPr id="17" name="图片 16">
            <a:extLst>
              <a:ext uri="{FF2B5EF4-FFF2-40B4-BE49-F238E27FC236}">
                <a16:creationId xmlns:a16="http://schemas.microsoft.com/office/drawing/2014/main" id="{8C2BB921-6B57-79DA-0E3A-4565FD9967F6}"/>
              </a:ext>
            </a:extLst>
          </p:cNvPr>
          <p:cNvPicPr>
            <a:picLocks noChangeAspect="1"/>
          </p:cNvPicPr>
          <p:nvPr/>
        </p:nvPicPr>
        <p:blipFill>
          <a:blip r:embed="rId5"/>
          <a:stretch>
            <a:fillRect/>
          </a:stretch>
        </p:blipFill>
        <p:spPr>
          <a:xfrm>
            <a:off x="2729998" y="2801107"/>
            <a:ext cx="2838745" cy="1719090"/>
          </a:xfrm>
          <a:prstGeom prst="rect">
            <a:avLst/>
          </a:prstGeom>
        </p:spPr>
      </p:pic>
      <p:pic>
        <p:nvPicPr>
          <p:cNvPr id="19" name="图片 18">
            <a:extLst>
              <a:ext uri="{FF2B5EF4-FFF2-40B4-BE49-F238E27FC236}">
                <a16:creationId xmlns:a16="http://schemas.microsoft.com/office/drawing/2014/main" id="{692BAD9A-273C-E6AF-1DB4-9DA9AE4D95CC}"/>
              </a:ext>
            </a:extLst>
          </p:cNvPr>
          <p:cNvPicPr>
            <a:picLocks noChangeAspect="1"/>
          </p:cNvPicPr>
          <p:nvPr/>
        </p:nvPicPr>
        <p:blipFill>
          <a:blip r:embed="rId6"/>
          <a:stretch>
            <a:fillRect/>
          </a:stretch>
        </p:blipFill>
        <p:spPr>
          <a:xfrm>
            <a:off x="202897" y="4520197"/>
            <a:ext cx="2596287" cy="376688"/>
          </a:xfrm>
          <a:prstGeom prst="rect">
            <a:avLst/>
          </a:prstGeom>
        </p:spPr>
      </p:pic>
      <p:pic>
        <p:nvPicPr>
          <p:cNvPr id="21" name="图片 20">
            <a:extLst>
              <a:ext uri="{FF2B5EF4-FFF2-40B4-BE49-F238E27FC236}">
                <a16:creationId xmlns:a16="http://schemas.microsoft.com/office/drawing/2014/main" id="{4A3E488B-9589-51CD-BC2E-79384E1996F6}"/>
              </a:ext>
            </a:extLst>
          </p:cNvPr>
          <p:cNvPicPr>
            <a:picLocks noChangeAspect="1"/>
          </p:cNvPicPr>
          <p:nvPr/>
        </p:nvPicPr>
        <p:blipFill>
          <a:blip r:embed="rId7"/>
          <a:stretch>
            <a:fillRect/>
          </a:stretch>
        </p:blipFill>
        <p:spPr>
          <a:xfrm>
            <a:off x="1204033" y="2587793"/>
            <a:ext cx="1531967" cy="519027"/>
          </a:xfrm>
          <a:prstGeom prst="rect">
            <a:avLst/>
          </a:prstGeom>
        </p:spPr>
      </p:pic>
      <p:pic>
        <p:nvPicPr>
          <p:cNvPr id="23" name="图片 22">
            <a:extLst>
              <a:ext uri="{FF2B5EF4-FFF2-40B4-BE49-F238E27FC236}">
                <a16:creationId xmlns:a16="http://schemas.microsoft.com/office/drawing/2014/main" id="{3887DE47-5FB6-8F95-1CC3-9981BD0FF0C9}"/>
              </a:ext>
            </a:extLst>
          </p:cNvPr>
          <p:cNvPicPr>
            <a:picLocks noChangeAspect="1"/>
          </p:cNvPicPr>
          <p:nvPr/>
        </p:nvPicPr>
        <p:blipFill>
          <a:blip r:embed="rId8"/>
          <a:stretch>
            <a:fillRect/>
          </a:stretch>
        </p:blipFill>
        <p:spPr>
          <a:xfrm>
            <a:off x="8865429" y="2741048"/>
            <a:ext cx="2344610" cy="1033716"/>
          </a:xfrm>
          <a:prstGeom prst="rect">
            <a:avLst/>
          </a:prstGeom>
        </p:spPr>
      </p:pic>
      <p:pic>
        <p:nvPicPr>
          <p:cNvPr id="4100" name="Picture 4" descr="Refer to caption">
            <a:extLst>
              <a:ext uri="{FF2B5EF4-FFF2-40B4-BE49-F238E27FC236}">
                <a16:creationId xmlns:a16="http://schemas.microsoft.com/office/drawing/2014/main" id="{542577B4-99FD-1A77-D16F-2F0AB40ADC4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14926" y="3938599"/>
            <a:ext cx="2983572" cy="952956"/>
          </a:xfrm>
          <a:prstGeom prst="rect">
            <a:avLst/>
          </a:prstGeom>
          <a:noFill/>
          <a:extLst>
            <a:ext uri="{909E8E84-426E-40DD-AFC4-6F175D3DCCD1}">
              <a14:hiddenFill xmlns:a14="http://schemas.microsoft.com/office/drawing/2010/main">
                <a:solidFill>
                  <a:srgbClr val="FFFFFF"/>
                </a:solidFill>
              </a14:hiddenFill>
            </a:ext>
          </a:extLst>
        </p:spPr>
      </p:pic>
      <p:pic>
        <p:nvPicPr>
          <p:cNvPr id="27" name="图片 26">
            <a:extLst>
              <a:ext uri="{FF2B5EF4-FFF2-40B4-BE49-F238E27FC236}">
                <a16:creationId xmlns:a16="http://schemas.microsoft.com/office/drawing/2014/main" id="{0540197F-F7B3-133A-AB19-C33BB099127A}"/>
              </a:ext>
            </a:extLst>
          </p:cNvPr>
          <p:cNvPicPr>
            <a:picLocks noChangeAspect="1"/>
          </p:cNvPicPr>
          <p:nvPr/>
        </p:nvPicPr>
        <p:blipFill>
          <a:blip r:embed="rId10"/>
          <a:stretch>
            <a:fillRect/>
          </a:stretch>
        </p:blipFill>
        <p:spPr>
          <a:xfrm>
            <a:off x="5759753" y="2351007"/>
            <a:ext cx="2838745" cy="1511626"/>
          </a:xfrm>
          <a:prstGeom prst="rect">
            <a:avLst/>
          </a:prstGeom>
        </p:spPr>
      </p:pic>
    </p:spTree>
    <p:extLst>
      <p:ext uri="{BB962C8B-B14F-4D97-AF65-F5344CB8AC3E}">
        <p14:creationId xmlns:p14="http://schemas.microsoft.com/office/powerpoint/2010/main" val="728650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ACA565A8-F1D4-F5B3-714E-5B5D28A1A8C3}"/>
              </a:ext>
            </a:extLst>
          </p:cNvPr>
          <p:cNvSpPr>
            <a:spLocks noGrp="1"/>
          </p:cNvSpPr>
          <p:nvPr>
            <p:ph type="title"/>
          </p:nvPr>
        </p:nvSpPr>
        <p:spPr/>
        <p:txBody>
          <a:bodyPr/>
          <a:lstStyle/>
          <a:p>
            <a:r>
              <a:rPr lang="ja-JP" altLang="en-US" dirty="0"/>
              <a:t>パイプライン</a:t>
            </a:r>
            <a:endParaRPr lang="en-US" dirty="0"/>
          </a:p>
        </p:txBody>
      </p:sp>
      <p:sp>
        <p:nvSpPr>
          <p:cNvPr id="15" name="文本占位符 14">
            <a:extLst>
              <a:ext uri="{FF2B5EF4-FFF2-40B4-BE49-F238E27FC236}">
                <a16:creationId xmlns:a16="http://schemas.microsoft.com/office/drawing/2014/main" id="{1ED8B342-082E-01CB-A782-F7042DBA1EAB}"/>
              </a:ext>
            </a:extLst>
          </p:cNvPr>
          <p:cNvSpPr>
            <a:spLocks noGrp="1"/>
          </p:cNvSpPr>
          <p:nvPr>
            <p:ph type="body" sz="quarter" idx="13"/>
          </p:nvPr>
        </p:nvSpPr>
        <p:spPr/>
        <p:txBody>
          <a:bodyPr/>
          <a:lstStyle/>
          <a:p>
            <a:r>
              <a:rPr lang="en-US" altLang="zh-CN" dirty="0"/>
              <a:t>2025.12.06</a:t>
            </a:r>
            <a:r>
              <a:rPr lang="ja-JP" altLang="en-US" dirty="0"/>
              <a:t>　バイオフロンティア講演会　</a:t>
            </a:r>
            <a:r>
              <a:rPr lang="en-US" altLang="ja-JP" dirty="0"/>
              <a:t>1E12</a:t>
            </a:r>
          </a:p>
        </p:txBody>
      </p:sp>
      <p:sp>
        <p:nvSpPr>
          <p:cNvPr id="16" name="文本占位符 15">
            <a:extLst>
              <a:ext uri="{FF2B5EF4-FFF2-40B4-BE49-F238E27FC236}">
                <a16:creationId xmlns:a16="http://schemas.microsoft.com/office/drawing/2014/main" id="{20CEFEB2-C2A7-25A8-5ECE-8DF66E56A9FD}"/>
              </a:ext>
            </a:extLst>
          </p:cNvPr>
          <p:cNvSpPr>
            <a:spLocks noGrp="1"/>
          </p:cNvSpPr>
          <p:nvPr>
            <p:ph type="body" sz="quarter" idx="14"/>
          </p:nvPr>
        </p:nvSpPr>
        <p:spPr/>
        <p:txBody>
          <a:bodyPr/>
          <a:lstStyle/>
          <a:p>
            <a:endParaRPr lang="en-US"/>
          </a:p>
        </p:txBody>
      </p:sp>
      <p:sp>
        <p:nvSpPr>
          <p:cNvPr id="8" name="矩形 7">
            <a:extLst>
              <a:ext uri="{FF2B5EF4-FFF2-40B4-BE49-F238E27FC236}">
                <a16:creationId xmlns:a16="http://schemas.microsoft.com/office/drawing/2014/main" id="{B8B7103E-6FAF-BC11-7FFF-4E2E56C4135F}"/>
              </a:ext>
            </a:extLst>
          </p:cNvPr>
          <p:cNvSpPr/>
          <p:nvPr/>
        </p:nvSpPr>
        <p:spPr>
          <a:xfrm>
            <a:off x="699767" y="2635879"/>
            <a:ext cx="10811703" cy="1329821"/>
          </a:xfrm>
          <a:prstGeom prst="rect">
            <a:avLst/>
          </a:prstGeom>
          <a:pattFill prst="pct75">
            <a:fgClr>
              <a:schemeClr val="accent6">
                <a:lumMod val="20000"/>
                <a:lumOff val="80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sz="1600"/>
          </a:p>
        </p:txBody>
      </p:sp>
      <p:sp>
        <p:nvSpPr>
          <p:cNvPr id="9" name="矩形 8">
            <a:extLst>
              <a:ext uri="{FF2B5EF4-FFF2-40B4-BE49-F238E27FC236}">
                <a16:creationId xmlns:a16="http://schemas.microsoft.com/office/drawing/2014/main" id="{2880DB8B-1ED2-FCAE-343F-847E7AC4CCB5}"/>
              </a:ext>
            </a:extLst>
          </p:cNvPr>
          <p:cNvSpPr/>
          <p:nvPr/>
        </p:nvSpPr>
        <p:spPr>
          <a:xfrm>
            <a:off x="680529" y="3970463"/>
            <a:ext cx="10830942" cy="1918829"/>
          </a:xfrm>
          <a:prstGeom prst="rect">
            <a:avLst/>
          </a:prstGeom>
          <a:pattFill prst="pct90">
            <a:fgClr>
              <a:schemeClr val="accent4">
                <a:lumMod val="20000"/>
                <a:lumOff val="80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sz="1600" dirty="0"/>
          </a:p>
        </p:txBody>
      </p:sp>
      <p:sp>
        <p:nvSpPr>
          <p:cNvPr id="13" name="矩形 12">
            <a:extLst>
              <a:ext uri="{FF2B5EF4-FFF2-40B4-BE49-F238E27FC236}">
                <a16:creationId xmlns:a16="http://schemas.microsoft.com/office/drawing/2014/main" id="{5451EA5A-C4C7-DB39-D04D-6C30B20889AE}"/>
              </a:ext>
            </a:extLst>
          </p:cNvPr>
          <p:cNvSpPr/>
          <p:nvPr/>
        </p:nvSpPr>
        <p:spPr>
          <a:xfrm rot="16200000">
            <a:off x="441805" y="2879363"/>
            <a:ext cx="1329822" cy="852377"/>
          </a:xfrm>
          <a:prstGeom prst="rect">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r>
              <a:rPr kumimoji="1" lang="en-US" altLang="zh-CN" sz="1600" dirty="0">
                <a:latin typeface="Aptos ExtraBold" panose="020B0004020202020204" pitchFamily="34" charset="0"/>
              </a:rPr>
              <a:t>Vessel Modeling</a:t>
            </a:r>
            <a:endParaRPr kumimoji="1" lang="en-US" sz="1600" dirty="0">
              <a:latin typeface="Aptos ExtraBold" panose="020B0004020202020204" pitchFamily="34" charset="0"/>
            </a:endParaRPr>
          </a:p>
        </p:txBody>
      </p:sp>
      <p:sp>
        <p:nvSpPr>
          <p:cNvPr id="17" name="矩形 16">
            <a:extLst>
              <a:ext uri="{FF2B5EF4-FFF2-40B4-BE49-F238E27FC236}">
                <a16:creationId xmlns:a16="http://schemas.microsoft.com/office/drawing/2014/main" id="{13F37B2A-4662-5E42-0336-0752696794DC}"/>
              </a:ext>
            </a:extLst>
          </p:cNvPr>
          <p:cNvSpPr/>
          <p:nvPr/>
        </p:nvSpPr>
        <p:spPr>
          <a:xfrm rot="16200000">
            <a:off x="147299" y="4503689"/>
            <a:ext cx="1918831" cy="852378"/>
          </a:xfrm>
          <a:prstGeom prst="rect">
            <a:avLst/>
          </a:prstGeom>
          <a:solidFill>
            <a:schemeClr val="accent4"/>
          </a:solidFill>
          <a:ln>
            <a:noFill/>
          </a:ln>
        </p:spPr>
        <p:style>
          <a:lnRef idx="1">
            <a:schemeClr val="accent5"/>
          </a:lnRef>
          <a:fillRef idx="3">
            <a:schemeClr val="accent5"/>
          </a:fillRef>
          <a:effectRef idx="2">
            <a:schemeClr val="accent5"/>
          </a:effectRef>
          <a:fontRef idx="minor">
            <a:schemeClr val="lt1"/>
          </a:fontRef>
        </p:style>
        <p:txBody>
          <a:bodyPr rtlCol="0" anchor="ctr"/>
          <a:lstStyle/>
          <a:p>
            <a:pPr algn="ctr"/>
            <a:r>
              <a:rPr kumimoji="1" lang="en-US" altLang="zh-CN" sz="1600" dirty="0">
                <a:latin typeface="Aptos ExtraBold" panose="020B0004020202020204" pitchFamily="34" charset="0"/>
              </a:rPr>
              <a:t>Statistical Analysis</a:t>
            </a:r>
            <a:endParaRPr kumimoji="1" lang="en-US" sz="1600" dirty="0">
              <a:latin typeface="Aptos ExtraBold" panose="020B0004020202020204" pitchFamily="34" charset="0"/>
            </a:endParaRPr>
          </a:p>
        </p:txBody>
      </p:sp>
      <p:sp>
        <p:nvSpPr>
          <p:cNvPr id="19" name="矩形 18">
            <a:extLst>
              <a:ext uri="{FF2B5EF4-FFF2-40B4-BE49-F238E27FC236}">
                <a16:creationId xmlns:a16="http://schemas.microsoft.com/office/drawing/2014/main" id="{276F68E4-5ECE-ADD3-9D44-C4ECB0D216A1}"/>
              </a:ext>
            </a:extLst>
          </p:cNvPr>
          <p:cNvSpPr/>
          <p:nvPr/>
        </p:nvSpPr>
        <p:spPr>
          <a:xfrm>
            <a:off x="4418782" y="2983615"/>
            <a:ext cx="1888948" cy="631900"/>
          </a:xfrm>
          <a:prstGeom prst="rect">
            <a:avLst/>
          </a:prstGeom>
          <a:solidFill>
            <a:schemeClr val="bg1">
              <a:lumMod val="95000"/>
            </a:schemeClr>
          </a:solidFill>
          <a:ln w="28575">
            <a:solidFill>
              <a:schemeClr val="tx1">
                <a:lumMod val="65000"/>
                <a:lumOff val="3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dirty="0">
                <a:latin typeface="Aptos ExtraBold" panose="020F0502020204030204" pitchFamily="34" charset="0"/>
              </a:rPr>
              <a:t>Automatic</a:t>
            </a:r>
          </a:p>
          <a:p>
            <a:pPr algn="ctr"/>
            <a:r>
              <a:rPr lang="en-US" sz="1400" dirty="0">
                <a:latin typeface="Aptos ExtraBold" panose="020F0502020204030204" pitchFamily="34" charset="0"/>
              </a:rPr>
              <a:t>Segmentation</a:t>
            </a:r>
            <a:endParaRPr kumimoji="1" lang="en-US" sz="1400" dirty="0">
              <a:latin typeface="Aptos ExtraBold" panose="020F0502020204030204" pitchFamily="34" charset="0"/>
            </a:endParaRPr>
          </a:p>
        </p:txBody>
      </p:sp>
      <p:sp>
        <p:nvSpPr>
          <p:cNvPr id="21" name="矩形 20">
            <a:extLst>
              <a:ext uri="{FF2B5EF4-FFF2-40B4-BE49-F238E27FC236}">
                <a16:creationId xmlns:a16="http://schemas.microsoft.com/office/drawing/2014/main" id="{E0EA97BA-096A-E4A0-BE09-93FE1B544203}"/>
              </a:ext>
            </a:extLst>
          </p:cNvPr>
          <p:cNvSpPr/>
          <p:nvPr/>
        </p:nvSpPr>
        <p:spPr>
          <a:xfrm>
            <a:off x="6794295" y="2983615"/>
            <a:ext cx="1888948" cy="631900"/>
          </a:xfrm>
          <a:prstGeom prst="rect">
            <a:avLst/>
          </a:prstGeom>
          <a:solidFill>
            <a:schemeClr val="bg1">
              <a:lumMod val="95000"/>
            </a:schemeClr>
          </a:solidFill>
          <a:ln w="28575">
            <a:solidFill>
              <a:schemeClr val="tx1">
                <a:lumMod val="65000"/>
                <a:lumOff val="3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ptos ExtraBold" panose="020F0502020204030204" pitchFamily="34" charset="0"/>
              </a:rPr>
              <a:t>Parameterization</a:t>
            </a:r>
            <a:endParaRPr kumimoji="1" lang="en-US" sz="1400" dirty="0">
              <a:latin typeface="Aptos ExtraBold" panose="020F0502020204030204" pitchFamily="34" charset="0"/>
            </a:endParaRPr>
          </a:p>
        </p:txBody>
      </p:sp>
      <p:cxnSp>
        <p:nvCxnSpPr>
          <p:cNvPr id="23" name="直接箭头连接符 22">
            <a:extLst>
              <a:ext uri="{FF2B5EF4-FFF2-40B4-BE49-F238E27FC236}">
                <a16:creationId xmlns:a16="http://schemas.microsoft.com/office/drawing/2014/main" id="{92CD817C-5CB0-431C-5BCA-88B80C5C80E0}"/>
              </a:ext>
            </a:extLst>
          </p:cNvPr>
          <p:cNvCxnSpPr>
            <a:cxnSpLocks/>
            <a:stCxn id="41" idx="3"/>
            <a:endCxn id="19" idx="1"/>
          </p:cNvCxnSpPr>
          <p:nvPr/>
        </p:nvCxnSpPr>
        <p:spPr>
          <a:xfrm flipV="1">
            <a:off x="3932217" y="3299565"/>
            <a:ext cx="486565" cy="1"/>
          </a:xfrm>
          <a:prstGeom prst="straightConnector1">
            <a:avLst/>
          </a:prstGeom>
          <a:ln w="28575">
            <a:solidFill>
              <a:schemeClr val="accent6"/>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DA672701-C851-E67F-E21B-01EED2D91903}"/>
              </a:ext>
            </a:extLst>
          </p:cNvPr>
          <p:cNvCxnSpPr>
            <a:cxnSpLocks/>
            <a:stCxn id="19" idx="3"/>
            <a:endCxn id="21" idx="1"/>
          </p:cNvCxnSpPr>
          <p:nvPr/>
        </p:nvCxnSpPr>
        <p:spPr>
          <a:xfrm>
            <a:off x="6307730" y="3299565"/>
            <a:ext cx="486565" cy="0"/>
          </a:xfrm>
          <a:prstGeom prst="straightConnector1">
            <a:avLst/>
          </a:prstGeom>
          <a:ln w="28575">
            <a:solidFill>
              <a:schemeClr val="accent6"/>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6095DE65-FFE1-B55D-2FFB-D59ADD8E3921}"/>
              </a:ext>
            </a:extLst>
          </p:cNvPr>
          <p:cNvSpPr/>
          <p:nvPr/>
        </p:nvSpPr>
        <p:spPr>
          <a:xfrm>
            <a:off x="4322640" y="4138449"/>
            <a:ext cx="1888948" cy="606861"/>
          </a:xfrm>
          <a:prstGeom prst="rect">
            <a:avLst/>
          </a:prstGeom>
          <a:solidFill>
            <a:schemeClr val="bg1">
              <a:lumMod val="95000"/>
            </a:schemeClr>
          </a:solidFill>
          <a:ln w="28575">
            <a:solidFill>
              <a:schemeClr val="tx1">
                <a:lumMod val="65000"/>
                <a:lumOff val="3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CN" sz="1400" dirty="0">
                <a:latin typeface="Aptos ExtraBold" panose="020F0502020204030204" pitchFamily="34" charset="0"/>
              </a:rPr>
              <a:t>Geometric Characterization</a:t>
            </a:r>
            <a:endParaRPr kumimoji="1" lang="en-US" sz="1400" dirty="0">
              <a:latin typeface="Aptos ExtraBold" panose="020F0502020204030204" pitchFamily="34" charset="0"/>
            </a:endParaRPr>
          </a:p>
        </p:txBody>
      </p:sp>
      <p:sp>
        <p:nvSpPr>
          <p:cNvPr id="29" name="矩形 28">
            <a:extLst>
              <a:ext uri="{FF2B5EF4-FFF2-40B4-BE49-F238E27FC236}">
                <a16:creationId xmlns:a16="http://schemas.microsoft.com/office/drawing/2014/main" id="{899FA34E-15C1-1791-7B1F-13E68AE9F848}"/>
              </a:ext>
            </a:extLst>
          </p:cNvPr>
          <p:cNvSpPr/>
          <p:nvPr/>
        </p:nvSpPr>
        <p:spPr>
          <a:xfrm>
            <a:off x="4324756" y="5146211"/>
            <a:ext cx="1888948" cy="409055"/>
          </a:xfrm>
          <a:prstGeom prst="rect">
            <a:avLst/>
          </a:prstGeom>
          <a:solidFill>
            <a:schemeClr val="bg1">
              <a:lumMod val="95000"/>
            </a:schemeClr>
          </a:solidFill>
          <a:ln w="28575">
            <a:solidFill>
              <a:schemeClr val="tx1">
                <a:lumMod val="65000"/>
                <a:lumOff val="3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CN" sz="1400" dirty="0">
                <a:latin typeface="Aptos ExtraBold" panose="020F0502020204030204" pitchFamily="34" charset="0"/>
              </a:rPr>
              <a:t>Alignment</a:t>
            </a:r>
            <a:endParaRPr kumimoji="1" lang="en-US" sz="1400" dirty="0">
              <a:latin typeface="Aptos ExtraBold" panose="020F0502020204030204" pitchFamily="34" charset="0"/>
            </a:endParaRPr>
          </a:p>
        </p:txBody>
      </p:sp>
      <p:sp>
        <p:nvSpPr>
          <p:cNvPr id="30" name="矩形 29">
            <a:extLst>
              <a:ext uri="{FF2B5EF4-FFF2-40B4-BE49-F238E27FC236}">
                <a16:creationId xmlns:a16="http://schemas.microsoft.com/office/drawing/2014/main" id="{BEAA6678-C948-80B6-EDCC-DA74F38DF22A}"/>
              </a:ext>
            </a:extLst>
          </p:cNvPr>
          <p:cNvSpPr/>
          <p:nvPr/>
        </p:nvSpPr>
        <p:spPr>
          <a:xfrm>
            <a:off x="6585818" y="5146210"/>
            <a:ext cx="1888948" cy="409055"/>
          </a:xfrm>
          <a:prstGeom prst="rect">
            <a:avLst/>
          </a:prstGeom>
          <a:solidFill>
            <a:schemeClr val="bg1">
              <a:lumMod val="95000"/>
            </a:schemeClr>
          </a:solidFill>
          <a:ln w="28575">
            <a:solidFill>
              <a:schemeClr val="tx1">
                <a:lumMod val="65000"/>
                <a:lumOff val="3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sz="1400" dirty="0">
                <a:latin typeface="Aptos ExtraBold" panose="020F0502020204030204" pitchFamily="34" charset="0"/>
              </a:rPr>
              <a:t>Coord-based PCA</a:t>
            </a:r>
          </a:p>
        </p:txBody>
      </p:sp>
      <p:cxnSp>
        <p:nvCxnSpPr>
          <p:cNvPr id="37" name="直接箭头连接符 36">
            <a:extLst>
              <a:ext uri="{FF2B5EF4-FFF2-40B4-BE49-F238E27FC236}">
                <a16:creationId xmlns:a16="http://schemas.microsoft.com/office/drawing/2014/main" id="{D0734FD1-06AC-C86A-2426-030CE78C7984}"/>
              </a:ext>
            </a:extLst>
          </p:cNvPr>
          <p:cNvCxnSpPr>
            <a:cxnSpLocks/>
            <a:stCxn id="29" idx="3"/>
            <a:endCxn id="30" idx="1"/>
          </p:cNvCxnSpPr>
          <p:nvPr/>
        </p:nvCxnSpPr>
        <p:spPr>
          <a:xfrm flipV="1">
            <a:off x="6213704" y="5350738"/>
            <a:ext cx="372114" cy="1"/>
          </a:xfrm>
          <a:prstGeom prst="straightConnector1">
            <a:avLst/>
          </a:prstGeom>
          <a:ln w="28575">
            <a:solidFill>
              <a:schemeClr val="accent6"/>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1" name="流程图: 终止 40">
            <a:extLst>
              <a:ext uri="{FF2B5EF4-FFF2-40B4-BE49-F238E27FC236}">
                <a16:creationId xmlns:a16="http://schemas.microsoft.com/office/drawing/2014/main" id="{972E464C-2C75-83EA-99BC-355C2157CAF8}"/>
              </a:ext>
            </a:extLst>
          </p:cNvPr>
          <p:cNvSpPr/>
          <p:nvPr/>
        </p:nvSpPr>
        <p:spPr>
          <a:xfrm>
            <a:off x="2088049" y="2983615"/>
            <a:ext cx="1844168" cy="631901"/>
          </a:xfrm>
          <a:prstGeom prst="flowChartTerminator">
            <a:avLst/>
          </a:prstGeom>
          <a:solidFill>
            <a:schemeClr val="bg1">
              <a:lumMod val="95000"/>
            </a:schemeClr>
          </a:solidFill>
          <a:ln w="28575">
            <a:solidFill>
              <a:schemeClr val="tx1">
                <a:lumMod val="65000"/>
                <a:lumOff val="3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dirty="0">
                <a:latin typeface="Aptos ExtraBold" panose="020F0502020204030204" pitchFamily="34" charset="0"/>
              </a:rPr>
              <a:t>Large-scale MRA Database</a:t>
            </a:r>
            <a:endParaRPr lang="en-US" sz="1400" dirty="0">
              <a:latin typeface="Aptos ExtraBold" panose="020F0502020204030204" pitchFamily="34" charset="0"/>
            </a:endParaRPr>
          </a:p>
        </p:txBody>
      </p:sp>
      <p:grpSp>
        <p:nvGrpSpPr>
          <p:cNvPr id="49" name="组合 48">
            <a:extLst>
              <a:ext uri="{FF2B5EF4-FFF2-40B4-BE49-F238E27FC236}">
                <a16:creationId xmlns:a16="http://schemas.microsoft.com/office/drawing/2014/main" id="{63FFCDA6-6CF0-6567-C243-CB99D9F15025}"/>
              </a:ext>
            </a:extLst>
          </p:cNvPr>
          <p:cNvGrpSpPr/>
          <p:nvPr/>
        </p:nvGrpSpPr>
        <p:grpSpPr>
          <a:xfrm>
            <a:off x="1697643" y="2372592"/>
            <a:ext cx="1336484" cy="300840"/>
            <a:chOff x="1832974" y="2363831"/>
            <a:chExt cx="1268469" cy="285530"/>
          </a:xfrm>
        </p:grpSpPr>
        <p:pic>
          <p:nvPicPr>
            <p:cNvPr id="46" name="图片 45">
              <a:extLst>
                <a:ext uri="{FF2B5EF4-FFF2-40B4-BE49-F238E27FC236}">
                  <a16:creationId xmlns:a16="http://schemas.microsoft.com/office/drawing/2014/main" id="{D4A5FCA9-E56F-FBBB-733A-345DAE1538A7}"/>
                </a:ext>
              </a:extLst>
            </p:cNvPr>
            <p:cNvPicPr>
              <a:picLocks noChangeAspect="1"/>
            </p:cNvPicPr>
            <p:nvPr/>
          </p:nvPicPr>
          <p:blipFill>
            <a:blip r:embed="rId3"/>
            <a:stretch>
              <a:fillRect/>
            </a:stretch>
          </p:blipFill>
          <p:spPr>
            <a:xfrm>
              <a:off x="2200925" y="2363831"/>
              <a:ext cx="900518" cy="285530"/>
            </a:xfrm>
            <a:prstGeom prst="rect">
              <a:avLst/>
            </a:prstGeom>
            <a:ln>
              <a:solidFill>
                <a:schemeClr val="tx1">
                  <a:lumMod val="65000"/>
                  <a:lumOff val="35000"/>
                </a:schemeClr>
              </a:solidFill>
            </a:ln>
          </p:spPr>
        </p:pic>
        <p:pic>
          <p:nvPicPr>
            <p:cNvPr id="48" name="图片 47">
              <a:extLst>
                <a:ext uri="{FF2B5EF4-FFF2-40B4-BE49-F238E27FC236}">
                  <a16:creationId xmlns:a16="http://schemas.microsoft.com/office/drawing/2014/main" id="{0332E392-6346-3D2B-985C-D67E03B28B7F}"/>
                </a:ext>
              </a:extLst>
            </p:cNvPr>
            <p:cNvPicPr>
              <a:picLocks noChangeAspect="1"/>
            </p:cNvPicPr>
            <p:nvPr/>
          </p:nvPicPr>
          <p:blipFill>
            <a:blip r:embed="rId4"/>
            <a:stretch>
              <a:fillRect/>
            </a:stretch>
          </p:blipFill>
          <p:spPr>
            <a:xfrm>
              <a:off x="1832974" y="2363831"/>
              <a:ext cx="367951" cy="285530"/>
            </a:xfrm>
            <a:prstGeom prst="rect">
              <a:avLst/>
            </a:prstGeom>
            <a:ln>
              <a:solidFill>
                <a:schemeClr val="tx1">
                  <a:lumMod val="65000"/>
                  <a:lumOff val="35000"/>
                </a:schemeClr>
              </a:solidFill>
            </a:ln>
          </p:spPr>
        </p:pic>
      </p:grpSp>
      <p:pic>
        <p:nvPicPr>
          <p:cNvPr id="51" name="图片 50">
            <a:extLst>
              <a:ext uri="{FF2B5EF4-FFF2-40B4-BE49-F238E27FC236}">
                <a16:creationId xmlns:a16="http://schemas.microsoft.com/office/drawing/2014/main" id="{F80DB0FC-8F74-ADC2-1285-C51D58CFB30E}"/>
              </a:ext>
            </a:extLst>
          </p:cNvPr>
          <p:cNvPicPr>
            <a:picLocks noChangeAspect="1"/>
          </p:cNvPicPr>
          <p:nvPr/>
        </p:nvPicPr>
        <p:blipFill>
          <a:blip r:embed="rId5"/>
          <a:stretch>
            <a:fillRect/>
          </a:stretch>
        </p:blipFill>
        <p:spPr>
          <a:xfrm>
            <a:off x="3184627" y="2366596"/>
            <a:ext cx="972423" cy="346225"/>
          </a:xfrm>
          <a:prstGeom prst="rect">
            <a:avLst/>
          </a:prstGeom>
          <a:ln>
            <a:solidFill>
              <a:schemeClr val="tx1">
                <a:lumMod val="65000"/>
                <a:lumOff val="35000"/>
              </a:schemeClr>
            </a:solidFill>
          </a:ln>
        </p:spPr>
      </p:pic>
      <p:sp>
        <p:nvSpPr>
          <p:cNvPr id="60" name="矩形 59">
            <a:extLst>
              <a:ext uri="{FF2B5EF4-FFF2-40B4-BE49-F238E27FC236}">
                <a16:creationId xmlns:a16="http://schemas.microsoft.com/office/drawing/2014/main" id="{D35D7048-5F29-9CC8-5921-7FC67A7D26F6}"/>
              </a:ext>
            </a:extLst>
          </p:cNvPr>
          <p:cNvSpPr/>
          <p:nvPr/>
        </p:nvSpPr>
        <p:spPr>
          <a:xfrm>
            <a:off x="6578293" y="4132855"/>
            <a:ext cx="1888948" cy="606861"/>
          </a:xfrm>
          <a:prstGeom prst="rect">
            <a:avLst/>
          </a:prstGeom>
          <a:solidFill>
            <a:schemeClr val="bg1">
              <a:lumMod val="95000"/>
            </a:schemeClr>
          </a:solidFill>
          <a:ln w="28575">
            <a:solidFill>
              <a:schemeClr val="tx1">
                <a:lumMod val="65000"/>
                <a:lumOff val="3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CN" sz="1400" dirty="0">
                <a:latin typeface="Aptos ExtraBold" panose="020F0502020204030204" pitchFamily="34" charset="0"/>
              </a:rPr>
              <a:t>Anatomical Classification</a:t>
            </a:r>
            <a:endParaRPr kumimoji="1" lang="en-US" sz="1400" dirty="0">
              <a:latin typeface="Aptos ExtraBold" panose="020F0502020204030204" pitchFamily="34" charset="0"/>
            </a:endParaRPr>
          </a:p>
        </p:txBody>
      </p:sp>
      <p:cxnSp>
        <p:nvCxnSpPr>
          <p:cNvPr id="61" name="直接箭头连接符 60">
            <a:extLst>
              <a:ext uri="{FF2B5EF4-FFF2-40B4-BE49-F238E27FC236}">
                <a16:creationId xmlns:a16="http://schemas.microsoft.com/office/drawing/2014/main" id="{DE2CBC20-6437-A49D-8F15-2EDA67990019}"/>
              </a:ext>
            </a:extLst>
          </p:cNvPr>
          <p:cNvCxnSpPr>
            <a:cxnSpLocks/>
            <a:stCxn id="28" idx="3"/>
            <a:endCxn id="60" idx="1"/>
          </p:cNvCxnSpPr>
          <p:nvPr/>
        </p:nvCxnSpPr>
        <p:spPr>
          <a:xfrm flipV="1">
            <a:off x="6211588" y="4436286"/>
            <a:ext cx="366705" cy="5594"/>
          </a:xfrm>
          <a:prstGeom prst="straightConnector1">
            <a:avLst/>
          </a:prstGeom>
          <a:ln w="28575">
            <a:solidFill>
              <a:schemeClr val="accent6"/>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34" name="流程图: 终止 133">
            <a:extLst>
              <a:ext uri="{FF2B5EF4-FFF2-40B4-BE49-F238E27FC236}">
                <a16:creationId xmlns:a16="http://schemas.microsoft.com/office/drawing/2014/main" id="{5FD5868B-6E51-A894-C743-21F14ADA56B8}"/>
              </a:ext>
            </a:extLst>
          </p:cNvPr>
          <p:cNvSpPr/>
          <p:nvPr/>
        </p:nvSpPr>
        <p:spPr>
          <a:xfrm>
            <a:off x="2071084" y="4132855"/>
            <a:ext cx="1844168" cy="606861"/>
          </a:xfrm>
          <a:prstGeom prst="flowChartTerminator">
            <a:avLst/>
          </a:prstGeom>
          <a:solidFill>
            <a:schemeClr val="bg1">
              <a:lumMod val="95000"/>
            </a:schemeClr>
          </a:solidFill>
          <a:ln w="28575">
            <a:solidFill>
              <a:schemeClr val="tx1">
                <a:lumMod val="65000"/>
                <a:lumOff val="3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dirty="0">
                <a:latin typeface="Aptos ExtraBold" panose="020F0502020204030204" pitchFamily="34" charset="0"/>
              </a:rPr>
              <a:t>Modeling Data</a:t>
            </a:r>
            <a:endParaRPr lang="en-US" sz="1400" dirty="0">
              <a:latin typeface="Aptos ExtraBold" panose="020F0502020204030204" pitchFamily="34" charset="0"/>
            </a:endParaRPr>
          </a:p>
        </p:txBody>
      </p:sp>
      <p:cxnSp>
        <p:nvCxnSpPr>
          <p:cNvPr id="135" name="直接箭头连接符 134">
            <a:extLst>
              <a:ext uri="{FF2B5EF4-FFF2-40B4-BE49-F238E27FC236}">
                <a16:creationId xmlns:a16="http://schemas.microsoft.com/office/drawing/2014/main" id="{59F963E1-B7A9-15A2-B889-2CCAC9AEC1EF}"/>
              </a:ext>
            </a:extLst>
          </p:cNvPr>
          <p:cNvCxnSpPr>
            <a:cxnSpLocks/>
            <a:stCxn id="134" idx="3"/>
            <a:endCxn id="28" idx="1"/>
          </p:cNvCxnSpPr>
          <p:nvPr/>
        </p:nvCxnSpPr>
        <p:spPr>
          <a:xfrm>
            <a:off x="3915252" y="4436286"/>
            <a:ext cx="407388" cy="5594"/>
          </a:xfrm>
          <a:prstGeom prst="straightConnector1">
            <a:avLst/>
          </a:prstGeom>
          <a:ln w="28575">
            <a:solidFill>
              <a:schemeClr val="accent6"/>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1D683441-52F5-0280-E4C0-CD07D2F7EACC}"/>
              </a:ext>
            </a:extLst>
          </p:cNvPr>
          <p:cNvSpPr txBox="1"/>
          <p:nvPr/>
        </p:nvSpPr>
        <p:spPr>
          <a:xfrm>
            <a:off x="5469046" y="4750178"/>
            <a:ext cx="1851789" cy="400110"/>
          </a:xfrm>
          <a:prstGeom prst="rect">
            <a:avLst/>
          </a:prstGeom>
          <a:noFill/>
        </p:spPr>
        <p:txBody>
          <a:bodyPr wrap="none" rtlCol="0">
            <a:spAutoFit/>
          </a:bodyPr>
          <a:lstStyle/>
          <a:p>
            <a:r>
              <a:rPr lang="zh-CN" altLang="en-US" sz="1000" dirty="0">
                <a:solidFill>
                  <a:schemeClr val="accent3"/>
                </a:solidFill>
              </a:rPr>
              <a:t>⬅️</a:t>
            </a:r>
            <a:r>
              <a:rPr lang="ja-JP" altLang="en-US" sz="1000" b="1" dirty="0">
                <a:solidFill>
                  <a:schemeClr val="accent3"/>
                </a:solidFill>
              </a:rPr>
              <a:t>幾何学的特徴</a:t>
            </a:r>
            <a:r>
              <a:rPr lang="ja-JP" altLang="en-US" sz="1000" b="1">
                <a:solidFill>
                  <a:schemeClr val="accent3"/>
                </a:solidFill>
              </a:rPr>
              <a:t>を用いた</a:t>
            </a:r>
            <a:endParaRPr lang="en-US" altLang="ja-JP" sz="1000" b="1" dirty="0">
              <a:solidFill>
                <a:schemeClr val="accent3"/>
              </a:solidFill>
            </a:endParaRPr>
          </a:p>
          <a:p>
            <a:r>
              <a:rPr lang="ja-JP" altLang="en-US" sz="1000" b="1">
                <a:solidFill>
                  <a:schemeClr val="accent3"/>
                </a:solidFill>
              </a:rPr>
              <a:t>解剖学的</a:t>
            </a:r>
            <a:r>
              <a:rPr lang="ja-JP" altLang="en-US" sz="1000" b="1" dirty="0">
                <a:solidFill>
                  <a:schemeClr val="accent3"/>
                </a:solidFill>
              </a:rPr>
              <a:t>ランドマークの特定</a:t>
            </a:r>
            <a:endParaRPr lang="en-US" sz="1000" b="1" dirty="0">
              <a:solidFill>
                <a:schemeClr val="accent3"/>
              </a:solidFill>
            </a:endParaRPr>
          </a:p>
        </p:txBody>
      </p:sp>
      <p:sp>
        <p:nvSpPr>
          <p:cNvPr id="31" name="文本框 30">
            <a:extLst>
              <a:ext uri="{FF2B5EF4-FFF2-40B4-BE49-F238E27FC236}">
                <a16:creationId xmlns:a16="http://schemas.microsoft.com/office/drawing/2014/main" id="{2CC75080-A165-7499-6502-EEC0E00341D3}"/>
              </a:ext>
            </a:extLst>
          </p:cNvPr>
          <p:cNvSpPr txBox="1"/>
          <p:nvPr/>
        </p:nvSpPr>
        <p:spPr>
          <a:xfrm>
            <a:off x="6794295" y="5555463"/>
            <a:ext cx="2669320" cy="246221"/>
          </a:xfrm>
          <a:prstGeom prst="rect">
            <a:avLst/>
          </a:prstGeom>
          <a:noFill/>
        </p:spPr>
        <p:txBody>
          <a:bodyPr wrap="none" rtlCol="0">
            <a:spAutoFit/>
          </a:bodyPr>
          <a:lstStyle/>
          <a:p>
            <a:r>
              <a:rPr lang="zh-CN" altLang="en-US" sz="1000" dirty="0">
                <a:solidFill>
                  <a:schemeClr val="accent3"/>
                </a:solidFill>
              </a:rPr>
              <a:t>⬅️</a:t>
            </a:r>
            <a:r>
              <a:rPr lang="ja-JP" altLang="en-US" sz="1000" b="1" dirty="0">
                <a:solidFill>
                  <a:schemeClr val="accent3"/>
                </a:solidFill>
              </a:rPr>
              <a:t>主成分を用いた血管形状の表現・再構成</a:t>
            </a:r>
            <a:endParaRPr lang="en-US" sz="1000" b="1" dirty="0">
              <a:solidFill>
                <a:schemeClr val="accent3"/>
              </a:solidFill>
            </a:endParaRPr>
          </a:p>
        </p:txBody>
      </p:sp>
      <p:sp>
        <p:nvSpPr>
          <p:cNvPr id="50" name="流程图: 终止 49">
            <a:extLst>
              <a:ext uri="{FF2B5EF4-FFF2-40B4-BE49-F238E27FC236}">
                <a16:creationId xmlns:a16="http://schemas.microsoft.com/office/drawing/2014/main" id="{62D3F81E-BBB1-3DB1-CD6A-6FEB63B89DF4}"/>
              </a:ext>
            </a:extLst>
          </p:cNvPr>
          <p:cNvSpPr/>
          <p:nvPr/>
        </p:nvSpPr>
        <p:spPr>
          <a:xfrm>
            <a:off x="9169809" y="2748186"/>
            <a:ext cx="1577927" cy="1121648"/>
          </a:xfrm>
          <a:prstGeom prst="flowChartTerminator">
            <a:avLst/>
          </a:prstGeom>
          <a:solidFill>
            <a:schemeClr val="bg1">
              <a:lumMod val="95000"/>
            </a:schemeClr>
          </a:solidFill>
          <a:ln w="28575">
            <a:solidFill>
              <a:schemeClr val="tx1">
                <a:lumMod val="65000"/>
                <a:lumOff val="35000"/>
              </a:schemeClr>
            </a:solidFill>
          </a:ln>
        </p:spPr>
        <p:style>
          <a:lnRef idx="2">
            <a:schemeClr val="accent6"/>
          </a:lnRef>
          <a:fillRef idx="1">
            <a:schemeClr val="lt1"/>
          </a:fillRef>
          <a:effectRef idx="0">
            <a:schemeClr val="accent6"/>
          </a:effectRef>
          <a:fontRef idx="minor">
            <a:schemeClr val="dk1"/>
          </a:fontRef>
        </p:style>
        <p:txBody>
          <a:bodyPr rtlCol="0" anchor="ctr"/>
          <a:lstStyle/>
          <a:p>
            <a:r>
              <a:rPr lang="en-US" altLang="zh-CN" sz="1400" dirty="0">
                <a:latin typeface="Aptos ExtraBold" panose="020B0004020202020204" pitchFamily="34" charset="0"/>
                <a:ea typeface="+mj-ea"/>
              </a:rPr>
              <a:t>Modeling Data</a:t>
            </a:r>
          </a:p>
          <a:p>
            <a:pPr marL="285750" indent="-285750">
              <a:buFont typeface="Wingdings" panose="05000000000000000000" pitchFamily="2" charset="2"/>
              <a:buChar char="ü"/>
            </a:pPr>
            <a:r>
              <a:rPr lang="en-US" altLang="ja-JP" sz="1100" b="1" dirty="0">
                <a:latin typeface="+mj-ea"/>
                <a:ea typeface="+mj-ea"/>
              </a:rPr>
              <a:t>VOXEL</a:t>
            </a:r>
          </a:p>
          <a:p>
            <a:pPr marL="285750" indent="-285750">
              <a:buFont typeface="Wingdings" panose="05000000000000000000" pitchFamily="2" charset="2"/>
              <a:buChar char="ü"/>
            </a:pPr>
            <a:r>
              <a:rPr lang="ja-JP" altLang="en-US" sz="1100" b="1" dirty="0">
                <a:latin typeface="+mj-ea"/>
                <a:ea typeface="+mj-ea"/>
              </a:rPr>
              <a:t>中心線</a:t>
            </a:r>
            <a:endParaRPr lang="en-US" altLang="ja-JP" sz="1100" b="1" dirty="0">
              <a:latin typeface="+mj-ea"/>
              <a:ea typeface="+mj-ea"/>
            </a:endParaRPr>
          </a:p>
          <a:p>
            <a:pPr marL="285750" indent="-285750">
              <a:buFont typeface="Wingdings" panose="05000000000000000000" pitchFamily="2" charset="2"/>
              <a:buChar char="ü"/>
            </a:pPr>
            <a:r>
              <a:rPr lang="ja-JP" altLang="en-US" sz="1100" b="1" dirty="0">
                <a:latin typeface="+mj-ea"/>
                <a:ea typeface="+mj-ea"/>
              </a:rPr>
              <a:t>表面格子</a:t>
            </a:r>
            <a:endParaRPr lang="en-US" sz="1100" b="1" dirty="0">
              <a:latin typeface="+mj-ea"/>
              <a:ea typeface="+mj-ea"/>
            </a:endParaRPr>
          </a:p>
        </p:txBody>
      </p:sp>
      <p:cxnSp>
        <p:nvCxnSpPr>
          <p:cNvPr id="56" name="连接符: 肘形 55">
            <a:extLst>
              <a:ext uri="{FF2B5EF4-FFF2-40B4-BE49-F238E27FC236}">
                <a16:creationId xmlns:a16="http://schemas.microsoft.com/office/drawing/2014/main" id="{F67D665E-7636-D3E0-0795-9C56B84C5568}"/>
              </a:ext>
            </a:extLst>
          </p:cNvPr>
          <p:cNvCxnSpPr>
            <a:cxnSpLocks/>
            <a:stCxn id="134" idx="2"/>
            <a:endCxn id="29" idx="1"/>
          </p:cNvCxnSpPr>
          <p:nvPr/>
        </p:nvCxnSpPr>
        <p:spPr>
          <a:xfrm rot="16200000" flipH="1">
            <a:off x="3353451" y="4379433"/>
            <a:ext cx="611023" cy="1331588"/>
          </a:xfrm>
          <a:prstGeom prst="bentConnector2">
            <a:avLst/>
          </a:prstGeom>
          <a:ln w="28575">
            <a:solidFill>
              <a:schemeClr val="accent6"/>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271A468D-8EA5-F2FD-1C32-28121AEE6A0D}"/>
              </a:ext>
            </a:extLst>
          </p:cNvPr>
          <p:cNvCxnSpPr>
            <a:cxnSpLocks/>
            <a:stCxn id="21" idx="3"/>
            <a:endCxn id="50" idx="1"/>
          </p:cNvCxnSpPr>
          <p:nvPr/>
        </p:nvCxnSpPr>
        <p:spPr>
          <a:xfrm>
            <a:off x="8683243" y="3299565"/>
            <a:ext cx="486566" cy="9445"/>
          </a:xfrm>
          <a:prstGeom prst="straightConnector1">
            <a:avLst/>
          </a:prstGeom>
          <a:ln w="28575">
            <a:solidFill>
              <a:schemeClr val="accent6"/>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6" name="文本框 95">
            <a:extLst>
              <a:ext uri="{FF2B5EF4-FFF2-40B4-BE49-F238E27FC236}">
                <a16:creationId xmlns:a16="http://schemas.microsoft.com/office/drawing/2014/main" id="{38CC71D5-2666-2143-30B3-FDF4B2DAE528}"/>
              </a:ext>
            </a:extLst>
          </p:cNvPr>
          <p:cNvSpPr txBox="1"/>
          <p:nvPr/>
        </p:nvSpPr>
        <p:spPr>
          <a:xfrm>
            <a:off x="6794295" y="3614984"/>
            <a:ext cx="2028119" cy="246221"/>
          </a:xfrm>
          <a:prstGeom prst="rect">
            <a:avLst/>
          </a:prstGeom>
          <a:noFill/>
        </p:spPr>
        <p:txBody>
          <a:bodyPr wrap="none" rtlCol="0">
            <a:spAutoFit/>
          </a:bodyPr>
          <a:lstStyle/>
          <a:p>
            <a:r>
              <a:rPr lang="zh-CN" altLang="en-US" sz="1000" dirty="0">
                <a:solidFill>
                  <a:schemeClr val="accent3"/>
                </a:solidFill>
              </a:rPr>
              <a:t>⬅️</a:t>
            </a:r>
            <a:r>
              <a:rPr lang="ja-JP" altLang="en-US" sz="1000" b="1" dirty="0">
                <a:solidFill>
                  <a:schemeClr val="accent3"/>
                </a:solidFill>
              </a:rPr>
              <a:t>構造的モデリングデータ生成</a:t>
            </a:r>
            <a:endParaRPr lang="en-US" sz="1000" b="1" dirty="0">
              <a:solidFill>
                <a:schemeClr val="accent3"/>
              </a:solidFill>
            </a:endParaRPr>
          </a:p>
        </p:txBody>
      </p:sp>
      <p:cxnSp>
        <p:nvCxnSpPr>
          <p:cNvPr id="97" name="直接箭头连接符 96">
            <a:extLst>
              <a:ext uri="{FF2B5EF4-FFF2-40B4-BE49-F238E27FC236}">
                <a16:creationId xmlns:a16="http://schemas.microsoft.com/office/drawing/2014/main" id="{1ADF5BAA-918A-1FCF-4737-F31597670B29}"/>
              </a:ext>
            </a:extLst>
          </p:cNvPr>
          <p:cNvCxnSpPr>
            <a:cxnSpLocks/>
            <a:stCxn id="28" idx="2"/>
            <a:endCxn id="29" idx="0"/>
          </p:cNvCxnSpPr>
          <p:nvPr/>
        </p:nvCxnSpPr>
        <p:spPr>
          <a:xfrm>
            <a:off x="5267114" y="4745310"/>
            <a:ext cx="2116" cy="400901"/>
          </a:xfrm>
          <a:prstGeom prst="straightConnector1">
            <a:avLst/>
          </a:prstGeom>
          <a:ln w="28575">
            <a:solidFill>
              <a:schemeClr val="accent6"/>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102" name="图片 101">
            <a:extLst>
              <a:ext uri="{FF2B5EF4-FFF2-40B4-BE49-F238E27FC236}">
                <a16:creationId xmlns:a16="http://schemas.microsoft.com/office/drawing/2014/main" id="{E20A6ECA-44B3-BCFD-1621-83A8B78A8905}"/>
              </a:ext>
            </a:extLst>
          </p:cNvPr>
          <p:cNvPicPr>
            <a:picLocks noChangeAspect="1"/>
          </p:cNvPicPr>
          <p:nvPr/>
        </p:nvPicPr>
        <p:blipFill>
          <a:blip r:embed="rId6"/>
          <a:stretch>
            <a:fillRect/>
          </a:stretch>
        </p:blipFill>
        <p:spPr>
          <a:xfrm>
            <a:off x="4859412" y="2163066"/>
            <a:ext cx="924487" cy="716827"/>
          </a:xfrm>
          <a:prstGeom prst="rect">
            <a:avLst/>
          </a:prstGeom>
          <a:ln>
            <a:solidFill>
              <a:schemeClr val="tx1">
                <a:lumMod val="65000"/>
                <a:lumOff val="35000"/>
              </a:schemeClr>
            </a:solidFill>
          </a:ln>
        </p:spPr>
      </p:pic>
      <p:pic>
        <p:nvPicPr>
          <p:cNvPr id="106" name="图片 105">
            <a:extLst>
              <a:ext uri="{FF2B5EF4-FFF2-40B4-BE49-F238E27FC236}">
                <a16:creationId xmlns:a16="http://schemas.microsoft.com/office/drawing/2014/main" id="{65C6F56D-904B-B114-9F47-70DE70FE838D}"/>
              </a:ext>
            </a:extLst>
          </p:cNvPr>
          <p:cNvPicPr>
            <a:picLocks noChangeAspect="1"/>
          </p:cNvPicPr>
          <p:nvPr/>
        </p:nvPicPr>
        <p:blipFill>
          <a:blip r:embed="rId7"/>
          <a:srcRect b="7521"/>
          <a:stretch>
            <a:fillRect/>
          </a:stretch>
        </p:blipFill>
        <p:spPr>
          <a:xfrm>
            <a:off x="7176055" y="1993964"/>
            <a:ext cx="1125428" cy="937193"/>
          </a:xfrm>
          <a:prstGeom prst="rect">
            <a:avLst/>
          </a:prstGeom>
          <a:ln>
            <a:solidFill>
              <a:schemeClr val="tx1">
                <a:lumMod val="65000"/>
                <a:lumOff val="35000"/>
              </a:schemeClr>
            </a:solidFill>
          </a:ln>
        </p:spPr>
      </p:pic>
      <p:sp>
        <p:nvSpPr>
          <p:cNvPr id="115" name="文本框 114">
            <a:extLst>
              <a:ext uri="{FF2B5EF4-FFF2-40B4-BE49-F238E27FC236}">
                <a16:creationId xmlns:a16="http://schemas.microsoft.com/office/drawing/2014/main" id="{B008E04B-35AD-B6B2-D073-B8E0D4CB99EB}"/>
              </a:ext>
            </a:extLst>
          </p:cNvPr>
          <p:cNvSpPr txBox="1"/>
          <p:nvPr/>
        </p:nvSpPr>
        <p:spPr>
          <a:xfrm>
            <a:off x="904862" y="1129927"/>
            <a:ext cx="8847294" cy="646331"/>
          </a:xfrm>
          <a:prstGeom prst="rect">
            <a:avLst/>
          </a:prstGeom>
          <a:noFill/>
        </p:spPr>
        <p:txBody>
          <a:bodyPr wrap="none" rtlCol="0">
            <a:spAutoFit/>
          </a:bodyPr>
          <a:lstStyle/>
          <a:p>
            <a:r>
              <a:rPr lang="ja-JP" altLang="en-US" b="1" dirty="0"/>
              <a:t>研究目的</a:t>
            </a:r>
            <a:endParaRPr lang="en-US" altLang="ja-JP" b="1" dirty="0"/>
          </a:p>
          <a:p>
            <a:pPr marL="285750" indent="-285750">
              <a:buFont typeface="Arial" panose="020B0604020202020204" pitchFamily="34" charset="0"/>
              <a:buChar char="•"/>
            </a:pPr>
            <a:r>
              <a:rPr lang="ja-JP" altLang="en-US" b="1" dirty="0"/>
              <a:t>大規模</a:t>
            </a:r>
            <a:r>
              <a:rPr lang="en-US" altLang="ja-JP" b="1" dirty="0"/>
              <a:t>MRA</a:t>
            </a:r>
            <a:r>
              <a:rPr lang="ja-JP" altLang="en-US" b="1" dirty="0"/>
              <a:t>データを処理するための</a:t>
            </a:r>
            <a:r>
              <a:rPr lang="ja-JP" altLang="en-US" b="1" u="sng" dirty="0"/>
              <a:t>脳動脈形状の統計的解析パイプライン</a:t>
            </a:r>
            <a:r>
              <a:rPr lang="ja-JP" altLang="en-US" b="1" dirty="0"/>
              <a:t>の開発</a:t>
            </a:r>
          </a:p>
        </p:txBody>
      </p:sp>
      <p:sp>
        <p:nvSpPr>
          <p:cNvPr id="2" name="文本框 1">
            <a:extLst>
              <a:ext uri="{FF2B5EF4-FFF2-40B4-BE49-F238E27FC236}">
                <a16:creationId xmlns:a16="http://schemas.microsoft.com/office/drawing/2014/main" id="{2912980C-6265-E1D8-7142-78806E714254}"/>
              </a:ext>
            </a:extLst>
          </p:cNvPr>
          <p:cNvSpPr txBox="1"/>
          <p:nvPr/>
        </p:nvSpPr>
        <p:spPr>
          <a:xfrm>
            <a:off x="4530753" y="5995049"/>
            <a:ext cx="2999539" cy="261610"/>
          </a:xfrm>
          <a:prstGeom prst="rect">
            <a:avLst/>
          </a:prstGeom>
          <a:noFill/>
        </p:spPr>
        <p:txBody>
          <a:bodyPr wrap="none" rtlCol="0">
            <a:spAutoFit/>
          </a:bodyPr>
          <a:lstStyle/>
          <a:p>
            <a:r>
              <a:rPr lang="en-US" altLang="ja-JP" sz="1100" b="1" dirty="0">
                <a:latin typeface="+mj-ea"/>
                <a:ea typeface="+mj-ea"/>
              </a:rPr>
              <a:t>Fig.4 </a:t>
            </a:r>
            <a:r>
              <a:rPr lang="ja-JP" altLang="en-US" sz="1100" b="1" dirty="0">
                <a:latin typeface="+mj-ea"/>
                <a:ea typeface="+mj-ea"/>
              </a:rPr>
              <a:t>脳動脈形状の統計的解析パイプライン</a:t>
            </a:r>
            <a:endParaRPr lang="en-US" sz="1100" b="1" dirty="0">
              <a:latin typeface="+mj-ea"/>
              <a:ea typeface="+mj-ea"/>
            </a:endParaRPr>
          </a:p>
        </p:txBody>
      </p:sp>
      <p:sp>
        <p:nvSpPr>
          <p:cNvPr id="3" name="文本框 95">
            <a:extLst>
              <a:ext uri="{FF2B5EF4-FFF2-40B4-BE49-F238E27FC236}">
                <a16:creationId xmlns:a16="http://schemas.microsoft.com/office/drawing/2014/main" id="{4E41CF20-85A8-1FF9-0409-ADF42D0C5B13}"/>
              </a:ext>
            </a:extLst>
          </p:cNvPr>
          <p:cNvSpPr txBox="1"/>
          <p:nvPr/>
        </p:nvSpPr>
        <p:spPr>
          <a:xfrm>
            <a:off x="4646352" y="3612638"/>
            <a:ext cx="1875835" cy="246221"/>
          </a:xfrm>
          <a:prstGeom prst="rect">
            <a:avLst/>
          </a:prstGeom>
          <a:noFill/>
        </p:spPr>
        <p:txBody>
          <a:bodyPr wrap="none" rtlCol="0">
            <a:spAutoFit/>
          </a:bodyPr>
          <a:lstStyle/>
          <a:p>
            <a:r>
              <a:rPr lang="zh-CN" altLang="en-US" sz="1000" dirty="0">
                <a:solidFill>
                  <a:schemeClr val="accent3"/>
                </a:solidFill>
              </a:rPr>
              <a:t>⬅️</a:t>
            </a:r>
            <a:r>
              <a:rPr lang="en-US" altLang="ja-JP" sz="1000" b="1" dirty="0">
                <a:solidFill>
                  <a:schemeClr val="accent3"/>
                </a:solidFill>
              </a:rPr>
              <a:t>State-of-the-art</a:t>
            </a:r>
            <a:r>
              <a:rPr lang="ja-JP" altLang="en-US" sz="1000" b="1">
                <a:solidFill>
                  <a:schemeClr val="accent3"/>
                </a:solidFill>
              </a:rPr>
              <a:t>モデル導入</a:t>
            </a:r>
            <a:endParaRPr lang="en-US" sz="1000" b="1" dirty="0">
              <a:solidFill>
                <a:schemeClr val="accent3"/>
              </a:solidFill>
            </a:endParaRPr>
          </a:p>
        </p:txBody>
      </p:sp>
      <p:sp>
        <p:nvSpPr>
          <p:cNvPr id="5" name="TextBox 4">
            <a:extLst>
              <a:ext uri="{FF2B5EF4-FFF2-40B4-BE49-F238E27FC236}">
                <a16:creationId xmlns:a16="http://schemas.microsoft.com/office/drawing/2014/main" id="{BFEB94B6-8F0D-EE40-692D-1651C3CD7446}"/>
              </a:ext>
            </a:extLst>
          </p:cNvPr>
          <p:cNvSpPr txBox="1"/>
          <p:nvPr/>
        </p:nvSpPr>
        <p:spPr>
          <a:xfrm>
            <a:off x="9052193" y="4695675"/>
            <a:ext cx="2662972" cy="830997"/>
          </a:xfrm>
          <a:prstGeom prst="rect">
            <a:avLst/>
          </a:prstGeom>
          <a:noFill/>
        </p:spPr>
        <p:txBody>
          <a:bodyPr wrap="square" rtlCol="0">
            <a:spAutoFit/>
          </a:bodyPr>
          <a:lstStyle/>
          <a:p>
            <a:pPr marL="171450" indent="-171450">
              <a:buFont typeface="Arial" panose="020B0604020202020204" pitchFamily="34" charset="0"/>
              <a:buChar char="•"/>
            </a:pPr>
            <a:r>
              <a:rPr lang="en-JP" sz="1200" dirty="0"/>
              <a:t>血流解析結果との紐付け</a:t>
            </a:r>
          </a:p>
          <a:p>
            <a:pPr marL="171450" indent="-171450">
              <a:buFont typeface="Arial" panose="020B0604020202020204" pitchFamily="34" charset="0"/>
              <a:buChar char="•"/>
            </a:pPr>
            <a:r>
              <a:rPr lang="en-JP" sz="1200" dirty="0"/>
              <a:t>特定の解剖学的特徴を持つ合成血管形状生成</a:t>
            </a:r>
          </a:p>
          <a:p>
            <a:r>
              <a:rPr lang="en-JP" sz="1200" dirty="0"/>
              <a:t>…</a:t>
            </a:r>
          </a:p>
        </p:txBody>
      </p:sp>
      <p:cxnSp>
        <p:nvCxnSpPr>
          <p:cNvPr id="6" name="直接箭头连接符 60">
            <a:extLst>
              <a:ext uri="{FF2B5EF4-FFF2-40B4-BE49-F238E27FC236}">
                <a16:creationId xmlns:a16="http://schemas.microsoft.com/office/drawing/2014/main" id="{07B4A769-8567-0096-6D31-5B67C4EB6036}"/>
              </a:ext>
            </a:extLst>
          </p:cNvPr>
          <p:cNvCxnSpPr>
            <a:cxnSpLocks/>
          </p:cNvCxnSpPr>
          <p:nvPr/>
        </p:nvCxnSpPr>
        <p:spPr>
          <a:xfrm flipV="1">
            <a:off x="8639061" y="4888415"/>
            <a:ext cx="366705" cy="5594"/>
          </a:xfrm>
          <a:prstGeom prst="straightConnector1">
            <a:avLst/>
          </a:prstGeom>
          <a:ln w="28575">
            <a:solidFill>
              <a:schemeClr val="accent6"/>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62016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2" descr="Understanding Evaluation Metrics in Medical Image Segmentation | by Nghi  Huynh | Mastering Data Science | Medium">
            <a:extLst>
              <a:ext uri="{FF2B5EF4-FFF2-40B4-BE49-F238E27FC236}">
                <a16:creationId xmlns:a16="http://schemas.microsoft.com/office/drawing/2014/main" id="{25A331AE-818E-29F7-D911-4650BB1F71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674" y="4176317"/>
            <a:ext cx="3031647" cy="1428190"/>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ECBB9AD9-5AEA-4233-8A1A-B26141AC5451}"/>
              </a:ext>
            </a:extLst>
          </p:cNvPr>
          <p:cNvSpPr>
            <a:spLocks noGrp="1"/>
          </p:cNvSpPr>
          <p:nvPr>
            <p:ph type="title"/>
          </p:nvPr>
        </p:nvSpPr>
        <p:spPr/>
        <p:txBody>
          <a:bodyPr/>
          <a:lstStyle/>
          <a:p>
            <a:r>
              <a:rPr lang="ja-JP" altLang="en-US" dirty="0"/>
              <a:t>自動セグメンテーションによるモデリング</a:t>
            </a:r>
            <a:endParaRPr lang="en-US" dirty="0"/>
          </a:p>
        </p:txBody>
      </p:sp>
      <p:sp>
        <p:nvSpPr>
          <p:cNvPr id="3" name="页脚占位符 2">
            <a:extLst>
              <a:ext uri="{FF2B5EF4-FFF2-40B4-BE49-F238E27FC236}">
                <a16:creationId xmlns:a16="http://schemas.microsoft.com/office/drawing/2014/main" id="{F37BDD73-9F3E-2D93-8EB9-718C9A917CF8}"/>
              </a:ext>
            </a:extLst>
          </p:cNvPr>
          <p:cNvSpPr>
            <a:spLocks noGrp="1"/>
          </p:cNvSpPr>
          <p:nvPr>
            <p:ph type="ftr" sz="quarter" idx="10"/>
          </p:nvPr>
        </p:nvSpPr>
        <p:spPr/>
        <p:txBody>
          <a:bodyPr/>
          <a:lstStyle/>
          <a:p>
            <a:endParaRPr lang="en-US"/>
          </a:p>
        </p:txBody>
      </p:sp>
      <p:sp>
        <p:nvSpPr>
          <p:cNvPr id="4" name="灯片编号占位符 3">
            <a:extLst>
              <a:ext uri="{FF2B5EF4-FFF2-40B4-BE49-F238E27FC236}">
                <a16:creationId xmlns:a16="http://schemas.microsoft.com/office/drawing/2014/main" id="{23249905-1468-B6E8-2F51-A8637ED53B1F}"/>
              </a:ext>
            </a:extLst>
          </p:cNvPr>
          <p:cNvSpPr>
            <a:spLocks noGrp="1"/>
          </p:cNvSpPr>
          <p:nvPr>
            <p:ph type="sldNum" sz="quarter" idx="11"/>
          </p:nvPr>
        </p:nvSpPr>
        <p:spPr/>
        <p:txBody>
          <a:bodyPr/>
          <a:lstStyle/>
          <a:p>
            <a:fld id="{E2B18E97-1989-4D85-BA90-17B226C62452}" type="slidenum">
              <a:rPr lang="en-US" smtClean="0"/>
              <a:pPr/>
              <a:t>5</a:t>
            </a:fld>
            <a:endParaRPr lang="en-US"/>
          </a:p>
        </p:txBody>
      </p:sp>
      <p:sp>
        <p:nvSpPr>
          <p:cNvPr id="5" name="文本占位符 4">
            <a:extLst>
              <a:ext uri="{FF2B5EF4-FFF2-40B4-BE49-F238E27FC236}">
                <a16:creationId xmlns:a16="http://schemas.microsoft.com/office/drawing/2014/main" id="{720456DF-2DF3-7E5B-5CF9-7FDD73AD5F19}"/>
              </a:ext>
            </a:extLst>
          </p:cNvPr>
          <p:cNvSpPr>
            <a:spLocks noGrp="1"/>
          </p:cNvSpPr>
          <p:nvPr>
            <p:ph type="body" sz="quarter" idx="12"/>
          </p:nvPr>
        </p:nvSpPr>
        <p:spPr>
          <a:xfrm>
            <a:off x="766763" y="998593"/>
            <a:ext cx="10658475" cy="4860925"/>
          </a:xfrm>
        </p:spPr>
        <p:txBody>
          <a:bodyPr/>
          <a:lstStyle/>
          <a:p>
            <a:r>
              <a:rPr lang="ja-JP" altLang="en-US" dirty="0"/>
              <a:t>公開データセット</a:t>
            </a:r>
            <a:r>
              <a:rPr lang="en-US" dirty="0" err="1"/>
              <a:t>TopCoW</a:t>
            </a:r>
            <a:r>
              <a:rPr lang="ja-JP" altLang="en-US" dirty="0"/>
              <a:t>の</a:t>
            </a:r>
            <a:r>
              <a:rPr lang="en-US" altLang="ja-JP" dirty="0"/>
              <a:t>140</a:t>
            </a:r>
            <a:r>
              <a:rPr lang="ja-JP" altLang="en-US" dirty="0"/>
              <a:t>症例のうち</a:t>
            </a:r>
            <a:r>
              <a:rPr lang="en-US" altLang="ja-JP" dirty="0"/>
              <a:t>130</a:t>
            </a:r>
            <a:r>
              <a:rPr lang="ja-JP" altLang="en-US" dirty="0"/>
              <a:t>症例で学習し、</a:t>
            </a:r>
            <a:r>
              <a:rPr lang="en-US" altLang="ja-JP" dirty="0"/>
              <a:t>10</a:t>
            </a:r>
            <a:r>
              <a:rPr lang="ja-JP" altLang="en-US" dirty="0"/>
              <a:t>症例をテストデータとした</a:t>
            </a:r>
            <a:endParaRPr lang="en-US" altLang="ja-JP" dirty="0"/>
          </a:p>
          <a:p>
            <a:r>
              <a:rPr lang="ja-JP" altLang="en-US" dirty="0"/>
              <a:t>マニュアルでのセグメンテーション領域と、自動化セグメンテーションモデルによる予測領域を比較し、</a:t>
            </a:r>
            <a:r>
              <a:rPr lang="en-US" altLang="ja-JP" dirty="0"/>
              <a:t>DICE</a:t>
            </a:r>
            <a:r>
              <a:rPr lang="ja-JP" altLang="en-US" dirty="0"/>
              <a:t>スコア平均</a:t>
            </a:r>
            <a:r>
              <a:rPr lang="en-US" altLang="ja-JP" dirty="0"/>
              <a:t>〜92.6%</a:t>
            </a:r>
            <a:r>
              <a:rPr lang="ja-JP" altLang="en-US" dirty="0"/>
              <a:t>を実現</a:t>
            </a:r>
            <a:endParaRPr lang="en-US" dirty="0"/>
          </a:p>
          <a:p>
            <a:endParaRPr lang="en-US" dirty="0"/>
          </a:p>
        </p:txBody>
      </p:sp>
      <p:sp>
        <p:nvSpPr>
          <p:cNvPr id="6" name="文本占位符 5">
            <a:extLst>
              <a:ext uri="{FF2B5EF4-FFF2-40B4-BE49-F238E27FC236}">
                <a16:creationId xmlns:a16="http://schemas.microsoft.com/office/drawing/2014/main" id="{19B48EEA-8EE7-700D-9436-08941C4C917D}"/>
              </a:ext>
            </a:extLst>
          </p:cNvPr>
          <p:cNvSpPr>
            <a:spLocks noGrp="1"/>
          </p:cNvSpPr>
          <p:nvPr>
            <p:ph type="body" sz="quarter" idx="13"/>
          </p:nvPr>
        </p:nvSpPr>
        <p:spPr/>
        <p:txBody>
          <a:bodyPr/>
          <a:lstStyle/>
          <a:p>
            <a:r>
              <a:rPr lang="en-US" altLang="zh-CN" dirty="0"/>
              <a:t>2025.12.06</a:t>
            </a:r>
            <a:r>
              <a:rPr lang="ja-JP" altLang="en-US" dirty="0"/>
              <a:t>　バイオフロンティア講演会　</a:t>
            </a:r>
            <a:r>
              <a:rPr lang="en-US" altLang="ja-JP" dirty="0"/>
              <a:t>1E12</a:t>
            </a:r>
          </a:p>
        </p:txBody>
      </p:sp>
      <p:sp>
        <p:nvSpPr>
          <p:cNvPr id="7" name="文本占位符 6">
            <a:extLst>
              <a:ext uri="{FF2B5EF4-FFF2-40B4-BE49-F238E27FC236}">
                <a16:creationId xmlns:a16="http://schemas.microsoft.com/office/drawing/2014/main" id="{0DD14AB4-61C8-EF88-650F-CDEC476F4110}"/>
              </a:ext>
            </a:extLst>
          </p:cNvPr>
          <p:cNvSpPr>
            <a:spLocks noGrp="1"/>
          </p:cNvSpPr>
          <p:nvPr>
            <p:ph type="body" sz="quarter" idx="14"/>
          </p:nvPr>
        </p:nvSpPr>
        <p:spPr/>
        <p:txBody>
          <a:bodyPr/>
          <a:lstStyle/>
          <a:p>
            <a:r>
              <a:rPr lang="ja-JP" altLang="en-US" dirty="0"/>
              <a:t>結果</a:t>
            </a:r>
            <a:r>
              <a:rPr lang="en-US" altLang="ja-JP" dirty="0"/>
              <a:t>1/4</a:t>
            </a:r>
            <a:endParaRPr lang="en-US" dirty="0"/>
          </a:p>
        </p:txBody>
      </p:sp>
      <p:graphicFrame>
        <p:nvGraphicFramePr>
          <p:cNvPr id="30" name="表格 29">
            <a:extLst>
              <a:ext uri="{FF2B5EF4-FFF2-40B4-BE49-F238E27FC236}">
                <a16:creationId xmlns:a16="http://schemas.microsoft.com/office/drawing/2014/main" id="{CBC33746-4B60-0179-4BA4-E60369202A5C}"/>
              </a:ext>
            </a:extLst>
          </p:cNvPr>
          <p:cNvGraphicFramePr>
            <a:graphicFrameLocks noGrp="1"/>
          </p:cNvGraphicFramePr>
          <p:nvPr>
            <p:extLst>
              <p:ext uri="{D42A27DB-BD31-4B8C-83A1-F6EECF244321}">
                <p14:modId xmlns:p14="http://schemas.microsoft.com/office/powerpoint/2010/main" val="611319826"/>
              </p:ext>
            </p:extLst>
          </p:nvPr>
        </p:nvGraphicFramePr>
        <p:xfrm>
          <a:off x="876300" y="5414717"/>
          <a:ext cx="10240958" cy="710010"/>
        </p:xfrm>
        <a:graphic>
          <a:graphicData uri="http://schemas.openxmlformats.org/drawingml/2006/table">
            <a:tbl>
              <a:tblPr>
                <a:tableStyleId>{9D7B26C5-4107-4FEC-AEDC-1716B250A1EF}</a:tableStyleId>
              </a:tblPr>
              <a:tblGrid>
                <a:gridCol w="1281091">
                  <a:extLst>
                    <a:ext uri="{9D8B030D-6E8A-4147-A177-3AD203B41FA5}">
                      <a16:colId xmlns:a16="http://schemas.microsoft.com/office/drawing/2014/main" val="8263547"/>
                    </a:ext>
                  </a:extLst>
                </a:gridCol>
                <a:gridCol w="676532">
                  <a:extLst>
                    <a:ext uri="{9D8B030D-6E8A-4147-A177-3AD203B41FA5}">
                      <a16:colId xmlns:a16="http://schemas.microsoft.com/office/drawing/2014/main" val="3094629537"/>
                    </a:ext>
                  </a:extLst>
                </a:gridCol>
                <a:gridCol w="676532">
                  <a:extLst>
                    <a:ext uri="{9D8B030D-6E8A-4147-A177-3AD203B41FA5}">
                      <a16:colId xmlns:a16="http://schemas.microsoft.com/office/drawing/2014/main" val="1841909732"/>
                    </a:ext>
                  </a:extLst>
                </a:gridCol>
                <a:gridCol w="676532">
                  <a:extLst>
                    <a:ext uri="{9D8B030D-6E8A-4147-A177-3AD203B41FA5}">
                      <a16:colId xmlns:a16="http://schemas.microsoft.com/office/drawing/2014/main" val="997049469"/>
                    </a:ext>
                  </a:extLst>
                </a:gridCol>
                <a:gridCol w="676532">
                  <a:extLst>
                    <a:ext uri="{9D8B030D-6E8A-4147-A177-3AD203B41FA5}">
                      <a16:colId xmlns:a16="http://schemas.microsoft.com/office/drawing/2014/main" val="3672436199"/>
                    </a:ext>
                  </a:extLst>
                </a:gridCol>
                <a:gridCol w="676532">
                  <a:extLst>
                    <a:ext uri="{9D8B030D-6E8A-4147-A177-3AD203B41FA5}">
                      <a16:colId xmlns:a16="http://schemas.microsoft.com/office/drawing/2014/main" val="2071934291"/>
                    </a:ext>
                  </a:extLst>
                </a:gridCol>
                <a:gridCol w="676532">
                  <a:extLst>
                    <a:ext uri="{9D8B030D-6E8A-4147-A177-3AD203B41FA5}">
                      <a16:colId xmlns:a16="http://schemas.microsoft.com/office/drawing/2014/main" val="1888262854"/>
                    </a:ext>
                  </a:extLst>
                </a:gridCol>
                <a:gridCol w="676532">
                  <a:extLst>
                    <a:ext uri="{9D8B030D-6E8A-4147-A177-3AD203B41FA5}">
                      <a16:colId xmlns:a16="http://schemas.microsoft.com/office/drawing/2014/main" val="159436000"/>
                    </a:ext>
                  </a:extLst>
                </a:gridCol>
                <a:gridCol w="676532">
                  <a:extLst>
                    <a:ext uri="{9D8B030D-6E8A-4147-A177-3AD203B41FA5}">
                      <a16:colId xmlns:a16="http://schemas.microsoft.com/office/drawing/2014/main" val="2612316685"/>
                    </a:ext>
                  </a:extLst>
                </a:gridCol>
                <a:gridCol w="765325">
                  <a:extLst>
                    <a:ext uri="{9D8B030D-6E8A-4147-A177-3AD203B41FA5}">
                      <a16:colId xmlns:a16="http://schemas.microsoft.com/office/drawing/2014/main" val="2608674502"/>
                    </a:ext>
                  </a:extLst>
                </a:gridCol>
                <a:gridCol w="752690">
                  <a:extLst>
                    <a:ext uri="{9D8B030D-6E8A-4147-A177-3AD203B41FA5}">
                      <a16:colId xmlns:a16="http://schemas.microsoft.com/office/drawing/2014/main" val="3917651508"/>
                    </a:ext>
                  </a:extLst>
                </a:gridCol>
                <a:gridCol w="676532">
                  <a:extLst>
                    <a:ext uri="{9D8B030D-6E8A-4147-A177-3AD203B41FA5}">
                      <a16:colId xmlns:a16="http://schemas.microsoft.com/office/drawing/2014/main" val="1230240058"/>
                    </a:ext>
                  </a:extLst>
                </a:gridCol>
                <a:gridCol w="676532">
                  <a:extLst>
                    <a:ext uri="{9D8B030D-6E8A-4147-A177-3AD203B41FA5}">
                      <a16:colId xmlns:a16="http://schemas.microsoft.com/office/drawing/2014/main" val="4008548281"/>
                    </a:ext>
                  </a:extLst>
                </a:gridCol>
                <a:gridCol w="676532">
                  <a:extLst>
                    <a:ext uri="{9D8B030D-6E8A-4147-A177-3AD203B41FA5}">
                      <a16:colId xmlns:a16="http://schemas.microsoft.com/office/drawing/2014/main" val="2635393912"/>
                    </a:ext>
                  </a:extLst>
                </a:gridCol>
              </a:tblGrid>
              <a:tr h="274221">
                <a:tc>
                  <a:txBody>
                    <a:bodyPr/>
                    <a:lstStyle/>
                    <a:p>
                      <a:pPr algn="ctr" fontAlgn="b">
                        <a:buNone/>
                      </a:pPr>
                      <a:r>
                        <a:rPr lang="ja-JP" altLang="en-US" sz="1400" b="1" u="none" strike="noStrike" dirty="0">
                          <a:solidFill>
                            <a:schemeClr val="tx1"/>
                          </a:solidFill>
                          <a:effectLst/>
                          <a:latin typeface="Times New Roman" panose="02020603050405020304" pitchFamily="18" charset="0"/>
                          <a:cs typeface="Times New Roman" panose="02020603050405020304" pitchFamily="18" charset="0"/>
                        </a:rPr>
                        <a:t>　</a:t>
                      </a:r>
                      <a:endParaRPr lang="ja-JP" altLang="en-US" sz="1400" b="1" i="0" u="none" strike="noStrike" dirty="0">
                        <a:solidFill>
                          <a:schemeClr val="tx1"/>
                        </a:solidFill>
                        <a:effectLst/>
                        <a:latin typeface="Times New Roman" panose="02020603050405020304" pitchFamily="18" charset="0"/>
                        <a:ea typeface="MS PGothic" panose="020B0600070205080204" pitchFamily="50" charset="-128"/>
                        <a:cs typeface="Times New Roman" panose="02020603050405020304" pitchFamily="18" charset="0"/>
                      </a:endParaRPr>
                    </a:p>
                  </a:txBody>
                  <a:tcPr marL="9069" marR="9069" marT="9069" marB="0" anchor="ctr"/>
                </a:tc>
                <a:tc>
                  <a:txBody>
                    <a:bodyPr/>
                    <a:lstStyle/>
                    <a:p>
                      <a:pPr algn="ctr" fontAlgn="b">
                        <a:buNone/>
                      </a:pPr>
                      <a:r>
                        <a:rPr lang="en-US" altLang="ja-JP" sz="1400" b="1" u="none" strike="noStrike" dirty="0">
                          <a:solidFill>
                            <a:schemeClr val="accent3"/>
                          </a:solidFill>
                          <a:effectLst/>
                          <a:latin typeface="Times New Roman" panose="02020603050405020304" pitchFamily="18" charset="0"/>
                          <a:cs typeface="Times New Roman" panose="02020603050405020304" pitchFamily="18" charset="0"/>
                        </a:rPr>
                        <a:t>Total</a:t>
                      </a:r>
                      <a:endParaRPr lang="ja-JP" altLang="en-US" sz="1400" b="1" i="0" u="none" strike="noStrike" dirty="0">
                        <a:solidFill>
                          <a:schemeClr val="accent3"/>
                        </a:solidFill>
                        <a:effectLst/>
                        <a:latin typeface="Times New Roman" panose="02020603050405020304" pitchFamily="18" charset="0"/>
                        <a:ea typeface="MS PGothic" panose="020B0600070205080204" pitchFamily="50" charset="-128"/>
                        <a:cs typeface="Times New Roman" panose="02020603050405020304" pitchFamily="18" charset="0"/>
                      </a:endParaRPr>
                    </a:p>
                  </a:txBody>
                  <a:tcPr marL="9069" marR="9069" marT="9069" marB="0" anchor="ctr"/>
                </a:tc>
                <a:tc>
                  <a:txBody>
                    <a:bodyPr/>
                    <a:lstStyle/>
                    <a:p>
                      <a:pPr algn="ctr" fontAlgn="b">
                        <a:buNone/>
                      </a:pPr>
                      <a:r>
                        <a:rPr lang="en-US" sz="1400" b="1" u="none" strike="noStrike" dirty="0">
                          <a:solidFill>
                            <a:schemeClr val="tx1"/>
                          </a:solidFill>
                          <a:effectLst/>
                          <a:latin typeface="Times New Roman" panose="02020603050405020304" pitchFamily="18" charset="0"/>
                          <a:cs typeface="Times New Roman" panose="02020603050405020304" pitchFamily="18" charset="0"/>
                        </a:rPr>
                        <a:t>BA</a:t>
                      </a:r>
                      <a:endParaRPr lang="en-US" sz="1400" b="1" i="0" u="none" strike="noStrike" dirty="0">
                        <a:solidFill>
                          <a:schemeClr val="tx1"/>
                        </a:solidFill>
                        <a:effectLst/>
                        <a:latin typeface="Times New Roman" panose="02020603050405020304" pitchFamily="18" charset="0"/>
                        <a:ea typeface="MS PGothic" panose="020B0600070205080204" pitchFamily="50" charset="-128"/>
                        <a:cs typeface="Times New Roman" panose="02020603050405020304" pitchFamily="18" charset="0"/>
                      </a:endParaRPr>
                    </a:p>
                  </a:txBody>
                  <a:tcPr marL="9069" marR="9069" marT="9069" marB="0" anchor="ctr"/>
                </a:tc>
                <a:tc>
                  <a:txBody>
                    <a:bodyPr/>
                    <a:lstStyle/>
                    <a:p>
                      <a:pPr algn="ctr" fontAlgn="b">
                        <a:buNone/>
                      </a:pPr>
                      <a:r>
                        <a:rPr lang="en-US" sz="1400" b="1" u="none" strike="noStrike">
                          <a:solidFill>
                            <a:schemeClr val="tx1"/>
                          </a:solidFill>
                          <a:effectLst/>
                          <a:latin typeface="Times New Roman" panose="02020603050405020304" pitchFamily="18" charset="0"/>
                          <a:cs typeface="Times New Roman" panose="02020603050405020304" pitchFamily="18" charset="0"/>
                        </a:rPr>
                        <a:t>R-PCA</a:t>
                      </a:r>
                      <a:endParaRPr lang="en-US" sz="1400" b="1" i="0" u="none" strike="noStrike">
                        <a:solidFill>
                          <a:schemeClr val="tx1"/>
                        </a:solidFill>
                        <a:effectLst/>
                        <a:latin typeface="Times New Roman" panose="02020603050405020304" pitchFamily="18" charset="0"/>
                        <a:ea typeface="MS PGothic" panose="020B0600070205080204" pitchFamily="50" charset="-128"/>
                        <a:cs typeface="Times New Roman" panose="02020603050405020304" pitchFamily="18" charset="0"/>
                      </a:endParaRPr>
                    </a:p>
                  </a:txBody>
                  <a:tcPr marL="9069" marR="9069" marT="9069" marB="0" anchor="ctr"/>
                </a:tc>
                <a:tc>
                  <a:txBody>
                    <a:bodyPr/>
                    <a:lstStyle/>
                    <a:p>
                      <a:pPr algn="ctr" fontAlgn="b">
                        <a:buNone/>
                      </a:pPr>
                      <a:r>
                        <a:rPr lang="en-US" sz="1400" b="1" u="none" strike="noStrike">
                          <a:solidFill>
                            <a:schemeClr val="tx1"/>
                          </a:solidFill>
                          <a:effectLst/>
                          <a:latin typeface="Times New Roman" panose="02020603050405020304" pitchFamily="18" charset="0"/>
                          <a:cs typeface="Times New Roman" panose="02020603050405020304" pitchFamily="18" charset="0"/>
                        </a:rPr>
                        <a:t>L-PCA</a:t>
                      </a:r>
                      <a:endParaRPr lang="en-US" sz="1400" b="1" i="0" u="none" strike="noStrike">
                        <a:solidFill>
                          <a:schemeClr val="tx1"/>
                        </a:solidFill>
                        <a:effectLst/>
                        <a:latin typeface="Times New Roman" panose="02020603050405020304" pitchFamily="18" charset="0"/>
                        <a:ea typeface="MS PGothic" panose="020B0600070205080204" pitchFamily="50" charset="-128"/>
                        <a:cs typeface="Times New Roman" panose="02020603050405020304" pitchFamily="18" charset="0"/>
                      </a:endParaRPr>
                    </a:p>
                  </a:txBody>
                  <a:tcPr marL="9069" marR="9069" marT="9069" marB="0" anchor="ctr"/>
                </a:tc>
                <a:tc>
                  <a:txBody>
                    <a:bodyPr/>
                    <a:lstStyle/>
                    <a:p>
                      <a:pPr algn="ctr" fontAlgn="b">
                        <a:buNone/>
                      </a:pPr>
                      <a:r>
                        <a:rPr lang="en-US" sz="1400" b="1" u="none" strike="noStrike" dirty="0">
                          <a:solidFill>
                            <a:schemeClr val="tx1"/>
                          </a:solidFill>
                          <a:effectLst/>
                          <a:latin typeface="Times New Roman" panose="02020603050405020304" pitchFamily="18" charset="0"/>
                          <a:cs typeface="Times New Roman" panose="02020603050405020304" pitchFamily="18" charset="0"/>
                        </a:rPr>
                        <a:t>R-ICA</a:t>
                      </a:r>
                      <a:endParaRPr lang="en-US" sz="1400" b="1" i="0" u="none" strike="noStrike" dirty="0">
                        <a:solidFill>
                          <a:schemeClr val="tx1"/>
                        </a:solidFill>
                        <a:effectLst/>
                        <a:latin typeface="Times New Roman" panose="02020603050405020304" pitchFamily="18" charset="0"/>
                        <a:ea typeface="MS PGothic" panose="020B0600070205080204" pitchFamily="50" charset="-128"/>
                        <a:cs typeface="Times New Roman" panose="02020603050405020304" pitchFamily="18" charset="0"/>
                      </a:endParaRPr>
                    </a:p>
                  </a:txBody>
                  <a:tcPr marL="9069" marR="9069" marT="9069" marB="0" anchor="ctr"/>
                </a:tc>
                <a:tc>
                  <a:txBody>
                    <a:bodyPr/>
                    <a:lstStyle/>
                    <a:p>
                      <a:pPr algn="ctr" fontAlgn="b">
                        <a:buNone/>
                      </a:pPr>
                      <a:r>
                        <a:rPr lang="en-US" sz="1400" b="1" u="none" strike="noStrike" dirty="0">
                          <a:solidFill>
                            <a:schemeClr val="tx1"/>
                          </a:solidFill>
                          <a:effectLst/>
                          <a:latin typeface="Times New Roman" panose="02020603050405020304" pitchFamily="18" charset="0"/>
                          <a:cs typeface="Times New Roman" panose="02020603050405020304" pitchFamily="18" charset="0"/>
                        </a:rPr>
                        <a:t>R-MCA</a:t>
                      </a:r>
                      <a:endParaRPr lang="en-US" sz="1400" b="1" i="0" u="none" strike="noStrike" dirty="0">
                        <a:solidFill>
                          <a:schemeClr val="tx1"/>
                        </a:solidFill>
                        <a:effectLst/>
                        <a:latin typeface="Times New Roman" panose="02020603050405020304" pitchFamily="18" charset="0"/>
                        <a:ea typeface="MS PGothic" panose="020B0600070205080204" pitchFamily="50" charset="-128"/>
                        <a:cs typeface="Times New Roman" panose="02020603050405020304" pitchFamily="18" charset="0"/>
                      </a:endParaRPr>
                    </a:p>
                  </a:txBody>
                  <a:tcPr marL="9069" marR="9069" marT="9069" marB="0" anchor="ctr"/>
                </a:tc>
                <a:tc>
                  <a:txBody>
                    <a:bodyPr/>
                    <a:lstStyle/>
                    <a:p>
                      <a:pPr algn="ctr" fontAlgn="b">
                        <a:buNone/>
                      </a:pPr>
                      <a:r>
                        <a:rPr lang="en-US" sz="1400" b="1" u="none" strike="noStrike" dirty="0">
                          <a:solidFill>
                            <a:schemeClr val="tx1"/>
                          </a:solidFill>
                          <a:effectLst/>
                          <a:latin typeface="Times New Roman" panose="02020603050405020304" pitchFamily="18" charset="0"/>
                          <a:cs typeface="Times New Roman" panose="02020603050405020304" pitchFamily="18" charset="0"/>
                        </a:rPr>
                        <a:t>L-ICA</a:t>
                      </a:r>
                      <a:endParaRPr lang="en-US" sz="1400" b="1" i="0" u="none" strike="noStrike" dirty="0">
                        <a:solidFill>
                          <a:schemeClr val="tx1"/>
                        </a:solidFill>
                        <a:effectLst/>
                        <a:latin typeface="Times New Roman" panose="02020603050405020304" pitchFamily="18" charset="0"/>
                        <a:ea typeface="MS PGothic" panose="020B0600070205080204" pitchFamily="50" charset="-128"/>
                        <a:cs typeface="Times New Roman" panose="02020603050405020304" pitchFamily="18" charset="0"/>
                      </a:endParaRPr>
                    </a:p>
                  </a:txBody>
                  <a:tcPr marL="9069" marR="9069" marT="9069" marB="0" anchor="ctr"/>
                </a:tc>
                <a:tc>
                  <a:txBody>
                    <a:bodyPr/>
                    <a:lstStyle/>
                    <a:p>
                      <a:pPr algn="ctr" fontAlgn="b">
                        <a:buNone/>
                      </a:pPr>
                      <a:r>
                        <a:rPr lang="en-US" sz="1400" b="1" u="none" strike="noStrike" dirty="0">
                          <a:solidFill>
                            <a:schemeClr val="tx1"/>
                          </a:solidFill>
                          <a:effectLst/>
                          <a:latin typeface="Times New Roman" panose="02020603050405020304" pitchFamily="18" charset="0"/>
                          <a:cs typeface="Times New Roman" panose="02020603050405020304" pitchFamily="18" charset="0"/>
                        </a:rPr>
                        <a:t>L-MCA</a:t>
                      </a:r>
                      <a:endParaRPr lang="en-US" sz="1400" b="1" i="0" u="none" strike="noStrike" dirty="0">
                        <a:solidFill>
                          <a:schemeClr val="tx1"/>
                        </a:solidFill>
                        <a:effectLst/>
                        <a:latin typeface="Times New Roman" panose="02020603050405020304" pitchFamily="18" charset="0"/>
                        <a:ea typeface="MS PGothic" panose="020B0600070205080204" pitchFamily="50" charset="-128"/>
                        <a:cs typeface="Times New Roman" panose="02020603050405020304" pitchFamily="18" charset="0"/>
                      </a:endParaRPr>
                    </a:p>
                  </a:txBody>
                  <a:tcPr marL="9069" marR="9069" marT="9069" marB="0" anchor="ctr"/>
                </a:tc>
                <a:tc>
                  <a:txBody>
                    <a:bodyPr/>
                    <a:lstStyle/>
                    <a:p>
                      <a:pPr algn="ctr" fontAlgn="b">
                        <a:buNone/>
                      </a:pPr>
                      <a:r>
                        <a:rPr lang="en-US" sz="1400" b="1" u="none" strike="noStrike">
                          <a:solidFill>
                            <a:schemeClr val="tx1"/>
                          </a:solidFill>
                          <a:effectLst/>
                          <a:latin typeface="Times New Roman" panose="02020603050405020304" pitchFamily="18" charset="0"/>
                          <a:cs typeface="Times New Roman" panose="02020603050405020304" pitchFamily="18" charset="0"/>
                        </a:rPr>
                        <a:t>R-Pcom</a:t>
                      </a:r>
                      <a:endParaRPr lang="en-US" sz="1400" b="1" i="0" u="none" strike="noStrike">
                        <a:solidFill>
                          <a:schemeClr val="tx1"/>
                        </a:solidFill>
                        <a:effectLst/>
                        <a:latin typeface="Times New Roman" panose="02020603050405020304" pitchFamily="18" charset="0"/>
                        <a:ea typeface="MS PGothic" panose="020B0600070205080204" pitchFamily="50" charset="-128"/>
                        <a:cs typeface="Times New Roman" panose="02020603050405020304" pitchFamily="18" charset="0"/>
                      </a:endParaRPr>
                    </a:p>
                  </a:txBody>
                  <a:tcPr marL="9069" marR="9069" marT="9069" marB="0" anchor="ctr"/>
                </a:tc>
                <a:tc>
                  <a:txBody>
                    <a:bodyPr/>
                    <a:lstStyle/>
                    <a:p>
                      <a:pPr algn="ctr" fontAlgn="b">
                        <a:buNone/>
                      </a:pPr>
                      <a:r>
                        <a:rPr lang="en-US" sz="1400" b="1" u="none" strike="noStrike">
                          <a:solidFill>
                            <a:schemeClr val="tx1"/>
                          </a:solidFill>
                          <a:effectLst/>
                          <a:latin typeface="Times New Roman" panose="02020603050405020304" pitchFamily="18" charset="0"/>
                          <a:cs typeface="Times New Roman" panose="02020603050405020304" pitchFamily="18" charset="0"/>
                        </a:rPr>
                        <a:t>L-Pcom</a:t>
                      </a:r>
                      <a:endParaRPr lang="en-US" sz="1400" b="1" i="0" u="none" strike="noStrike">
                        <a:solidFill>
                          <a:schemeClr val="tx1"/>
                        </a:solidFill>
                        <a:effectLst/>
                        <a:latin typeface="Times New Roman" panose="02020603050405020304" pitchFamily="18" charset="0"/>
                        <a:ea typeface="MS PGothic" panose="020B0600070205080204" pitchFamily="50" charset="-128"/>
                        <a:cs typeface="Times New Roman" panose="02020603050405020304" pitchFamily="18" charset="0"/>
                      </a:endParaRPr>
                    </a:p>
                  </a:txBody>
                  <a:tcPr marL="9069" marR="9069" marT="9069" marB="0" anchor="ctr"/>
                </a:tc>
                <a:tc>
                  <a:txBody>
                    <a:bodyPr/>
                    <a:lstStyle/>
                    <a:p>
                      <a:pPr algn="ctr" fontAlgn="b">
                        <a:buNone/>
                      </a:pPr>
                      <a:r>
                        <a:rPr lang="en-US" sz="1400" b="1" u="none" strike="noStrike">
                          <a:solidFill>
                            <a:schemeClr val="tx1"/>
                          </a:solidFill>
                          <a:effectLst/>
                          <a:latin typeface="Times New Roman" panose="02020603050405020304" pitchFamily="18" charset="0"/>
                          <a:cs typeface="Times New Roman" panose="02020603050405020304" pitchFamily="18" charset="0"/>
                        </a:rPr>
                        <a:t>Acom</a:t>
                      </a:r>
                      <a:endParaRPr lang="en-US" sz="1400" b="1" i="0" u="none" strike="noStrike">
                        <a:solidFill>
                          <a:schemeClr val="tx1"/>
                        </a:solidFill>
                        <a:effectLst/>
                        <a:latin typeface="Times New Roman" panose="02020603050405020304" pitchFamily="18" charset="0"/>
                        <a:ea typeface="MS PGothic" panose="020B0600070205080204" pitchFamily="50" charset="-128"/>
                        <a:cs typeface="Times New Roman" panose="02020603050405020304" pitchFamily="18" charset="0"/>
                      </a:endParaRPr>
                    </a:p>
                  </a:txBody>
                  <a:tcPr marL="9069" marR="9069" marT="9069" marB="0" anchor="ctr"/>
                </a:tc>
                <a:tc>
                  <a:txBody>
                    <a:bodyPr/>
                    <a:lstStyle/>
                    <a:p>
                      <a:pPr algn="ctr" fontAlgn="b">
                        <a:buNone/>
                      </a:pPr>
                      <a:r>
                        <a:rPr lang="en-US" sz="1400" b="1" u="none" strike="noStrike">
                          <a:solidFill>
                            <a:schemeClr val="tx1"/>
                          </a:solidFill>
                          <a:effectLst/>
                          <a:latin typeface="Times New Roman" panose="02020603050405020304" pitchFamily="18" charset="0"/>
                          <a:cs typeface="Times New Roman" panose="02020603050405020304" pitchFamily="18" charset="0"/>
                        </a:rPr>
                        <a:t>R-ACA</a:t>
                      </a:r>
                      <a:endParaRPr lang="en-US" sz="1400" b="1" i="0" u="none" strike="noStrike">
                        <a:solidFill>
                          <a:schemeClr val="tx1"/>
                        </a:solidFill>
                        <a:effectLst/>
                        <a:latin typeface="Times New Roman" panose="02020603050405020304" pitchFamily="18" charset="0"/>
                        <a:ea typeface="MS PGothic" panose="020B0600070205080204" pitchFamily="50" charset="-128"/>
                        <a:cs typeface="Times New Roman" panose="02020603050405020304" pitchFamily="18" charset="0"/>
                      </a:endParaRPr>
                    </a:p>
                  </a:txBody>
                  <a:tcPr marL="9069" marR="9069" marT="9069" marB="0" anchor="ctr"/>
                </a:tc>
                <a:tc>
                  <a:txBody>
                    <a:bodyPr/>
                    <a:lstStyle/>
                    <a:p>
                      <a:pPr algn="ctr" fontAlgn="b">
                        <a:buNone/>
                      </a:pPr>
                      <a:r>
                        <a:rPr lang="en-US" sz="1400" b="1" u="none" strike="noStrike">
                          <a:solidFill>
                            <a:schemeClr val="tx1"/>
                          </a:solidFill>
                          <a:effectLst/>
                          <a:latin typeface="Times New Roman" panose="02020603050405020304" pitchFamily="18" charset="0"/>
                          <a:cs typeface="Times New Roman" panose="02020603050405020304" pitchFamily="18" charset="0"/>
                        </a:rPr>
                        <a:t>L-ACA</a:t>
                      </a:r>
                      <a:endParaRPr lang="en-US" sz="1400" b="1" i="0" u="none" strike="noStrike">
                        <a:solidFill>
                          <a:schemeClr val="tx1"/>
                        </a:solidFill>
                        <a:effectLst/>
                        <a:latin typeface="Times New Roman" panose="02020603050405020304" pitchFamily="18" charset="0"/>
                        <a:ea typeface="MS PGothic" panose="020B0600070205080204" pitchFamily="50" charset="-128"/>
                        <a:cs typeface="Times New Roman" panose="02020603050405020304" pitchFamily="18" charset="0"/>
                      </a:endParaRPr>
                    </a:p>
                  </a:txBody>
                  <a:tcPr marL="9069" marR="9069" marT="9069" marB="0" anchor="ctr"/>
                </a:tc>
                <a:extLst>
                  <a:ext uri="{0D108BD9-81ED-4DB2-BD59-A6C34878D82A}">
                    <a16:rowId xmlns:a16="http://schemas.microsoft.com/office/drawing/2014/main" val="893737488"/>
                  </a:ext>
                </a:extLst>
              </a:tr>
              <a:tr h="376373">
                <a:tc>
                  <a:txBody>
                    <a:bodyPr/>
                    <a:lstStyle/>
                    <a:p>
                      <a:pPr algn="ctr" fontAlgn="ctr">
                        <a:buNone/>
                      </a:pPr>
                      <a:r>
                        <a:rPr lang="en-US" altLang="ja-JP" sz="1400" b="1" i="0" u="none" strike="noStrike" dirty="0">
                          <a:solidFill>
                            <a:schemeClr val="tx1"/>
                          </a:solidFill>
                          <a:effectLst/>
                          <a:latin typeface="Times New Roman" panose="02020603050405020304" pitchFamily="18" charset="0"/>
                          <a:ea typeface="MS PGothic" panose="020B0600070205080204" pitchFamily="50" charset="-128"/>
                          <a:cs typeface="Times New Roman" panose="02020603050405020304" pitchFamily="18" charset="0"/>
                        </a:rPr>
                        <a:t>Dice Score (Mean)</a:t>
                      </a:r>
                      <a:endParaRPr lang="ja-JP" altLang="en-US" sz="1400" b="1" i="0" u="none" strike="noStrike" dirty="0">
                        <a:solidFill>
                          <a:schemeClr val="tx1"/>
                        </a:solidFill>
                        <a:effectLst/>
                        <a:latin typeface="Times New Roman" panose="02020603050405020304" pitchFamily="18" charset="0"/>
                        <a:ea typeface="MS PGothic" panose="020B0600070205080204" pitchFamily="50" charset="-128"/>
                        <a:cs typeface="Times New Roman" panose="02020603050405020304" pitchFamily="18" charset="0"/>
                      </a:endParaRPr>
                    </a:p>
                  </a:txBody>
                  <a:tcPr marL="9069" marR="9069" marT="9069" marB="0" anchor="ctr"/>
                </a:tc>
                <a:tc>
                  <a:txBody>
                    <a:bodyPr/>
                    <a:lstStyle/>
                    <a:p>
                      <a:pPr algn="ctr" fontAlgn="ctr">
                        <a:buNone/>
                      </a:pPr>
                      <a:r>
                        <a:rPr lang="en-US" altLang="ja-JP" sz="1400" b="1" u="none" strike="noStrike" dirty="0">
                          <a:solidFill>
                            <a:schemeClr val="accent3"/>
                          </a:solidFill>
                          <a:effectLst/>
                          <a:latin typeface="Times New Roman" panose="02020603050405020304" pitchFamily="18" charset="0"/>
                          <a:cs typeface="Times New Roman" panose="02020603050405020304" pitchFamily="18" charset="0"/>
                        </a:rPr>
                        <a:t>0.926</a:t>
                      </a:r>
                      <a:endParaRPr lang="en-US" altLang="ja-JP" sz="1400" b="1" i="0" u="none" strike="noStrike" dirty="0">
                        <a:solidFill>
                          <a:schemeClr val="accent3"/>
                        </a:solidFill>
                        <a:effectLst/>
                        <a:latin typeface="Times New Roman" panose="02020603050405020304" pitchFamily="18" charset="0"/>
                        <a:ea typeface="MS PGothic" panose="020B0600070205080204" pitchFamily="50" charset="-128"/>
                        <a:cs typeface="Times New Roman" panose="02020603050405020304" pitchFamily="18" charset="0"/>
                      </a:endParaRPr>
                    </a:p>
                  </a:txBody>
                  <a:tcPr marL="9069" marR="9069" marT="9069" marB="0" anchor="b"/>
                </a:tc>
                <a:tc>
                  <a:txBody>
                    <a:bodyPr/>
                    <a:lstStyle/>
                    <a:p>
                      <a:pPr algn="ctr" fontAlgn="ctr">
                        <a:buNone/>
                      </a:pPr>
                      <a:r>
                        <a:rPr lang="en-US" altLang="ja-JP" sz="1400" b="1" u="none" strike="noStrike" dirty="0">
                          <a:solidFill>
                            <a:schemeClr val="tx1"/>
                          </a:solidFill>
                          <a:effectLst/>
                          <a:latin typeface="Times New Roman" panose="02020603050405020304" pitchFamily="18" charset="0"/>
                          <a:cs typeface="Times New Roman" panose="02020603050405020304" pitchFamily="18" charset="0"/>
                        </a:rPr>
                        <a:t>0.880</a:t>
                      </a:r>
                      <a:endParaRPr lang="en-US" altLang="ja-JP" sz="1400" b="1" i="0" u="none" strike="noStrike" dirty="0">
                        <a:solidFill>
                          <a:schemeClr val="tx1"/>
                        </a:solidFill>
                        <a:effectLst/>
                        <a:latin typeface="Times New Roman" panose="02020603050405020304" pitchFamily="18" charset="0"/>
                        <a:ea typeface="MS PGothic" panose="020B0600070205080204" pitchFamily="50" charset="-128"/>
                        <a:cs typeface="Times New Roman" panose="02020603050405020304" pitchFamily="18" charset="0"/>
                      </a:endParaRPr>
                    </a:p>
                  </a:txBody>
                  <a:tcPr marL="9069" marR="9069" marT="9069" marB="0" anchor="b"/>
                </a:tc>
                <a:tc>
                  <a:txBody>
                    <a:bodyPr/>
                    <a:lstStyle/>
                    <a:p>
                      <a:pPr algn="ctr" fontAlgn="ctr">
                        <a:buNone/>
                      </a:pPr>
                      <a:r>
                        <a:rPr lang="en-US" altLang="ja-JP" sz="1400" b="1" u="none" strike="noStrike">
                          <a:solidFill>
                            <a:schemeClr val="tx1"/>
                          </a:solidFill>
                          <a:effectLst/>
                          <a:latin typeface="Times New Roman" panose="02020603050405020304" pitchFamily="18" charset="0"/>
                          <a:cs typeface="Times New Roman" panose="02020603050405020304" pitchFamily="18" charset="0"/>
                        </a:rPr>
                        <a:t>0.871</a:t>
                      </a:r>
                      <a:endParaRPr lang="en-US" altLang="ja-JP" sz="1400" b="1" i="0" u="none" strike="noStrike">
                        <a:solidFill>
                          <a:schemeClr val="tx1"/>
                        </a:solidFill>
                        <a:effectLst/>
                        <a:latin typeface="Times New Roman" panose="02020603050405020304" pitchFamily="18" charset="0"/>
                        <a:ea typeface="MS PGothic" panose="020B0600070205080204" pitchFamily="50" charset="-128"/>
                        <a:cs typeface="Times New Roman" panose="02020603050405020304" pitchFamily="18" charset="0"/>
                      </a:endParaRPr>
                    </a:p>
                  </a:txBody>
                  <a:tcPr marL="9069" marR="9069" marT="9069" marB="0" anchor="b"/>
                </a:tc>
                <a:tc>
                  <a:txBody>
                    <a:bodyPr/>
                    <a:lstStyle/>
                    <a:p>
                      <a:pPr algn="ctr" fontAlgn="ctr">
                        <a:buNone/>
                      </a:pPr>
                      <a:r>
                        <a:rPr lang="en-US" altLang="ja-JP" sz="1400" b="1" u="none" strike="noStrike" dirty="0">
                          <a:solidFill>
                            <a:schemeClr val="tx1"/>
                          </a:solidFill>
                          <a:effectLst/>
                          <a:latin typeface="Times New Roman" panose="02020603050405020304" pitchFamily="18" charset="0"/>
                          <a:cs typeface="Times New Roman" panose="02020603050405020304" pitchFamily="18" charset="0"/>
                        </a:rPr>
                        <a:t>0.873</a:t>
                      </a:r>
                      <a:endParaRPr lang="en-US" altLang="ja-JP" sz="1400" b="1" i="0" u="none" strike="noStrike" dirty="0">
                        <a:solidFill>
                          <a:schemeClr val="tx1"/>
                        </a:solidFill>
                        <a:effectLst/>
                        <a:latin typeface="Times New Roman" panose="02020603050405020304" pitchFamily="18" charset="0"/>
                        <a:ea typeface="MS PGothic" panose="020B0600070205080204" pitchFamily="50" charset="-128"/>
                        <a:cs typeface="Times New Roman" panose="02020603050405020304" pitchFamily="18" charset="0"/>
                      </a:endParaRPr>
                    </a:p>
                  </a:txBody>
                  <a:tcPr marL="9069" marR="9069" marT="9069" marB="0" anchor="b"/>
                </a:tc>
                <a:tc>
                  <a:txBody>
                    <a:bodyPr/>
                    <a:lstStyle/>
                    <a:p>
                      <a:pPr algn="ctr" fontAlgn="ctr">
                        <a:buNone/>
                      </a:pPr>
                      <a:r>
                        <a:rPr lang="en-US" altLang="ja-JP" sz="1400" b="1" u="none" strike="noStrike" dirty="0">
                          <a:solidFill>
                            <a:schemeClr val="tx1"/>
                          </a:solidFill>
                          <a:effectLst/>
                          <a:latin typeface="Times New Roman" panose="02020603050405020304" pitchFamily="18" charset="0"/>
                          <a:cs typeface="Times New Roman" panose="02020603050405020304" pitchFamily="18" charset="0"/>
                        </a:rPr>
                        <a:t>0.940</a:t>
                      </a:r>
                      <a:endParaRPr lang="en-US" altLang="ja-JP" sz="1400" b="1" i="0" u="none" strike="noStrike" dirty="0">
                        <a:solidFill>
                          <a:schemeClr val="tx1"/>
                        </a:solidFill>
                        <a:effectLst/>
                        <a:latin typeface="Times New Roman" panose="02020603050405020304" pitchFamily="18" charset="0"/>
                        <a:ea typeface="MS PGothic" panose="020B0600070205080204" pitchFamily="50" charset="-128"/>
                        <a:cs typeface="Times New Roman" panose="02020603050405020304" pitchFamily="18" charset="0"/>
                      </a:endParaRPr>
                    </a:p>
                  </a:txBody>
                  <a:tcPr marL="9069" marR="9069" marT="9069" marB="0" anchor="b"/>
                </a:tc>
                <a:tc>
                  <a:txBody>
                    <a:bodyPr/>
                    <a:lstStyle/>
                    <a:p>
                      <a:pPr algn="ctr" fontAlgn="ctr">
                        <a:buNone/>
                      </a:pPr>
                      <a:r>
                        <a:rPr lang="en-US" altLang="ja-JP" sz="1400" b="1" u="none" strike="noStrike" dirty="0">
                          <a:solidFill>
                            <a:schemeClr val="tx1"/>
                          </a:solidFill>
                          <a:effectLst/>
                          <a:latin typeface="Times New Roman" panose="02020603050405020304" pitchFamily="18" charset="0"/>
                          <a:cs typeface="Times New Roman" panose="02020603050405020304" pitchFamily="18" charset="0"/>
                        </a:rPr>
                        <a:t>0.763</a:t>
                      </a:r>
                      <a:endParaRPr lang="en-US" altLang="ja-JP" sz="1400" b="1" i="0" u="none" strike="noStrike" dirty="0">
                        <a:solidFill>
                          <a:schemeClr val="tx1"/>
                        </a:solidFill>
                        <a:effectLst/>
                        <a:latin typeface="Times New Roman" panose="02020603050405020304" pitchFamily="18" charset="0"/>
                        <a:ea typeface="MS PGothic" panose="020B0600070205080204" pitchFamily="50" charset="-128"/>
                        <a:cs typeface="Times New Roman" panose="02020603050405020304" pitchFamily="18" charset="0"/>
                      </a:endParaRPr>
                    </a:p>
                  </a:txBody>
                  <a:tcPr marL="9069" marR="9069" marT="9069" marB="0" anchor="b"/>
                </a:tc>
                <a:tc>
                  <a:txBody>
                    <a:bodyPr/>
                    <a:lstStyle/>
                    <a:p>
                      <a:pPr algn="ctr" fontAlgn="ctr">
                        <a:buNone/>
                      </a:pPr>
                      <a:r>
                        <a:rPr lang="en-US" altLang="ja-JP" sz="1400" b="1" u="none" strike="noStrike" dirty="0">
                          <a:solidFill>
                            <a:schemeClr val="tx1"/>
                          </a:solidFill>
                          <a:effectLst/>
                          <a:latin typeface="Times New Roman" panose="02020603050405020304" pitchFamily="18" charset="0"/>
                          <a:cs typeface="Times New Roman" panose="02020603050405020304" pitchFamily="18" charset="0"/>
                        </a:rPr>
                        <a:t>0.933</a:t>
                      </a:r>
                      <a:endParaRPr lang="en-US" altLang="ja-JP" sz="1400" b="1" i="0" u="none" strike="noStrike" dirty="0">
                        <a:solidFill>
                          <a:schemeClr val="tx1"/>
                        </a:solidFill>
                        <a:effectLst/>
                        <a:latin typeface="Times New Roman" panose="02020603050405020304" pitchFamily="18" charset="0"/>
                        <a:ea typeface="MS PGothic" panose="020B0600070205080204" pitchFamily="50" charset="-128"/>
                        <a:cs typeface="Times New Roman" panose="02020603050405020304" pitchFamily="18" charset="0"/>
                      </a:endParaRPr>
                    </a:p>
                  </a:txBody>
                  <a:tcPr marL="9069" marR="9069" marT="9069" marB="0" anchor="b"/>
                </a:tc>
                <a:tc>
                  <a:txBody>
                    <a:bodyPr/>
                    <a:lstStyle/>
                    <a:p>
                      <a:pPr algn="ctr" fontAlgn="ctr">
                        <a:buNone/>
                      </a:pPr>
                      <a:r>
                        <a:rPr lang="en-US" altLang="ja-JP" sz="1400" b="1" u="none" strike="noStrike" dirty="0">
                          <a:solidFill>
                            <a:schemeClr val="tx1"/>
                          </a:solidFill>
                          <a:effectLst/>
                          <a:latin typeface="Times New Roman" panose="02020603050405020304" pitchFamily="18" charset="0"/>
                          <a:cs typeface="Times New Roman" panose="02020603050405020304" pitchFamily="18" charset="0"/>
                        </a:rPr>
                        <a:t>0.811</a:t>
                      </a:r>
                      <a:endParaRPr lang="en-US" altLang="ja-JP" sz="1400" b="1" i="0" u="none" strike="noStrike" dirty="0">
                        <a:solidFill>
                          <a:schemeClr val="tx1"/>
                        </a:solidFill>
                        <a:effectLst/>
                        <a:latin typeface="Times New Roman" panose="02020603050405020304" pitchFamily="18" charset="0"/>
                        <a:ea typeface="MS PGothic" panose="020B0600070205080204" pitchFamily="50" charset="-128"/>
                        <a:cs typeface="Times New Roman" panose="02020603050405020304" pitchFamily="18" charset="0"/>
                      </a:endParaRPr>
                    </a:p>
                  </a:txBody>
                  <a:tcPr marL="9069" marR="9069" marT="9069" marB="0" anchor="b"/>
                </a:tc>
                <a:tc>
                  <a:txBody>
                    <a:bodyPr/>
                    <a:lstStyle/>
                    <a:p>
                      <a:pPr algn="ctr" fontAlgn="ctr">
                        <a:buNone/>
                      </a:pPr>
                      <a:r>
                        <a:rPr lang="en-US" altLang="ja-JP" sz="1400" b="1" u="none" strike="noStrike" dirty="0">
                          <a:solidFill>
                            <a:schemeClr val="tx1"/>
                          </a:solidFill>
                          <a:effectLst/>
                          <a:latin typeface="Times New Roman" panose="02020603050405020304" pitchFamily="18" charset="0"/>
                          <a:cs typeface="Times New Roman" panose="02020603050405020304" pitchFamily="18" charset="0"/>
                        </a:rPr>
                        <a:t>0.733</a:t>
                      </a:r>
                      <a:endParaRPr lang="en-US" altLang="ja-JP" sz="1400" b="1" i="0" u="none" strike="noStrike" dirty="0">
                        <a:solidFill>
                          <a:schemeClr val="tx1"/>
                        </a:solidFill>
                        <a:effectLst/>
                        <a:latin typeface="Times New Roman" panose="02020603050405020304" pitchFamily="18" charset="0"/>
                        <a:ea typeface="MS PGothic" panose="020B0600070205080204" pitchFamily="50" charset="-128"/>
                        <a:cs typeface="Times New Roman" panose="02020603050405020304" pitchFamily="18" charset="0"/>
                      </a:endParaRPr>
                    </a:p>
                  </a:txBody>
                  <a:tcPr marL="9069" marR="9069" marT="9069" marB="0" anchor="b"/>
                </a:tc>
                <a:tc>
                  <a:txBody>
                    <a:bodyPr/>
                    <a:lstStyle/>
                    <a:p>
                      <a:pPr algn="ctr" fontAlgn="ctr">
                        <a:buNone/>
                      </a:pPr>
                      <a:r>
                        <a:rPr lang="en-US" altLang="ja-JP" sz="1400" b="1" u="none" strike="noStrike" dirty="0">
                          <a:solidFill>
                            <a:schemeClr val="tx1"/>
                          </a:solidFill>
                          <a:effectLst/>
                          <a:latin typeface="Times New Roman" panose="02020603050405020304" pitchFamily="18" charset="0"/>
                          <a:cs typeface="Times New Roman" panose="02020603050405020304" pitchFamily="18" charset="0"/>
                        </a:rPr>
                        <a:t>0.872</a:t>
                      </a:r>
                      <a:endParaRPr lang="en-US" altLang="ja-JP" sz="1400" b="1" i="0" u="none" strike="noStrike" dirty="0">
                        <a:solidFill>
                          <a:schemeClr val="tx1"/>
                        </a:solidFill>
                        <a:effectLst/>
                        <a:latin typeface="Times New Roman" panose="02020603050405020304" pitchFamily="18" charset="0"/>
                        <a:ea typeface="MS PGothic" panose="020B0600070205080204" pitchFamily="50" charset="-128"/>
                        <a:cs typeface="Times New Roman" panose="02020603050405020304" pitchFamily="18" charset="0"/>
                      </a:endParaRPr>
                    </a:p>
                  </a:txBody>
                  <a:tcPr marL="9069" marR="9069" marT="9069" marB="0" anchor="b"/>
                </a:tc>
                <a:tc>
                  <a:txBody>
                    <a:bodyPr/>
                    <a:lstStyle/>
                    <a:p>
                      <a:pPr algn="ctr" fontAlgn="ctr">
                        <a:buNone/>
                      </a:pPr>
                      <a:r>
                        <a:rPr lang="en-US" altLang="ja-JP" sz="1400" b="1" u="none" strike="noStrike" dirty="0">
                          <a:solidFill>
                            <a:schemeClr val="tx1"/>
                          </a:solidFill>
                          <a:effectLst/>
                          <a:latin typeface="Times New Roman" panose="02020603050405020304" pitchFamily="18" charset="0"/>
                          <a:cs typeface="Times New Roman" panose="02020603050405020304" pitchFamily="18" charset="0"/>
                        </a:rPr>
                        <a:t>0.673</a:t>
                      </a:r>
                      <a:endParaRPr lang="en-US" altLang="ja-JP" sz="1400" b="1" i="0" u="none" strike="noStrike" dirty="0">
                        <a:solidFill>
                          <a:schemeClr val="tx1"/>
                        </a:solidFill>
                        <a:effectLst/>
                        <a:latin typeface="Times New Roman" panose="02020603050405020304" pitchFamily="18" charset="0"/>
                        <a:ea typeface="MS PGothic" panose="020B0600070205080204" pitchFamily="50" charset="-128"/>
                        <a:cs typeface="Times New Roman" panose="02020603050405020304" pitchFamily="18" charset="0"/>
                      </a:endParaRPr>
                    </a:p>
                  </a:txBody>
                  <a:tcPr marL="9069" marR="9069" marT="9069" marB="0" anchor="b"/>
                </a:tc>
                <a:tc>
                  <a:txBody>
                    <a:bodyPr/>
                    <a:lstStyle/>
                    <a:p>
                      <a:pPr algn="ctr" fontAlgn="ctr">
                        <a:buNone/>
                      </a:pPr>
                      <a:r>
                        <a:rPr lang="en-US" altLang="ja-JP" sz="1400" b="1" u="none" strike="noStrike" dirty="0">
                          <a:solidFill>
                            <a:schemeClr val="tx1"/>
                          </a:solidFill>
                          <a:effectLst/>
                          <a:latin typeface="Times New Roman" panose="02020603050405020304" pitchFamily="18" charset="0"/>
                          <a:cs typeface="Times New Roman" panose="02020603050405020304" pitchFamily="18" charset="0"/>
                        </a:rPr>
                        <a:t>0.764</a:t>
                      </a:r>
                      <a:endParaRPr lang="en-US" altLang="ja-JP" sz="1400" b="1" i="0" u="none" strike="noStrike" dirty="0">
                        <a:solidFill>
                          <a:schemeClr val="tx1"/>
                        </a:solidFill>
                        <a:effectLst/>
                        <a:latin typeface="Times New Roman" panose="02020603050405020304" pitchFamily="18" charset="0"/>
                        <a:ea typeface="MS PGothic" panose="020B0600070205080204" pitchFamily="50" charset="-128"/>
                        <a:cs typeface="Times New Roman" panose="02020603050405020304" pitchFamily="18" charset="0"/>
                      </a:endParaRPr>
                    </a:p>
                  </a:txBody>
                  <a:tcPr marL="9069" marR="9069" marT="9069" marB="0" anchor="b"/>
                </a:tc>
                <a:tc>
                  <a:txBody>
                    <a:bodyPr/>
                    <a:lstStyle/>
                    <a:p>
                      <a:pPr algn="ctr" fontAlgn="ctr">
                        <a:buNone/>
                      </a:pPr>
                      <a:r>
                        <a:rPr lang="en-US" altLang="ja-JP" sz="1400" b="1" u="none" strike="noStrike" dirty="0">
                          <a:solidFill>
                            <a:schemeClr val="tx1"/>
                          </a:solidFill>
                          <a:effectLst/>
                          <a:latin typeface="Times New Roman" panose="02020603050405020304" pitchFamily="18" charset="0"/>
                          <a:cs typeface="Times New Roman" panose="02020603050405020304" pitchFamily="18" charset="0"/>
                        </a:rPr>
                        <a:t>0.766</a:t>
                      </a:r>
                      <a:endParaRPr lang="en-US" altLang="ja-JP" sz="1400" b="1" i="0" u="none" strike="noStrike" dirty="0">
                        <a:solidFill>
                          <a:schemeClr val="tx1"/>
                        </a:solidFill>
                        <a:effectLst/>
                        <a:latin typeface="Times New Roman" panose="02020603050405020304" pitchFamily="18" charset="0"/>
                        <a:ea typeface="MS PGothic" panose="020B0600070205080204" pitchFamily="50" charset="-128"/>
                        <a:cs typeface="Times New Roman" panose="02020603050405020304" pitchFamily="18" charset="0"/>
                      </a:endParaRPr>
                    </a:p>
                  </a:txBody>
                  <a:tcPr marL="9069" marR="9069" marT="9069" marB="0" anchor="b"/>
                </a:tc>
                <a:extLst>
                  <a:ext uri="{0D108BD9-81ED-4DB2-BD59-A6C34878D82A}">
                    <a16:rowId xmlns:a16="http://schemas.microsoft.com/office/drawing/2014/main" val="74158214"/>
                  </a:ext>
                </a:extLst>
              </a:tr>
            </a:tbl>
          </a:graphicData>
        </a:graphic>
      </p:graphicFrame>
      <p:sp>
        <p:nvSpPr>
          <p:cNvPr id="47" name="文本框 46">
            <a:extLst>
              <a:ext uri="{FF2B5EF4-FFF2-40B4-BE49-F238E27FC236}">
                <a16:creationId xmlns:a16="http://schemas.microsoft.com/office/drawing/2014/main" id="{611FBAA9-F70F-202E-2AEF-2CE8DCF13B49}"/>
              </a:ext>
            </a:extLst>
          </p:cNvPr>
          <p:cNvSpPr txBox="1"/>
          <p:nvPr/>
        </p:nvSpPr>
        <p:spPr>
          <a:xfrm>
            <a:off x="2744762" y="5139341"/>
            <a:ext cx="6848350" cy="261610"/>
          </a:xfrm>
          <a:prstGeom prst="rect">
            <a:avLst/>
          </a:prstGeom>
          <a:noFill/>
        </p:spPr>
        <p:txBody>
          <a:bodyPr wrap="none" rtlCol="0">
            <a:spAutoFit/>
          </a:bodyPr>
          <a:lstStyle/>
          <a:p>
            <a:r>
              <a:rPr lang="en-US" sz="1100" b="1" dirty="0">
                <a:latin typeface="+mj-ea"/>
                <a:ea typeface="+mj-ea"/>
              </a:rPr>
              <a:t>Tab.1</a:t>
            </a:r>
            <a:r>
              <a:rPr lang="ja-JP" altLang="en-US" sz="1100" b="1" dirty="0">
                <a:latin typeface="+mj-ea"/>
                <a:ea typeface="+mj-ea"/>
              </a:rPr>
              <a:t> 自動セグメンテーション深層学習モデルが</a:t>
            </a:r>
            <a:r>
              <a:rPr lang="en-US" altLang="ja-JP" sz="1100" b="1" dirty="0" err="1">
                <a:latin typeface="+mj-ea"/>
                <a:ea typeface="+mj-ea"/>
              </a:rPr>
              <a:t>TopCoW</a:t>
            </a:r>
            <a:r>
              <a:rPr lang="ja-JP" altLang="en-US" sz="1100" b="1" dirty="0">
                <a:latin typeface="+mj-ea"/>
                <a:ea typeface="+mj-ea"/>
              </a:rPr>
              <a:t>テストデータにおける</a:t>
            </a:r>
            <a:r>
              <a:rPr lang="en-US" altLang="ja-JP" sz="1100" b="1" dirty="0">
                <a:latin typeface="+mj-ea"/>
                <a:ea typeface="+mj-ea"/>
              </a:rPr>
              <a:t>Dice Score</a:t>
            </a:r>
            <a:r>
              <a:rPr lang="ja-JP" altLang="en-US" sz="1100" b="1" dirty="0">
                <a:latin typeface="+mj-ea"/>
                <a:ea typeface="+mj-ea"/>
              </a:rPr>
              <a:t>（</a:t>
            </a:r>
            <a:r>
              <a:rPr lang="en-US" altLang="ja-JP" sz="1100" b="1" dirty="0">
                <a:latin typeface="+mj-ea"/>
                <a:ea typeface="+mj-ea"/>
              </a:rPr>
              <a:t>N=10</a:t>
            </a:r>
            <a:r>
              <a:rPr lang="ja-JP" altLang="en-US" sz="1100" b="1" dirty="0">
                <a:latin typeface="+mj-ea"/>
                <a:ea typeface="+mj-ea"/>
              </a:rPr>
              <a:t>）</a:t>
            </a:r>
            <a:endParaRPr lang="en-US" sz="1100" b="1" dirty="0">
              <a:latin typeface="+mj-ea"/>
              <a:ea typeface="+mj-ea"/>
            </a:endParaRPr>
          </a:p>
        </p:txBody>
      </p:sp>
      <p:sp>
        <p:nvSpPr>
          <p:cNvPr id="8" name="文本框 7">
            <a:extLst>
              <a:ext uri="{FF2B5EF4-FFF2-40B4-BE49-F238E27FC236}">
                <a16:creationId xmlns:a16="http://schemas.microsoft.com/office/drawing/2014/main" id="{F9AD243F-F49C-2E0D-EC69-9A3E3D2F517F}"/>
              </a:ext>
            </a:extLst>
          </p:cNvPr>
          <p:cNvSpPr txBox="1"/>
          <p:nvPr/>
        </p:nvSpPr>
        <p:spPr>
          <a:xfrm>
            <a:off x="4096665" y="4787578"/>
            <a:ext cx="3195105" cy="261610"/>
          </a:xfrm>
          <a:prstGeom prst="rect">
            <a:avLst/>
          </a:prstGeom>
          <a:noFill/>
        </p:spPr>
        <p:txBody>
          <a:bodyPr wrap="none" rtlCol="0">
            <a:spAutoFit/>
          </a:bodyPr>
          <a:lstStyle/>
          <a:p>
            <a:r>
              <a:rPr lang="en-US" altLang="ja-JP" sz="1100" b="1" dirty="0">
                <a:latin typeface="+mj-ea"/>
                <a:ea typeface="+mj-ea"/>
              </a:rPr>
              <a:t>Fig.5 </a:t>
            </a:r>
            <a:r>
              <a:rPr lang="ja-JP" altLang="en-US" sz="1100" b="1" dirty="0">
                <a:latin typeface="+mj-ea"/>
                <a:ea typeface="+mj-ea"/>
              </a:rPr>
              <a:t>脳動脈血管（</a:t>
            </a:r>
            <a:r>
              <a:rPr lang="en-US" altLang="ja-JP" sz="1100" b="1" dirty="0" err="1">
                <a:latin typeface="+mj-ea"/>
                <a:ea typeface="+mj-ea"/>
              </a:rPr>
              <a:t>CoW</a:t>
            </a:r>
            <a:r>
              <a:rPr lang="ja-JP" altLang="en-US" sz="1100" b="1" dirty="0">
                <a:latin typeface="+mj-ea"/>
                <a:ea typeface="+mj-ea"/>
              </a:rPr>
              <a:t>）セグメンテーション</a:t>
            </a:r>
            <a:endParaRPr lang="en-US" sz="1100" b="1" dirty="0">
              <a:latin typeface="+mj-ea"/>
              <a:ea typeface="+mj-ea"/>
            </a:endParaRPr>
          </a:p>
        </p:txBody>
      </p:sp>
      <p:grpSp>
        <p:nvGrpSpPr>
          <p:cNvPr id="12" name="Group 11">
            <a:extLst>
              <a:ext uri="{FF2B5EF4-FFF2-40B4-BE49-F238E27FC236}">
                <a16:creationId xmlns:a16="http://schemas.microsoft.com/office/drawing/2014/main" id="{3CD19937-9F09-757E-8165-DF303332D077}"/>
              </a:ext>
            </a:extLst>
          </p:cNvPr>
          <p:cNvGrpSpPr/>
          <p:nvPr/>
        </p:nvGrpSpPr>
        <p:grpSpPr>
          <a:xfrm>
            <a:off x="1664988" y="2134677"/>
            <a:ext cx="8402941" cy="2627642"/>
            <a:chOff x="1083097" y="2416502"/>
            <a:chExt cx="8402941" cy="2627642"/>
          </a:xfrm>
        </p:grpSpPr>
        <p:pic>
          <p:nvPicPr>
            <p:cNvPr id="28" name="图片 27">
              <a:extLst>
                <a:ext uri="{FF2B5EF4-FFF2-40B4-BE49-F238E27FC236}">
                  <a16:creationId xmlns:a16="http://schemas.microsoft.com/office/drawing/2014/main" id="{DB430E02-E949-FFED-D21E-52F4C742570B}"/>
                </a:ext>
              </a:extLst>
            </p:cNvPr>
            <p:cNvPicPr>
              <a:picLocks noChangeAspect="1"/>
            </p:cNvPicPr>
            <p:nvPr/>
          </p:nvPicPr>
          <p:blipFill>
            <a:blip r:embed="rId4"/>
            <a:stretch>
              <a:fillRect/>
            </a:stretch>
          </p:blipFill>
          <p:spPr>
            <a:xfrm>
              <a:off x="1083097" y="2416502"/>
              <a:ext cx="2604465" cy="2627642"/>
            </a:xfrm>
            <a:prstGeom prst="rect">
              <a:avLst/>
            </a:prstGeom>
          </p:spPr>
        </p:pic>
        <p:pic>
          <p:nvPicPr>
            <p:cNvPr id="29" name="图片 28">
              <a:extLst>
                <a:ext uri="{FF2B5EF4-FFF2-40B4-BE49-F238E27FC236}">
                  <a16:creationId xmlns:a16="http://schemas.microsoft.com/office/drawing/2014/main" id="{62A53949-3019-324B-4CB7-42E856187CC1}"/>
                </a:ext>
              </a:extLst>
            </p:cNvPr>
            <p:cNvPicPr>
              <a:picLocks noChangeAspect="1"/>
            </p:cNvPicPr>
            <p:nvPr/>
          </p:nvPicPr>
          <p:blipFill>
            <a:blip r:embed="rId5"/>
            <a:stretch>
              <a:fillRect/>
            </a:stretch>
          </p:blipFill>
          <p:spPr>
            <a:xfrm>
              <a:off x="5659367" y="2475556"/>
              <a:ext cx="2585923" cy="2568588"/>
            </a:xfrm>
            <a:prstGeom prst="rect">
              <a:avLst/>
            </a:prstGeom>
          </p:spPr>
        </p:pic>
        <p:pic>
          <p:nvPicPr>
            <p:cNvPr id="1026" name="Picture 2" descr="Diagram of an artificial neural network - TeX - LaTeX Stack Exchange">
              <a:extLst>
                <a:ext uri="{FF2B5EF4-FFF2-40B4-BE49-F238E27FC236}">
                  <a16:creationId xmlns:a16="http://schemas.microsoft.com/office/drawing/2014/main" id="{CD9239C4-EB3A-4881-17D3-75F5DC9B9FF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69254" y="3133525"/>
              <a:ext cx="1208421" cy="1049241"/>
            </a:xfrm>
            <a:prstGeom prst="rect">
              <a:avLst/>
            </a:prstGeom>
            <a:noFill/>
            <a:extLst>
              <a:ext uri="{909E8E84-426E-40DD-AFC4-6F175D3DCCD1}">
                <a14:hiddenFill xmlns:a14="http://schemas.microsoft.com/office/drawing/2010/main">
                  <a:solidFill>
                    <a:srgbClr val="FFFFFF"/>
                  </a:solidFill>
                </a14:hiddenFill>
              </a:ext>
            </a:extLst>
          </p:spPr>
        </p:pic>
        <p:sp>
          <p:nvSpPr>
            <p:cNvPr id="44" name="文本框 43">
              <a:extLst>
                <a:ext uri="{FF2B5EF4-FFF2-40B4-BE49-F238E27FC236}">
                  <a16:creationId xmlns:a16="http://schemas.microsoft.com/office/drawing/2014/main" id="{8ED1B893-3E13-2CBE-72BB-9C139E242A87}"/>
                </a:ext>
              </a:extLst>
            </p:cNvPr>
            <p:cNvSpPr txBox="1"/>
            <p:nvPr/>
          </p:nvSpPr>
          <p:spPr>
            <a:xfrm>
              <a:off x="3971389" y="4196532"/>
              <a:ext cx="1486304" cy="261610"/>
            </a:xfrm>
            <a:prstGeom prst="rect">
              <a:avLst/>
            </a:prstGeom>
            <a:noFill/>
          </p:spPr>
          <p:txBody>
            <a:bodyPr wrap="none" rtlCol="0">
              <a:spAutoFit/>
            </a:bodyPr>
            <a:lstStyle/>
            <a:p>
              <a:r>
                <a:rPr lang="en-US" sz="1100" dirty="0"/>
                <a:t>Deep neural network</a:t>
              </a:r>
            </a:p>
          </p:txBody>
        </p:sp>
        <p:sp>
          <p:nvSpPr>
            <p:cNvPr id="45" name="箭头: 右 44">
              <a:extLst>
                <a:ext uri="{FF2B5EF4-FFF2-40B4-BE49-F238E27FC236}">
                  <a16:creationId xmlns:a16="http://schemas.microsoft.com/office/drawing/2014/main" id="{6671F778-9DCB-C2B0-F8B9-7E325A15D07D}"/>
                </a:ext>
              </a:extLst>
            </p:cNvPr>
            <p:cNvSpPr/>
            <p:nvPr/>
          </p:nvSpPr>
          <p:spPr>
            <a:xfrm>
              <a:off x="3699743" y="3558726"/>
              <a:ext cx="243823" cy="198841"/>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46" name="箭头: 右 45">
              <a:extLst>
                <a:ext uri="{FF2B5EF4-FFF2-40B4-BE49-F238E27FC236}">
                  <a16:creationId xmlns:a16="http://schemas.microsoft.com/office/drawing/2014/main" id="{40811B37-9D6C-0C2C-E659-553808FE1C44}"/>
                </a:ext>
              </a:extLst>
            </p:cNvPr>
            <p:cNvSpPr/>
            <p:nvPr/>
          </p:nvSpPr>
          <p:spPr>
            <a:xfrm>
              <a:off x="5327464" y="3558724"/>
              <a:ext cx="243823" cy="198841"/>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9" name="矩形 8">
              <a:extLst>
                <a:ext uri="{FF2B5EF4-FFF2-40B4-BE49-F238E27FC236}">
                  <a16:creationId xmlns:a16="http://schemas.microsoft.com/office/drawing/2014/main" id="{BDA3F155-5461-53C0-CA59-BEE645650760}"/>
                </a:ext>
              </a:extLst>
            </p:cNvPr>
            <p:cNvSpPr/>
            <p:nvPr/>
          </p:nvSpPr>
          <p:spPr>
            <a:xfrm>
              <a:off x="7932302" y="2920312"/>
              <a:ext cx="1553736" cy="34940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t>カラーはラベルを表す</a:t>
              </a:r>
              <a:endParaRPr kumimoji="1" lang="en-US" sz="1050" dirty="0"/>
            </a:p>
          </p:txBody>
        </p:sp>
        <p:sp>
          <p:nvSpPr>
            <p:cNvPr id="10" name="箭头: 右 9">
              <a:extLst>
                <a:ext uri="{FF2B5EF4-FFF2-40B4-BE49-F238E27FC236}">
                  <a16:creationId xmlns:a16="http://schemas.microsoft.com/office/drawing/2014/main" id="{C5976F39-AB58-460D-6425-D8B4D2F767B4}"/>
                </a:ext>
              </a:extLst>
            </p:cNvPr>
            <p:cNvSpPr/>
            <p:nvPr/>
          </p:nvSpPr>
          <p:spPr>
            <a:xfrm rot="10800000">
              <a:off x="7600743" y="2957484"/>
              <a:ext cx="379141" cy="27506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pSp>
      <p:sp>
        <p:nvSpPr>
          <p:cNvPr id="13" name="TextBox 12">
            <a:extLst>
              <a:ext uri="{FF2B5EF4-FFF2-40B4-BE49-F238E27FC236}">
                <a16:creationId xmlns:a16="http://schemas.microsoft.com/office/drawing/2014/main" id="{562F61E6-6912-0BF9-77DC-23D8292ACABD}"/>
              </a:ext>
            </a:extLst>
          </p:cNvPr>
          <p:cNvSpPr txBox="1"/>
          <p:nvPr/>
        </p:nvSpPr>
        <p:spPr>
          <a:xfrm>
            <a:off x="339786" y="6167680"/>
            <a:ext cx="9913291" cy="261610"/>
          </a:xfrm>
          <a:prstGeom prst="rect">
            <a:avLst/>
          </a:prstGeom>
          <a:noFill/>
        </p:spPr>
        <p:txBody>
          <a:bodyPr wrap="none" rtlCol="0">
            <a:spAutoFit/>
          </a:bodyPr>
          <a:lstStyle/>
          <a:p>
            <a:r>
              <a:rPr lang="en-US" sz="1100" dirty="0"/>
              <a:t>Isensee, Fabian, et al. "</a:t>
            </a:r>
            <a:r>
              <a:rPr lang="en-US" sz="1100" dirty="0" err="1"/>
              <a:t>nnU</a:t>
            </a:r>
            <a:r>
              <a:rPr lang="en-US" sz="1100" dirty="0"/>
              <a:t>-Net: a self-configuring method for deep learning-based biomedical image segmentation." </a:t>
            </a:r>
            <a:r>
              <a:rPr lang="en-US" sz="1100" i="1" dirty="0"/>
              <a:t>Nature methods</a:t>
            </a:r>
            <a:r>
              <a:rPr lang="en-US" sz="1100" dirty="0"/>
              <a:t> 18.2 (2021): 203-211.</a:t>
            </a:r>
            <a:endParaRPr lang="en-JP" sz="1100" dirty="0"/>
          </a:p>
        </p:txBody>
      </p:sp>
    </p:spTree>
    <p:extLst>
      <p:ext uri="{BB962C8B-B14F-4D97-AF65-F5344CB8AC3E}">
        <p14:creationId xmlns:p14="http://schemas.microsoft.com/office/powerpoint/2010/main" val="38444867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图片 28">
            <a:extLst>
              <a:ext uri="{FF2B5EF4-FFF2-40B4-BE49-F238E27FC236}">
                <a16:creationId xmlns:a16="http://schemas.microsoft.com/office/drawing/2014/main" id="{79E1B385-FB09-DC18-C13E-8E7005D8E78C}"/>
              </a:ext>
            </a:extLst>
          </p:cNvPr>
          <p:cNvPicPr>
            <a:picLocks noChangeAspect="1"/>
          </p:cNvPicPr>
          <p:nvPr/>
        </p:nvPicPr>
        <p:blipFill>
          <a:blip r:embed="rId3"/>
          <a:srcRect l="51834" t="18637" r="23601" b="56253"/>
          <a:stretch>
            <a:fillRect/>
          </a:stretch>
        </p:blipFill>
        <p:spPr>
          <a:xfrm>
            <a:off x="1085309" y="3768566"/>
            <a:ext cx="1857351" cy="1885768"/>
          </a:xfrm>
          <a:prstGeom prst="rect">
            <a:avLst/>
          </a:prstGeom>
        </p:spPr>
      </p:pic>
      <p:sp>
        <p:nvSpPr>
          <p:cNvPr id="15" name="矩形: 圆角 14">
            <a:extLst>
              <a:ext uri="{FF2B5EF4-FFF2-40B4-BE49-F238E27FC236}">
                <a16:creationId xmlns:a16="http://schemas.microsoft.com/office/drawing/2014/main" id="{00605420-F123-F53F-A49B-667DD9BD0E6C}"/>
              </a:ext>
            </a:extLst>
          </p:cNvPr>
          <p:cNvSpPr/>
          <p:nvPr/>
        </p:nvSpPr>
        <p:spPr>
          <a:xfrm>
            <a:off x="4554932" y="981040"/>
            <a:ext cx="6385932" cy="2018594"/>
          </a:xfrm>
          <a:prstGeom prst="roundRect">
            <a:avLst>
              <a:gd name="adj" fmla="val 4882"/>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 name="标题 1">
            <a:extLst>
              <a:ext uri="{FF2B5EF4-FFF2-40B4-BE49-F238E27FC236}">
                <a16:creationId xmlns:a16="http://schemas.microsoft.com/office/drawing/2014/main" id="{A9C0808F-FD9C-DD5D-97E3-D7D3B926B065}"/>
              </a:ext>
            </a:extLst>
          </p:cNvPr>
          <p:cNvSpPr>
            <a:spLocks noGrp="1"/>
          </p:cNvSpPr>
          <p:nvPr>
            <p:ph type="title"/>
          </p:nvPr>
        </p:nvSpPr>
        <p:spPr/>
        <p:txBody>
          <a:bodyPr/>
          <a:lstStyle/>
          <a:p>
            <a:r>
              <a:rPr lang="ja-JP" altLang="en-US" dirty="0"/>
              <a:t>パラメータ化モデリングデータ</a:t>
            </a:r>
            <a:endParaRPr lang="en-US" dirty="0"/>
          </a:p>
        </p:txBody>
      </p:sp>
      <p:sp>
        <p:nvSpPr>
          <p:cNvPr id="3" name="页脚占位符 2">
            <a:extLst>
              <a:ext uri="{FF2B5EF4-FFF2-40B4-BE49-F238E27FC236}">
                <a16:creationId xmlns:a16="http://schemas.microsoft.com/office/drawing/2014/main" id="{4E730D68-3FEE-55D6-4354-E7C55C8D6455}"/>
              </a:ext>
            </a:extLst>
          </p:cNvPr>
          <p:cNvSpPr>
            <a:spLocks noGrp="1"/>
          </p:cNvSpPr>
          <p:nvPr>
            <p:ph type="ftr" sz="quarter" idx="10"/>
          </p:nvPr>
        </p:nvSpPr>
        <p:spPr/>
        <p:txBody>
          <a:bodyPr/>
          <a:lstStyle/>
          <a:p>
            <a:endParaRPr lang="en-US" dirty="0"/>
          </a:p>
        </p:txBody>
      </p:sp>
      <p:sp>
        <p:nvSpPr>
          <p:cNvPr id="4" name="灯片编号占位符 3">
            <a:extLst>
              <a:ext uri="{FF2B5EF4-FFF2-40B4-BE49-F238E27FC236}">
                <a16:creationId xmlns:a16="http://schemas.microsoft.com/office/drawing/2014/main" id="{97727937-443D-6C3E-9907-379B31E23B86}"/>
              </a:ext>
            </a:extLst>
          </p:cNvPr>
          <p:cNvSpPr>
            <a:spLocks noGrp="1"/>
          </p:cNvSpPr>
          <p:nvPr>
            <p:ph type="sldNum" sz="quarter" idx="11"/>
          </p:nvPr>
        </p:nvSpPr>
        <p:spPr/>
        <p:txBody>
          <a:bodyPr/>
          <a:lstStyle/>
          <a:p>
            <a:fld id="{E2B18E97-1989-4D85-BA90-17B226C62452}" type="slidenum">
              <a:rPr lang="en-US" smtClean="0"/>
              <a:pPr/>
              <a:t>6</a:t>
            </a:fld>
            <a:endParaRPr lang="en-US"/>
          </a:p>
        </p:txBody>
      </p:sp>
      <p:sp>
        <p:nvSpPr>
          <p:cNvPr id="6" name="文本占位符 5">
            <a:extLst>
              <a:ext uri="{FF2B5EF4-FFF2-40B4-BE49-F238E27FC236}">
                <a16:creationId xmlns:a16="http://schemas.microsoft.com/office/drawing/2014/main" id="{1A184757-985D-8BED-8589-1F6E67F712E3}"/>
              </a:ext>
            </a:extLst>
          </p:cNvPr>
          <p:cNvSpPr>
            <a:spLocks noGrp="1"/>
          </p:cNvSpPr>
          <p:nvPr>
            <p:ph type="body" sz="quarter" idx="13"/>
          </p:nvPr>
        </p:nvSpPr>
        <p:spPr/>
        <p:txBody>
          <a:bodyPr/>
          <a:lstStyle/>
          <a:p>
            <a:r>
              <a:rPr lang="en-US" altLang="zh-CN" dirty="0"/>
              <a:t>2025.12.06</a:t>
            </a:r>
            <a:r>
              <a:rPr lang="ja-JP" altLang="en-US" dirty="0"/>
              <a:t>　バイオフロンティア講演会　</a:t>
            </a:r>
            <a:r>
              <a:rPr lang="en-US" altLang="ja-JP" dirty="0"/>
              <a:t>1E12</a:t>
            </a:r>
          </a:p>
        </p:txBody>
      </p:sp>
      <p:sp>
        <p:nvSpPr>
          <p:cNvPr id="7" name="文本占位符 6">
            <a:extLst>
              <a:ext uri="{FF2B5EF4-FFF2-40B4-BE49-F238E27FC236}">
                <a16:creationId xmlns:a16="http://schemas.microsoft.com/office/drawing/2014/main" id="{D2D3CC32-438D-9BF9-86FE-0FDD6E5B9412}"/>
              </a:ext>
            </a:extLst>
          </p:cNvPr>
          <p:cNvSpPr>
            <a:spLocks noGrp="1"/>
          </p:cNvSpPr>
          <p:nvPr>
            <p:ph type="body" sz="quarter" idx="14"/>
          </p:nvPr>
        </p:nvSpPr>
        <p:spPr/>
        <p:txBody>
          <a:bodyPr/>
          <a:lstStyle/>
          <a:p>
            <a:r>
              <a:rPr lang="ja-JP" altLang="en-US" dirty="0"/>
              <a:t>結果</a:t>
            </a:r>
            <a:r>
              <a:rPr lang="en-US" altLang="ja-JP" dirty="0"/>
              <a:t>2/4</a:t>
            </a:r>
            <a:endParaRPr lang="en-US" dirty="0"/>
          </a:p>
        </p:txBody>
      </p:sp>
      <p:sp>
        <p:nvSpPr>
          <p:cNvPr id="9" name="文本框 8">
            <a:extLst>
              <a:ext uri="{FF2B5EF4-FFF2-40B4-BE49-F238E27FC236}">
                <a16:creationId xmlns:a16="http://schemas.microsoft.com/office/drawing/2014/main" id="{4940273F-F13E-2392-FBD2-AF66DA83B352}"/>
              </a:ext>
            </a:extLst>
          </p:cNvPr>
          <p:cNvSpPr txBox="1"/>
          <p:nvPr/>
        </p:nvSpPr>
        <p:spPr>
          <a:xfrm>
            <a:off x="12343808" y="5621"/>
            <a:ext cx="3402014" cy="1384995"/>
          </a:xfrm>
          <a:prstGeom prst="rect">
            <a:avLst/>
          </a:prstGeom>
          <a:noFill/>
        </p:spPr>
        <p:txBody>
          <a:bodyPr wrap="square">
            <a:spAutoFit/>
          </a:bodyPr>
          <a:lstStyle/>
          <a:p>
            <a:pPr algn="just"/>
            <a:r>
              <a:rPr lang="en-US" sz="1200" dirty="0">
                <a:latin typeface="Times New Roman" panose="02020603050405020304" pitchFamily="18" charset="0"/>
                <a:cs typeface="Times New Roman" panose="02020603050405020304" pitchFamily="18" charset="0"/>
              </a:rPr>
              <a:t>Arterial centerlines were extracted from MRA images with an isotropic resolution of 0.62 mm. Following extraction, the centerlines were represented using a 5th-degree spline-fitting procedure. Compared with the raw extractions, this representation introduced a mean reconstruction error of approximately 0.99 mm (SD = 0.317 mm).  </a:t>
            </a:r>
          </a:p>
        </p:txBody>
      </p:sp>
      <p:pic>
        <p:nvPicPr>
          <p:cNvPr id="11" name="图片 10">
            <a:extLst>
              <a:ext uri="{FF2B5EF4-FFF2-40B4-BE49-F238E27FC236}">
                <a16:creationId xmlns:a16="http://schemas.microsoft.com/office/drawing/2014/main" id="{B15E447D-5682-63CA-156A-927A78E0BFF7}"/>
              </a:ext>
            </a:extLst>
          </p:cNvPr>
          <p:cNvPicPr>
            <a:picLocks noChangeAspect="1"/>
          </p:cNvPicPr>
          <p:nvPr/>
        </p:nvPicPr>
        <p:blipFill>
          <a:blip r:embed="rId4"/>
          <a:stretch>
            <a:fillRect/>
          </a:stretch>
        </p:blipFill>
        <p:spPr>
          <a:xfrm>
            <a:off x="-2215244" y="3933627"/>
            <a:ext cx="1967909" cy="1726181"/>
          </a:xfrm>
          <a:prstGeom prst="rect">
            <a:avLst/>
          </a:prstGeom>
          <a:ln>
            <a:solidFill>
              <a:schemeClr val="bg1">
                <a:lumMod val="75000"/>
              </a:schemeClr>
            </a:solidFill>
          </a:ln>
        </p:spPr>
      </p:pic>
      <p:pic>
        <p:nvPicPr>
          <p:cNvPr id="17" name="图片 16">
            <a:extLst>
              <a:ext uri="{FF2B5EF4-FFF2-40B4-BE49-F238E27FC236}">
                <a16:creationId xmlns:a16="http://schemas.microsoft.com/office/drawing/2014/main" id="{0A134202-A035-663F-F4B6-A3BF7B10105E}"/>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4683" b="90829" l="9978" r="89690">
                        <a14:foregroundMark x1="44900" y1="7512" x2="68625" y2="6341"/>
                        <a14:foregroundMark x1="68625" y1="6341" x2="82705" y2="8098"/>
                        <a14:foregroundMark x1="82705" y1="8098" x2="83925" y2="8683"/>
                        <a14:foregroundMark x1="58093" y1="4683" x2="62417" y2="4683"/>
                        <a14:foregroundMark x1="72284" y1="87415" x2="71175" y2="90829"/>
                      </a14:backgroundRemoval>
                    </a14:imgEffect>
                  </a14:imgLayer>
                </a14:imgProps>
              </a:ext>
            </a:extLst>
          </a:blip>
          <a:stretch>
            <a:fillRect/>
          </a:stretch>
        </p:blipFill>
        <p:spPr>
          <a:xfrm>
            <a:off x="8864016" y="3878693"/>
            <a:ext cx="1828429" cy="2077760"/>
          </a:xfrm>
          <a:prstGeom prst="rect">
            <a:avLst/>
          </a:prstGeom>
        </p:spPr>
      </p:pic>
      <p:sp>
        <p:nvSpPr>
          <p:cNvPr id="18" name="文本框 17">
            <a:extLst>
              <a:ext uri="{FF2B5EF4-FFF2-40B4-BE49-F238E27FC236}">
                <a16:creationId xmlns:a16="http://schemas.microsoft.com/office/drawing/2014/main" id="{089E70B4-FE98-21F4-C139-0E2EBFAF82DE}"/>
              </a:ext>
            </a:extLst>
          </p:cNvPr>
          <p:cNvSpPr txBox="1"/>
          <p:nvPr/>
        </p:nvSpPr>
        <p:spPr>
          <a:xfrm>
            <a:off x="5610225" y="7134225"/>
            <a:ext cx="1172116" cy="369332"/>
          </a:xfrm>
          <a:prstGeom prst="rect">
            <a:avLst/>
          </a:prstGeom>
          <a:noFill/>
        </p:spPr>
        <p:txBody>
          <a:bodyPr wrap="none" rtlCol="0">
            <a:spAutoFit/>
          </a:bodyPr>
          <a:lstStyle/>
          <a:p>
            <a:r>
              <a:rPr lang="en-US" dirty="0"/>
              <a:t>Case 80L</a:t>
            </a:r>
          </a:p>
        </p:txBody>
      </p:sp>
      <p:pic>
        <p:nvPicPr>
          <p:cNvPr id="21" name="图片 20">
            <a:extLst>
              <a:ext uri="{FF2B5EF4-FFF2-40B4-BE49-F238E27FC236}">
                <a16:creationId xmlns:a16="http://schemas.microsoft.com/office/drawing/2014/main" id="{99253A24-F2C5-D2E6-8AB3-17024EB0CBA7}"/>
              </a:ext>
            </a:extLst>
          </p:cNvPr>
          <p:cNvPicPr>
            <a:picLocks noChangeAspect="1"/>
          </p:cNvPicPr>
          <p:nvPr/>
        </p:nvPicPr>
        <p:blipFill>
          <a:blip r:embed="rId7"/>
          <a:stretch>
            <a:fillRect/>
          </a:stretch>
        </p:blipFill>
        <p:spPr>
          <a:xfrm>
            <a:off x="5345268" y="3868031"/>
            <a:ext cx="1553551" cy="1857375"/>
          </a:xfrm>
          <a:prstGeom prst="rect">
            <a:avLst/>
          </a:prstGeom>
        </p:spPr>
      </p:pic>
      <p:pic>
        <p:nvPicPr>
          <p:cNvPr id="23" name="图片 22">
            <a:extLst>
              <a:ext uri="{FF2B5EF4-FFF2-40B4-BE49-F238E27FC236}">
                <a16:creationId xmlns:a16="http://schemas.microsoft.com/office/drawing/2014/main" id="{ABE5F677-BB21-5903-11AD-A096183410E7}"/>
              </a:ext>
            </a:extLst>
          </p:cNvPr>
          <p:cNvPicPr>
            <a:picLocks noChangeAspect="1"/>
          </p:cNvPicPr>
          <p:nvPr/>
        </p:nvPicPr>
        <p:blipFill>
          <a:blip r:embed="rId8"/>
          <a:stretch>
            <a:fillRect/>
          </a:stretch>
        </p:blipFill>
        <p:spPr>
          <a:xfrm>
            <a:off x="6849372" y="3868031"/>
            <a:ext cx="1553551" cy="1928619"/>
          </a:xfrm>
          <a:prstGeom prst="rect">
            <a:avLst/>
          </a:prstGeom>
        </p:spPr>
      </p:pic>
      <p:pic>
        <p:nvPicPr>
          <p:cNvPr id="25" name="图片 24">
            <a:extLst>
              <a:ext uri="{FF2B5EF4-FFF2-40B4-BE49-F238E27FC236}">
                <a16:creationId xmlns:a16="http://schemas.microsoft.com/office/drawing/2014/main" id="{45985E06-79FF-D0A3-96F6-384BB91D357B}"/>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7581" b="90524" l="9792" r="89841">
                        <a14:foregroundMark x1="54712" y1="8584" x2="59119" y2="8919"/>
                        <a14:foregroundMark x1="40392" y1="8919" x2="39902" y2="8027"/>
                        <a14:foregroundMark x1="51652" y1="7692" x2="53244" y2="7692"/>
                        <a14:foregroundMark x1="63525" y1="7804" x2="64749" y2="7804"/>
                        <a14:foregroundMark x1="68911" y1="90524" x2="70747" y2="90524"/>
                      </a14:backgroundRemoval>
                    </a14:imgEffect>
                  </a14:imgLayer>
                </a14:imgProps>
              </a:ext>
            </a:extLst>
          </a:blip>
          <a:stretch>
            <a:fillRect/>
          </a:stretch>
        </p:blipFill>
        <p:spPr>
          <a:xfrm>
            <a:off x="3522320" y="3783876"/>
            <a:ext cx="1967909" cy="2160605"/>
          </a:xfrm>
          <a:prstGeom prst="rect">
            <a:avLst/>
          </a:prstGeom>
        </p:spPr>
      </p:pic>
      <p:sp>
        <p:nvSpPr>
          <p:cNvPr id="26" name="椭圆 25">
            <a:extLst>
              <a:ext uri="{FF2B5EF4-FFF2-40B4-BE49-F238E27FC236}">
                <a16:creationId xmlns:a16="http://schemas.microsoft.com/office/drawing/2014/main" id="{24CA415D-7714-ABC4-BB2A-392AF4BC2E2C}"/>
              </a:ext>
            </a:extLst>
          </p:cNvPr>
          <p:cNvSpPr/>
          <p:nvPr/>
        </p:nvSpPr>
        <p:spPr>
          <a:xfrm rot="20590257">
            <a:off x="2163177" y="4161603"/>
            <a:ext cx="762883" cy="1442092"/>
          </a:xfrm>
          <a:prstGeom prst="ellipse">
            <a:avLst/>
          </a:prstGeom>
          <a:noFill/>
          <a:ln w="28575">
            <a:solidFill>
              <a:schemeClr val="accent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7" name="箭头: 右 26">
            <a:extLst>
              <a:ext uri="{FF2B5EF4-FFF2-40B4-BE49-F238E27FC236}">
                <a16:creationId xmlns:a16="http://schemas.microsoft.com/office/drawing/2014/main" id="{CD7B3646-757D-2C80-1351-0025C58427AC}"/>
              </a:ext>
            </a:extLst>
          </p:cNvPr>
          <p:cNvSpPr/>
          <p:nvPr/>
        </p:nvSpPr>
        <p:spPr>
          <a:xfrm>
            <a:off x="3278797" y="4662496"/>
            <a:ext cx="361419" cy="247650"/>
          </a:xfrm>
          <a:prstGeom prst="rightArrow">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8" name="箭头: 右 27">
            <a:extLst>
              <a:ext uri="{FF2B5EF4-FFF2-40B4-BE49-F238E27FC236}">
                <a16:creationId xmlns:a16="http://schemas.microsoft.com/office/drawing/2014/main" id="{217C0A1A-9986-AD67-B3A0-ECE92215F15E}"/>
              </a:ext>
            </a:extLst>
          </p:cNvPr>
          <p:cNvSpPr/>
          <p:nvPr/>
        </p:nvSpPr>
        <p:spPr>
          <a:xfrm>
            <a:off x="4914163" y="4662496"/>
            <a:ext cx="361419" cy="247650"/>
          </a:xfrm>
          <a:prstGeom prst="rightArrow">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9" name="箭头: 右 28">
            <a:extLst>
              <a:ext uri="{FF2B5EF4-FFF2-40B4-BE49-F238E27FC236}">
                <a16:creationId xmlns:a16="http://schemas.microsoft.com/office/drawing/2014/main" id="{4A4A9BEB-09C0-106F-C651-2B86D4E7D0A8}"/>
              </a:ext>
            </a:extLst>
          </p:cNvPr>
          <p:cNvSpPr/>
          <p:nvPr/>
        </p:nvSpPr>
        <p:spPr>
          <a:xfrm>
            <a:off x="6379724" y="4643986"/>
            <a:ext cx="361419" cy="247650"/>
          </a:xfrm>
          <a:prstGeom prst="rightArrow">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0" name="箭头: 右 29">
            <a:extLst>
              <a:ext uri="{FF2B5EF4-FFF2-40B4-BE49-F238E27FC236}">
                <a16:creationId xmlns:a16="http://schemas.microsoft.com/office/drawing/2014/main" id="{30779D53-D7E0-91C8-2D75-B9672A97769E}"/>
              </a:ext>
            </a:extLst>
          </p:cNvPr>
          <p:cNvSpPr/>
          <p:nvPr/>
        </p:nvSpPr>
        <p:spPr>
          <a:xfrm>
            <a:off x="8561909" y="4662496"/>
            <a:ext cx="361419" cy="247650"/>
          </a:xfrm>
          <a:prstGeom prst="rightArrow">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1" name="文本框 30">
            <a:extLst>
              <a:ext uri="{FF2B5EF4-FFF2-40B4-BE49-F238E27FC236}">
                <a16:creationId xmlns:a16="http://schemas.microsoft.com/office/drawing/2014/main" id="{0A5FDD9D-5F7B-FB43-F8A0-B7468F3B6D57}"/>
              </a:ext>
            </a:extLst>
          </p:cNvPr>
          <p:cNvSpPr txBox="1"/>
          <p:nvPr/>
        </p:nvSpPr>
        <p:spPr>
          <a:xfrm>
            <a:off x="540815" y="5819204"/>
            <a:ext cx="2854846" cy="430887"/>
          </a:xfrm>
          <a:prstGeom prst="rect">
            <a:avLst/>
          </a:prstGeom>
          <a:noFill/>
        </p:spPr>
        <p:txBody>
          <a:bodyPr wrap="square" rtlCol="0">
            <a:spAutoFit/>
          </a:bodyPr>
          <a:lstStyle/>
          <a:p>
            <a:pPr algn="ctr"/>
            <a:r>
              <a:rPr lang="ja-JP" altLang="en-US" sz="1100" dirty="0"/>
              <a:t>自動セグメンテーションにより求められたラベル付き</a:t>
            </a:r>
            <a:r>
              <a:rPr lang="ja-JP" altLang="en-US" sz="1100"/>
              <a:t>予測領域（ボクセル）</a:t>
            </a:r>
            <a:endParaRPr lang="en-US" sz="1100" dirty="0"/>
          </a:p>
        </p:txBody>
      </p:sp>
      <p:sp>
        <p:nvSpPr>
          <p:cNvPr id="32" name="文本框 31">
            <a:extLst>
              <a:ext uri="{FF2B5EF4-FFF2-40B4-BE49-F238E27FC236}">
                <a16:creationId xmlns:a16="http://schemas.microsoft.com/office/drawing/2014/main" id="{A5C32E09-3F83-CD0E-D1E1-D944BB8D37EB}"/>
              </a:ext>
            </a:extLst>
          </p:cNvPr>
          <p:cNvSpPr txBox="1"/>
          <p:nvPr/>
        </p:nvSpPr>
        <p:spPr>
          <a:xfrm>
            <a:off x="3737413" y="5876960"/>
            <a:ext cx="1635447" cy="261610"/>
          </a:xfrm>
          <a:prstGeom prst="rect">
            <a:avLst/>
          </a:prstGeom>
          <a:noFill/>
        </p:spPr>
        <p:txBody>
          <a:bodyPr wrap="square" rtlCol="0">
            <a:spAutoFit/>
          </a:bodyPr>
          <a:lstStyle/>
          <a:p>
            <a:pPr algn="ctr"/>
            <a:r>
              <a:rPr lang="ja-JP" altLang="en-US" sz="1100"/>
              <a:t>ターゲット血管</a:t>
            </a:r>
            <a:endParaRPr lang="en-US" altLang="ja-JP" sz="1100" dirty="0"/>
          </a:p>
        </p:txBody>
      </p:sp>
      <p:sp>
        <p:nvSpPr>
          <p:cNvPr id="33" name="文本框 32">
            <a:extLst>
              <a:ext uri="{FF2B5EF4-FFF2-40B4-BE49-F238E27FC236}">
                <a16:creationId xmlns:a16="http://schemas.microsoft.com/office/drawing/2014/main" id="{DF1660BD-8C99-7D0B-747E-7111C1E40CD9}"/>
              </a:ext>
            </a:extLst>
          </p:cNvPr>
          <p:cNvSpPr txBox="1"/>
          <p:nvPr/>
        </p:nvSpPr>
        <p:spPr>
          <a:xfrm>
            <a:off x="5379093" y="5819204"/>
            <a:ext cx="1760732" cy="430887"/>
          </a:xfrm>
          <a:prstGeom prst="rect">
            <a:avLst/>
          </a:prstGeom>
          <a:noFill/>
        </p:spPr>
        <p:txBody>
          <a:bodyPr wrap="square" rtlCol="0">
            <a:spAutoFit/>
          </a:bodyPr>
          <a:lstStyle/>
          <a:p>
            <a:pPr algn="ctr"/>
            <a:r>
              <a:rPr lang="ja-JP" altLang="en-US" sz="1100" dirty="0"/>
              <a:t>ボクセル細線化により</a:t>
            </a:r>
            <a:endParaRPr lang="en-US" altLang="ja-JP" sz="1100" dirty="0"/>
          </a:p>
          <a:p>
            <a:pPr algn="ctr"/>
            <a:r>
              <a:rPr lang="ja-JP" altLang="en-US" sz="1100" dirty="0"/>
              <a:t>抽出した血管スケルトン</a:t>
            </a:r>
            <a:endParaRPr lang="en-US" sz="1100" dirty="0"/>
          </a:p>
        </p:txBody>
      </p:sp>
      <p:sp>
        <p:nvSpPr>
          <p:cNvPr id="34" name="文本框 33">
            <a:extLst>
              <a:ext uri="{FF2B5EF4-FFF2-40B4-BE49-F238E27FC236}">
                <a16:creationId xmlns:a16="http://schemas.microsoft.com/office/drawing/2014/main" id="{CBB774FE-1332-5536-A84A-EC305C989DD0}"/>
              </a:ext>
            </a:extLst>
          </p:cNvPr>
          <p:cNvSpPr txBox="1"/>
          <p:nvPr/>
        </p:nvSpPr>
        <p:spPr>
          <a:xfrm>
            <a:off x="7125800" y="5819204"/>
            <a:ext cx="1635447" cy="600164"/>
          </a:xfrm>
          <a:prstGeom prst="rect">
            <a:avLst/>
          </a:prstGeom>
          <a:noFill/>
        </p:spPr>
        <p:txBody>
          <a:bodyPr wrap="square" rtlCol="0">
            <a:spAutoFit/>
          </a:bodyPr>
          <a:lstStyle/>
          <a:p>
            <a:pPr algn="ctr"/>
            <a:r>
              <a:rPr lang="en-US" altLang="ja-JP" sz="1100" dirty="0"/>
              <a:t>Spline-fitting</a:t>
            </a:r>
          </a:p>
          <a:p>
            <a:pPr algn="ctr"/>
            <a:r>
              <a:rPr lang="ja-JP" altLang="en-US" sz="1100" dirty="0"/>
              <a:t>血管</a:t>
            </a:r>
            <a:r>
              <a:rPr lang="ja-JP" altLang="en-US" sz="1100"/>
              <a:t>中心線（</a:t>
            </a:r>
            <a:r>
              <a:rPr lang="en-US" altLang="ja-JP" sz="1100" dirty="0"/>
              <a:t>Kobayashi et al.,</a:t>
            </a:r>
            <a:r>
              <a:rPr lang="ja-JP" altLang="en-US" sz="1100"/>
              <a:t>）</a:t>
            </a:r>
            <a:endParaRPr lang="en-US" sz="1100" dirty="0"/>
          </a:p>
        </p:txBody>
      </p:sp>
      <p:sp>
        <p:nvSpPr>
          <p:cNvPr id="35" name="文本框 34">
            <a:extLst>
              <a:ext uri="{FF2B5EF4-FFF2-40B4-BE49-F238E27FC236}">
                <a16:creationId xmlns:a16="http://schemas.microsoft.com/office/drawing/2014/main" id="{76A5C9BF-30BE-A867-77A4-0813AB70DF5F}"/>
              </a:ext>
            </a:extLst>
          </p:cNvPr>
          <p:cNvSpPr txBox="1"/>
          <p:nvPr/>
        </p:nvSpPr>
        <p:spPr>
          <a:xfrm>
            <a:off x="9105022" y="5819204"/>
            <a:ext cx="1635447" cy="430887"/>
          </a:xfrm>
          <a:prstGeom prst="rect">
            <a:avLst/>
          </a:prstGeom>
          <a:noFill/>
        </p:spPr>
        <p:txBody>
          <a:bodyPr wrap="square" rtlCol="0">
            <a:spAutoFit/>
          </a:bodyPr>
          <a:lstStyle/>
          <a:p>
            <a:pPr algn="ctr"/>
            <a:r>
              <a:rPr lang="en-US" altLang="ja-JP" sz="1100" dirty="0"/>
              <a:t>Surface</a:t>
            </a:r>
            <a:r>
              <a:rPr lang="ja-JP" altLang="en-US" sz="1100" dirty="0"/>
              <a:t> </a:t>
            </a:r>
            <a:r>
              <a:rPr lang="en-US" altLang="ja-JP" sz="1100" dirty="0"/>
              <a:t>spline-fitting</a:t>
            </a:r>
          </a:p>
          <a:p>
            <a:pPr algn="ctr"/>
            <a:r>
              <a:rPr lang="ja-JP" altLang="en-US" sz="1100" dirty="0"/>
              <a:t>血管表面</a:t>
            </a:r>
            <a:endParaRPr lang="en-US" sz="1100" dirty="0"/>
          </a:p>
        </p:txBody>
      </p:sp>
      <p:sp>
        <p:nvSpPr>
          <p:cNvPr id="36" name="矩形: 圆角 35">
            <a:extLst>
              <a:ext uri="{FF2B5EF4-FFF2-40B4-BE49-F238E27FC236}">
                <a16:creationId xmlns:a16="http://schemas.microsoft.com/office/drawing/2014/main" id="{E660980F-2969-D396-8083-6516F2958E91}"/>
              </a:ext>
            </a:extLst>
          </p:cNvPr>
          <p:cNvSpPr/>
          <p:nvPr/>
        </p:nvSpPr>
        <p:spPr>
          <a:xfrm>
            <a:off x="7007047" y="3878692"/>
            <a:ext cx="1395875" cy="1897887"/>
          </a:xfrm>
          <a:prstGeom prst="roundRect">
            <a:avLst/>
          </a:prstGeom>
          <a:noFill/>
          <a:ln w="28575">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矩形: 圆角 36">
            <a:extLst>
              <a:ext uri="{FF2B5EF4-FFF2-40B4-BE49-F238E27FC236}">
                <a16:creationId xmlns:a16="http://schemas.microsoft.com/office/drawing/2014/main" id="{A7D128D9-C522-42FF-3D10-5AB263301993}"/>
              </a:ext>
            </a:extLst>
          </p:cNvPr>
          <p:cNvSpPr/>
          <p:nvPr/>
        </p:nvSpPr>
        <p:spPr>
          <a:xfrm>
            <a:off x="9058959" y="3868031"/>
            <a:ext cx="1395875" cy="1897887"/>
          </a:xfrm>
          <a:prstGeom prst="roundRect">
            <a:avLst/>
          </a:prstGeom>
          <a:noFill/>
          <a:ln w="28575">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文本框 38">
            <a:extLst>
              <a:ext uri="{FF2B5EF4-FFF2-40B4-BE49-F238E27FC236}">
                <a16:creationId xmlns:a16="http://schemas.microsoft.com/office/drawing/2014/main" id="{5F5C6ADC-B4B6-FF4D-0871-D957992E4F8F}"/>
              </a:ext>
            </a:extLst>
          </p:cNvPr>
          <p:cNvSpPr txBox="1"/>
          <p:nvPr/>
        </p:nvSpPr>
        <p:spPr>
          <a:xfrm>
            <a:off x="8391991" y="3459535"/>
            <a:ext cx="1172116" cy="430887"/>
          </a:xfrm>
          <a:prstGeom prst="rect">
            <a:avLst/>
          </a:prstGeom>
        </p:spPr>
        <p:style>
          <a:lnRef idx="2">
            <a:schemeClr val="dk1">
              <a:shade val="15000"/>
            </a:schemeClr>
          </a:lnRef>
          <a:fillRef idx="1">
            <a:schemeClr val="dk1"/>
          </a:fillRef>
          <a:effectRef idx="0">
            <a:schemeClr val="dk1"/>
          </a:effectRef>
          <a:fontRef idx="minor">
            <a:schemeClr val="lt1"/>
          </a:fontRef>
        </p:style>
        <p:txBody>
          <a:bodyPr wrap="none" rtlCol="0">
            <a:spAutoFit/>
          </a:bodyPr>
          <a:lstStyle/>
          <a:p>
            <a:pPr algn="ctr"/>
            <a:r>
              <a:rPr lang="ja-JP" altLang="en-US" sz="1100" dirty="0"/>
              <a:t>中心線ベースの</a:t>
            </a:r>
            <a:endParaRPr lang="en-US" altLang="ja-JP" sz="1100" dirty="0"/>
          </a:p>
          <a:p>
            <a:pPr algn="ctr"/>
            <a:r>
              <a:rPr lang="ja-JP" altLang="en-US" sz="1100" b="1" dirty="0"/>
              <a:t>血管</a:t>
            </a:r>
            <a:r>
              <a:rPr lang="ja-JP" altLang="en-US" sz="1100" b="1"/>
              <a:t>形状分析</a:t>
            </a:r>
            <a:endParaRPr lang="en-US" sz="1100" dirty="0"/>
          </a:p>
        </p:txBody>
      </p:sp>
      <p:sp>
        <p:nvSpPr>
          <p:cNvPr id="40" name="文本框 39">
            <a:extLst>
              <a:ext uri="{FF2B5EF4-FFF2-40B4-BE49-F238E27FC236}">
                <a16:creationId xmlns:a16="http://schemas.microsoft.com/office/drawing/2014/main" id="{BDD6116F-7D90-7C0D-AA25-F1D0A20CF6EF}"/>
              </a:ext>
            </a:extLst>
          </p:cNvPr>
          <p:cNvSpPr txBox="1"/>
          <p:nvPr/>
        </p:nvSpPr>
        <p:spPr>
          <a:xfrm>
            <a:off x="10454834" y="3571927"/>
            <a:ext cx="1172116" cy="261610"/>
          </a:xfrm>
          <a:prstGeom prst="rect">
            <a:avLst/>
          </a:prstGeom>
        </p:spPr>
        <p:style>
          <a:lnRef idx="2">
            <a:schemeClr val="dk1">
              <a:shade val="15000"/>
            </a:schemeClr>
          </a:lnRef>
          <a:fillRef idx="1">
            <a:schemeClr val="dk1"/>
          </a:fillRef>
          <a:effectRef idx="0">
            <a:schemeClr val="dk1"/>
          </a:effectRef>
          <a:fontRef idx="minor">
            <a:schemeClr val="lt1"/>
          </a:fontRef>
        </p:style>
        <p:txBody>
          <a:bodyPr wrap="none" rtlCol="0">
            <a:spAutoFit/>
          </a:bodyPr>
          <a:lstStyle/>
          <a:p>
            <a:pPr algn="ctr"/>
            <a:r>
              <a:rPr lang="ja-JP" altLang="en-US" sz="1100"/>
              <a:t>三次元血流解析</a:t>
            </a:r>
            <a:endParaRPr lang="en-US" altLang="ja-JP" sz="1100" dirty="0"/>
          </a:p>
        </p:txBody>
      </p:sp>
      <p:sp>
        <p:nvSpPr>
          <p:cNvPr id="41" name="箭头: 右 40">
            <a:extLst>
              <a:ext uri="{FF2B5EF4-FFF2-40B4-BE49-F238E27FC236}">
                <a16:creationId xmlns:a16="http://schemas.microsoft.com/office/drawing/2014/main" id="{0D799A1E-D2C5-A829-0381-45617F0FB32A}"/>
              </a:ext>
            </a:extLst>
          </p:cNvPr>
          <p:cNvSpPr/>
          <p:nvPr/>
        </p:nvSpPr>
        <p:spPr>
          <a:xfrm rot="19354930">
            <a:off x="10271548" y="3759775"/>
            <a:ext cx="271625" cy="247650"/>
          </a:xfrm>
          <a:prstGeom prst="right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graphicFrame>
        <p:nvGraphicFramePr>
          <p:cNvPr id="13" name="图示 12">
            <a:extLst>
              <a:ext uri="{FF2B5EF4-FFF2-40B4-BE49-F238E27FC236}">
                <a16:creationId xmlns:a16="http://schemas.microsoft.com/office/drawing/2014/main" id="{94C7A6BE-EF59-6D3E-F062-E905948053A8}"/>
              </a:ext>
            </a:extLst>
          </p:cNvPr>
          <p:cNvGraphicFramePr/>
          <p:nvPr>
            <p:extLst>
              <p:ext uri="{D42A27DB-BD31-4B8C-83A1-F6EECF244321}">
                <p14:modId xmlns:p14="http://schemas.microsoft.com/office/powerpoint/2010/main" val="1396771472"/>
              </p:ext>
            </p:extLst>
          </p:nvPr>
        </p:nvGraphicFramePr>
        <p:xfrm>
          <a:off x="4911960" y="698119"/>
          <a:ext cx="5663991" cy="2576610"/>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pic>
        <p:nvPicPr>
          <p:cNvPr id="10" name="图片 9">
            <a:extLst>
              <a:ext uri="{FF2B5EF4-FFF2-40B4-BE49-F238E27FC236}">
                <a16:creationId xmlns:a16="http://schemas.microsoft.com/office/drawing/2014/main" id="{C449E596-4A16-4610-24FD-9D791C59E02F}"/>
              </a:ext>
            </a:extLst>
          </p:cNvPr>
          <p:cNvPicPr>
            <a:picLocks noChangeAspect="1"/>
          </p:cNvPicPr>
          <p:nvPr/>
        </p:nvPicPr>
        <p:blipFill>
          <a:blip r:embed="rId16"/>
          <a:stretch>
            <a:fillRect/>
          </a:stretch>
        </p:blipFill>
        <p:spPr>
          <a:xfrm>
            <a:off x="892328" y="1188992"/>
            <a:ext cx="2251775" cy="2271813"/>
          </a:xfrm>
          <a:prstGeom prst="rect">
            <a:avLst/>
          </a:prstGeom>
        </p:spPr>
      </p:pic>
      <p:sp>
        <p:nvSpPr>
          <p:cNvPr id="12" name="箭头: 右 11">
            <a:extLst>
              <a:ext uri="{FF2B5EF4-FFF2-40B4-BE49-F238E27FC236}">
                <a16:creationId xmlns:a16="http://schemas.microsoft.com/office/drawing/2014/main" id="{35B681FE-C11E-B11E-AE74-7D21988E1AF1}"/>
              </a:ext>
            </a:extLst>
          </p:cNvPr>
          <p:cNvSpPr/>
          <p:nvPr/>
        </p:nvSpPr>
        <p:spPr>
          <a:xfrm rot="5400000">
            <a:off x="1765487" y="3574158"/>
            <a:ext cx="361419" cy="247650"/>
          </a:xfrm>
          <a:prstGeom prst="rightArrow">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4" name="文本框 13">
            <a:extLst>
              <a:ext uri="{FF2B5EF4-FFF2-40B4-BE49-F238E27FC236}">
                <a16:creationId xmlns:a16="http://schemas.microsoft.com/office/drawing/2014/main" id="{DFCC04FE-AB76-EBB9-1C45-B464E6DB179A}"/>
              </a:ext>
            </a:extLst>
          </p:cNvPr>
          <p:cNvSpPr txBox="1"/>
          <p:nvPr/>
        </p:nvSpPr>
        <p:spPr>
          <a:xfrm>
            <a:off x="934798" y="981103"/>
            <a:ext cx="2166833" cy="261610"/>
          </a:xfrm>
          <a:prstGeom prst="rect">
            <a:avLst/>
          </a:prstGeom>
          <a:noFill/>
        </p:spPr>
        <p:txBody>
          <a:bodyPr wrap="square" rtlCol="0">
            <a:spAutoFit/>
          </a:bodyPr>
          <a:lstStyle/>
          <a:p>
            <a:pPr algn="ctr"/>
            <a:r>
              <a:rPr lang="en-US" altLang="ja-JP" sz="1100" dirty="0"/>
              <a:t>MRA</a:t>
            </a:r>
            <a:r>
              <a:rPr lang="ja-JP" altLang="en-US" sz="1100" dirty="0"/>
              <a:t>画像</a:t>
            </a:r>
            <a:endParaRPr lang="en-US" sz="1100" dirty="0"/>
          </a:p>
        </p:txBody>
      </p:sp>
      <p:sp>
        <p:nvSpPr>
          <p:cNvPr id="16" name="箭头: 右 15">
            <a:extLst>
              <a:ext uri="{FF2B5EF4-FFF2-40B4-BE49-F238E27FC236}">
                <a16:creationId xmlns:a16="http://schemas.microsoft.com/office/drawing/2014/main" id="{B79C7825-4A20-D3DE-B4C5-5A6FE9237651}"/>
              </a:ext>
            </a:extLst>
          </p:cNvPr>
          <p:cNvSpPr/>
          <p:nvPr/>
        </p:nvSpPr>
        <p:spPr>
          <a:xfrm rot="19354930">
            <a:off x="8202810" y="3825609"/>
            <a:ext cx="271625" cy="247650"/>
          </a:xfrm>
          <a:prstGeom prst="right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0" name="文本框 19">
            <a:extLst>
              <a:ext uri="{FF2B5EF4-FFF2-40B4-BE49-F238E27FC236}">
                <a16:creationId xmlns:a16="http://schemas.microsoft.com/office/drawing/2014/main" id="{0E578ECD-43A7-AE5A-ACAA-10700D5FB8D6}"/>
              </a:ext>
            </a:extLst>
          </p:cNvPr>
          <p:cNvSpPr txBox="1"/>
          <p:nvPr/>
        </p:nvSpPr>
        <p:spPr>
          <a:xfrm>
            <a:off x="7031653" y="3032626"/>
            <a:ext cx="2012089" cy="261610"/>
          </a:xfrm>
          <a:prstGeom prst="rect">
            <a:avLst/>
          </a:prstGeom>
          <a:noFill/>
        </p:spPr>
        <p:txBody>
          <a:bodyPr wrap="none" rtlCol="0">
            <a:spAutoFit/>
          </a:bodyPr>
          <a:lstStyle/>
          <a:p>
            <a:r>
              <a:rPr lang="en-US" altLang="ja-JP" sz="1100" b="1" dirty="0">
                <a:latin typeface="+mj-ea"/>
                <a:ea typeface="+mj-ea"/>
              </a:rPr>
              <a:t>Fig.5 </a:t>
            </a:r>
            <a:r>
              <a:rPr lang="ja-JP" altLang="en-US" sz="1100" b="1" dirty="0">
                <a:latin typeface="+mj-ea"/>
                <a:ea typeface="+mj-ea"/>
              </a:rPr>
              <a:t>モデリングデータ構造</a:t>
            </a:r>
            <a:endParaRPr lang="en-US" sz="1100" b="1" dirty="0">
              <a:latin typeface="+mj-ea"/>
              <a:ea typeface="+mj-ea"/>
            </a:endParaRPr>
          </a:p>
        </p:txBody>
      </p:sp>
      <p:sp>
        <p:nvSpPr>
          <p:cNvPr id="5" name="文本框 38">
            <a:extLst>
              <a:ext uri="{FF2B5EF4-FFF2-40B4-BE49-F238E27FC236}">
                <a16:creationId xmlns:a16="http://schemas.microsoft.com/office/drawing/2014/main" id="{F2B36933-C952-4997-EA90-070AC15BEC41}"/>
              </a:ext>
            </a:extLst>
          </p:cNvPr>
          <p:cNvSpPr txBox="1"/>
          <p:nvPr/>
        </p:nvSpPr>
        <p:spPr>
          <a:xfrm>
            <a:off x="2818253" y="3623694"/>
            <a:ext cx="1204176" cy="430887"/>
          </a:xfrm>
          <a:prstGeom prst="rect">
            <a:avLst/>
          </a:prstGeom>
        </p:spPr>
        <p:style>
          <a:lnRef idx="2">
            <a:schemeClr val="dk1">
              <a:shade val="15000"/>
            </a:schemeClr>
          </a:lnRef>
          <a:fillRef idx="1">
            <a:schemeClr val="dk1"/>
          </a:fillRef>
          <a:effectRef idx="0">
            <a:schemeClr val="dk1"/>
          </a:effectRef>
          <a:fontRef idx="minor">
            <a:schemeClr val="lt1"/>
          </a:fontRef>
        </p:style>
        <p:txBody>
          <a:bodyPr wrap="none" rtlCol="0">
            <a:spAutoFit/>
          </a:bodyPr>
          <a:lstStyle/>
          <a:p>
            <a:pPr algn="ctr"/>
            <a:r>
              <a:rPr lang="en-US" altLang="ja-JP" sz="1100" dirty="0" err="1"/>
              <a:t>CoW</a:t>
            </a:r>
            <a:r>
              <a:rPr lang="ja-JP" altLang="en-US" sz="1100"/>
              <a:t>トポロジー</a:t>
            </a:r>
            <a:endParaRPr lang="en-US" altLang="ja-JP" sz="1100" dirty="0"/>
          </a:p>
          <a:p>
            <a:pPr algn="ctr"/>
            <a:r>
              <a:rPr lang="ja-JP" altLang="en-US" sz="1100"/>
              <a:t>連結性分析</a:t>
            </a:r>
            <a:endParaRPr lang="en-US" sz="1100" dirty="0"/>
          </a:p>
        </p:txBody>
      </p:sp>
      <p:sp>
        <p:nvSpPr>
          <p:cNvPr id="8" name="箭头: 右 15">
            <a:extLst>
              <a:ext uri="{FF2B5EF4-FFF2-40B4-BE49-F238E27FC236}">
                <a16:creationId xmlns:a16="http://schemas.microsoft.com/office/drawing/2014/main" id="{B6BFEBC4-7373-1488-C317-95D80406FB76}"/>
              </a:ext>
            </a:extLst>
          </p:cNvPr>
          <p:cNvSpPr/>
          <p:nvPr/>
        </p:nvSpPr>
        <p:spPr>
          <a:xfrm rot="18681126">
            <a:off x="2577983" y="3897434"/>
            <a:ext cx="271625" cy="247650"/>
          </a:xfrm>
          <a:prstGeom prst="right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8" name="TextBox 37">
            <a:extLst>
              <a:ext uri="{FF2B5EF4-FFF2-40B4-BE49-F238E27FC236}">
                <a16:creationId xmlns:a16="http://schemas.microsoft.com/office/drawing/2014/main" id="{3EDF45AB-9146-E626-8FA1-0E1B5DCE09E3}"/>
              </a:ext>
            </a:extLst>
          </p:cNvPr>
          <p:cNvSpPr txBox="1"/>
          <p:nvPr/>
        </p:nvSpPr>
        <p:spPr>
          <a:xfrm>
            <a:off x="-52791" y="6544171"/>
            <a:ext cx="6148791" cy="369332"/>
          </a:xfrm>
          <a:prstGeom prst="rect">
            <a:avLst/>
          </a:prstGeom>
          <a:noFill/>
        </p:spPr>
        <p:txBody>
          <a:bodyPr wrap="square">
            <a:spAutoFit/>
          </a:bodyPr>
          <a:lstStyle/>
          <a:p>
            <a:r>
              <a:rPr lang="en-US" sz="900" b="0" i="0" dirty="0">
                <a:solidFill>
                  <a:srgbClr val="222222"/>
                </a:solidFill>
                <a:effectLst/>
                <a:latin typeface="Arial" panose="020B0604020202020204" pitchFamily="34" charset="0"/>
              </a:rPr>
              <a:t>Kobayashi, Masaharu, et al. "A penalized spline fitting method to optimize geometric parameters of arterial centerlines extracted from medical images." </a:t>
            </a:r>
            <a:r>
              <a:rPr lang="en-US" sz="900" b="0" i="1" dirty="0">
                <a:solidFill>
                  <a:srgbClr val="222222"/>
                </a:solidFill>
                <a:effectLst/>
                <a:latin typeface="Arial" panose="020B0604020202020204" pitchFamily="34" charset="0"/>
              </a:rPr>
              <a:t>Computerized Medical Imaging and Graphics</a:t>
            </a:r>
            <a:r>
              <a:rPr lang="en-US" sz="900" b="0" i="0" dirty="0">
                <a:solidFill>
                  <a:srgbClr val="222222"/>
                </a:solidFill>
                <a:effectLst/>
                <a:latin typeface="Arial" panose="020B0604020202020204" pitchFamily="34" charset="0"/>
              </a:rPr>
              <a:t> 84 (2020): 101746.</a:t>
            </a:r>
            <a:endParaRPr lang="en-JP" sz="900" dirty="0"/>
          </a:p>
        </p:txBody>
      </p:sp>
    </p:spTree>
    <p:extLst>
      <p:ext uri="{BB962C8B-B14F-4D97-AF65-F5344CB8AC3E}">
        <p14:creationId xmlns:p14="http://schemas.microsoft.com/office/powerpoint/2010/main" val="7075278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DFA191-44D0-4C87-E586-2644FDC2CB4E}"/>
              </a:ext>
            </a:extLst>
          </p:cNvPr>
          <p:cNvSpPr>
            <a:spLocks noGrp="1"/>
          </p:cNvSpPr>
          <p:nvPr>
            <p:ph type="title"/>
          </p:nvPr>
        </p:nvSpPr>
        <p:spPr/>
        <p:txBody>
          <a:bodyPr/>
          <a:lstStyle/>
          <a:p>
            <a:r>
              <a:rPr lang="ja-JP" altLang="en-US" dirty="0"/>
              <a:t>幾何学的特徴による内頸動脈サイホン形状分類</a:t>
            </a:r>
            <a:endParaRPr lang="en-US" dirty="0"/>
          </a:p>
        </p:txBody>
      </p:sp>
      <p:sp>
        <p:nvSpPr>
          <p:cNvPr id="3" name="页脚占位符 2">
            <a:extLst>
              <a:ext uri="{FF2B5EF4-FFF2-40B4-BE49-F238E27FC236}">
                <a16:creationId xmlns:a16="http://schemas.microsoft.com/office/drawing/2014/main" id="{FAA1D27D-6515-1878-7681-AF86D5F233E2}"/>
              </a:ext>
            </a:extLst>
          </p:cNvPr>
          <p:cNvSpPr>
            <a:spLocks noGrp="1"/>
          </p:cNvSpPr>
          <p:nvPr>
            <p:ph type="ftr" sz="quarter" idx="10"/>
          </p:nvPr>
        </p:nvSpPr>
        <p:spPr>
          <a:xfrm>
            <a:off x="7965624" y="6548363"/>
            <a:ext cx="4114800" cy="193140"/>
          </a:xfrm>
        </p:spPr>
        <p:txBody>
          <a:bodyPr/>
          <a:lstStyle/>
          <a:p>
            <a:endParaRPr lang="en-US"/>
          </a:p>
        </p:txBody>
      </p:sp>
      <p:sp>
        <p:nvSpPr>
          <p:cNvPr id="4" name="灯片编号占位符 3">
            <a:extLst>
              <a:ext uri="{FF2B5EF4-FFF2-40B4-BE49-F238E27FC236}">
                <a16:creationId xmlns:a16="http://schemas.microsoft.com/office/drawing/2014/main" id="{74199C6E-878E-1425-3C60-23E59AA34AA4}"/>
              </a:ext>
            </a:extLst>
          </p:cNvPr>
          <p:cNvSpPr>
            <a:spLocks noGrp="1"/>
          </p:cNvSpPr>
          <p:nvPr>
            <p:ph type="sldNum" sz="quarter" idx="11"/>
          </p:nvPr>
        </p:nvSpPr>
        <p:spPr/>
        <p:txBody>
          <a:bodyPr/>
          <a:lstStyle/>
          <a:p>
            <a:fld id="{E2B18E97-1989-4D85-BA90-17B226C62452}" type="slidenum">
              <a:rPr lang="en-US" smtClean="0"/>
              <a:pPr/>
              <a:t>7</a:t>
            </a:fld>
            <a:endParaRPr lang="en-US"/>
          </a:p>
        </p:txBody>
      </p:sp>
      <p:sp>
        <p:nvSpPr>
          <p:cNvPr id="6" name="文本占位符 5">
            <a:extLst>
              <a:ext uri="{FF2B5EF4-FFF2-40B4-BE49-F238E27FC236}">
                <a16:creationId xmlns:a16="http://schemas.microsoft.com/office/drawing/2014/main" id="{752B7A97-0C20-1874-5C3A-42DD286A565E}"/>
              </a:ext>
            </a:extLst>
          </p:cNvPr>
          <p:cNvSpPr>
            <a:spLocks noGrp="1"/>
          </p:cNvSpPr>
          <p:nvPr>
            <p:ph type="body" sz="quarter" idx="13"/>
          </p:nvPr>
        </p:nvSpPr>
        <p:spPr/>
        <p:txBody>
          <a:bodyPr/>
          <a:lstStyle/>
          <a:p>
            <a:r>
              <a:rPr lang="en-US" altLang="zh-CN" dirty="0"/>
              <a:t>2025.12.06</a:t>
            </a:r>
            <a:r>
              <a:rPr lang="ja-JP" altLang="en-US" dirty="0"/>
              <a:t>　バイオフロンティア講演会　</a:t>
            </a:r>
            <a:r>
              <a:rPr lang="en-US" altLang="ja-JP" dirty="0"/>
              <a:t>1E12</a:t>
            </a:r>
          </a:p>
        </p:txBody>
      </p:sp>
      <p:sp>
        <p:nvSpPr>
          <p:cNvPr id="7" name="文本占位符 6">
            <a:extLst>
              <a:ext uri="{FF2B5EF4-FFF2-40B4-BE49-F238E27FC236}">
                <a16:creationId xmlns:a16="http://schemas.microsoft.com/office/drawing/2014/main" id="{0DCE196D-694D-6BE4-48A1-03483544294B}"/>
              </a:ext>
            </a:extLst>
          </p:cNvPr>
          <p:cNvSpPr>
            <a:spLocks noGrp="1"/>
          </p:cNvSpPr>
          <p:nvPr>
            <p:ph type="body" sz="quarter" idx="14"/>
          </p:nvPr>
        </p:nvSpPr>
        <p:spPr/>
        <p:txBody>
          <a:bodyPr/>
          <a:lstStyle/>
          <a:p>
            <a:r>
              <a:rPr lang="ja-JP" altLang="en-US" dirty="0"/>
              <a:t>結果</a:t>
            </a:r>
            <a:r>
              <a:rPr lang="en-US" altLang="ja-JP" dirty="0"/>
              <a:t>3/4</a:t>
            </a:r>
            <a:endParaRPr lang="en-US" dirty="0"/>
          </a:p>
        </p:txBody>
      </p:sp>
      <p:pic>
        <p:nvPicPr>
          <p:cNvPr id="9" name="図 6" descr="図形&#10;&#10;自動的に生成された説明">
            <a:extLst>
              <a:ext uri="{FF2B5EF4-FFF2-40B4-BE49-F238E27FC236}">
                <a16:creationId xmlns:a16="http://schemas.microsoft.com/office/drawing/2014/main" id="{6F0EFF15-C201-0385-9CBC-3E1D10F00C97}"/>
              </a:ext>
            </a:extLst>
          </p:cNvPr>
          <p:cNvPicPr>
            <a:picLocks noChangeAspect="1"/>
          </p:cNvPicPr>
          <p:nvPr/>
        </p:nvPicPr>
        <p:blipFill rotWithShape="1">
          <a:blip r:embed="rId3">
            <a:extLst>
              <a:ext uri="{28A0092B-C50C-407E-A947-70E740481C1C}">
                <a14:useLocalDpi xmlns:a14="http://schemas.microsoft.com/office/drawing/2010/main" val="0"/>
              </a:ext>
            </a:extLst>
          </a:blip>
          <a:srcRect l="28404" t="16091" r="30127" b="46365"/>
          <a:stretch>
            <a:fillRect/>
          </a:stretch>
        </p:blipFill>
        <p:spPr>
          <a:xfrm>
            <a:off x="916952" y="1115904"/>
            <a:ext cx="1364916" cy="1769153"/>
          </a:xfrm>
          <a:prstGeom prst="rect">
            <a:avLst/>
          </a:prstGeom>
          <a:ln>
            <a:noFill/>
          </a:ln>
        </p:spPr>
      </p:pic>
      <p:pic>
        <p:nvPicPr>
          <p:cNvPr id="10" name="图片 9" descr="图表&#10;&#10;AI 生成的内容可能不正确。">
            <a:extLst>
              <a:ext uri="{FF2B5EF4-FFF2-40B4-BE49-F238E27FC236}">
                <a16:creationId xmlns:a16="http://schemas.microsoft.com/office/drawing/2014/main" id="{C2875D91-B8B5-2E72-00E4-AE2C3C4A1C6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85703" y="1468066"/>
            <a:ext cx="3358531" cy="1064830"/>
          </a:xfrm>
          <a:prstGeom prst="rect">
            <a:avLst/>
          </a:prstGeom>
        </p:spPr>
      </p:pic>
      <p:pic>
        <p:nvPicPr>
          <p:cNvPr id="12" name="图片 11" descr="图表&#10;&#10;AI 生成的内容可能不正确。">
            <a:extLst>
              <a:ext uri="{FF2B5EF4-FFF2-40B4-BE49-F238E27FC236}">
                <a16:creationId xmlns:a16="http://schemas.microsoft.com/office/drawing/2014/main" id="{F2EE7B34-29CC-39D8-0989-9D535D486F09}"/>
              </a:ext>
            </a:extLst>
          </p:cNvPr>
          <p:cNvPicPr>
            <a:picLocks noChangeAspect="1"/>
          </p:cNvPicPr>
          <p:nvPr/>
        </p:nvPicPr>
        <p:blipFill>
          <a:blip r:embed="rId5">
            <a:extLst>
              <a:ext uri="{28A0092B-C50C-407E-A947-70E740481C1C}">
                <a14:useLocalDpi xmlns:a14="http://schemas.microsoft.com/office/drawing/2010/main" val="0"/>
              </a:ext>
            </a:extLst>
          </a:blip>
          <a:srcRect r="434"/>
          <a:stretch>
            <a:fillRect/>
          </a:stretch>
        </p:blipFill>
        <p:spPr>
          <a:xfrm>
            <a:off x="6189967" y="1044871"/>
            <a:ext cx="1827465" cy="2053051"/>
          </a:xfrm>
          <a:prstGeom prst="rect">
            <a:avLst/>
          </a:prstGeom>
        </p:spPr>
      </p:pic>
      <p:sp>
        <p:nvSpPr>
          <p:cNvPr id="13" name="箭头: 下 12">
            <a:extLst>
              <a:ext uri="{FF2B5EF4-FFF2-40B4-BE49-F238E27FC236}">
                <a16:creationId xmlns:a16="http://schemas.microsoft.com/office/drawing/2014/main" id="{7A3C9661-3ACC-A0C8-D7F8-41F5E677A8DB}"/>
              </a:ext>
            </a:extLst>
          </p:cNvPr>
          <p:cNvSpPr/>
          <p:nvPr/>
        </p:nvSpPr>
        <p:spPr>
          <a:xfrm rot="16200000">
            <a:off x="2184668" y="1782306"/>
            <a:ext cx="194400" cy="241948"/>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4" name="箭头: 下 13">
            <a:extLst>
              <a:ext uri="{FF2B5EF4-FFF2-40B4-BE49-F238E27FC236}">
                <a16:creationId xmlns:a16="http://schemas.microsoft.com/office/drawing/2014/main" id="{1E08D875-CB62-C35E-E1E3-AC21060D103A}"/>
              </a:ext>
            </a:extLst>
          </p:cNvPr>
          <p:cNvSpPr/>
          <p:nvPr/>
        </p:nvSpPr>
        <p:spPr>
          <a:xfrm rot="16200000">
            <a:off x="5950869" y="1782305"/>
            <a:ext cx="194400" cy="241948"/>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pic>
        <p:nvPicPr>
          <p:cNvPr id="17" name="图片 16">
            <a:extLst>
              <a:ext uri="{FF2B5EF4-FFF2-40B4-BE49-F238E27FC236}">
                <a16:creationId xmlns:a16="http://schemas.microsoft.com/office/drawing/2014/main" id="{E796557D-A1BC-D3A7-22BE-AE82F5079D9D}"/>
              </a:ext>
            </a:extLst>
          </p:cNvPr>
          <p:cNvPicPr>
            <a:picLocks noChangeAspect="1"/>
          </p:cNvPicPr>
          <p:nvPr/>
        </p:nvPicPr>
        <p:blipFill>
          <a:blip r:embed="rId6"/>
          <a:stretch>
            <a:fillRect/>
          </a:stretch>
        </p:blipFill>
        <p:spPr>
          <a:xfrm>
            <a:off x="8459788" y="968726"/>
            <a:ext cx="2743200" cy="2035852"/>
          </a:xfrm>
          <a:prstGeom prst="rect">
            <a:avLst/>
          </a:prstGeom>
        </p:spPr>
      </p:pic>
      <p:cxnSp>
        <p:nvCxnSpPr>
          <p:cNvPr id="19" name="直接连接符 18">
            <a:extLst>
              <a:ext uri="{FF2B5EF4-FFF2-40B4-BE49-F238E27FC236}">
                <a16:creationId xmlns:a16="http://schemas.microsoft.com/office/drawing/2014/main" id="{4F3E4E33-4923-68B3-0001-89B7B2FF6E91}"/>
              </a:ext>
            </a:extLst>
          </p:cNvPr>
          <p:cNvCxnSpPr>
            <a:cxnSpLocks/>
          </p:cNvCxnSpPr>
          <p:nvPr/>
        </p:nvCxnSpPr>
        <p:spPr>
          <a:xfrm flipV="1">
            <a:off x="8319135" y="1115904"/>
            <a:ext cx="0" cy="1654912"/>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21" name="图片 20" descr="卡通人物&#10;&#10;AI 生成的内容可能不正确。">
            <a:extLst>
              <a:ext uri="{FF2B5EF4-FFF2-40B4-BE49-F238E27FC236}">
                <a16:creationId xmlns:a16="http://schemas.microsoft.com/office/drawing/2014/main" id="{95292756-3C0A-D72C-C946-38AE3E08BC4D}"/>
              </a:ext>
            </a:extLst>
          </p:cNvPr>
          <p:cNvPicPr>
            <a:picLocks noChangeAspect="1"/>
          </p:cNvPicPr>
          <p:nvPr/>
        </p:nvPicPr>
        <p:blipFill>
          <a:blip r:embed="rId7">
            <a:extLst>
              <a:ext uri="{28A0092B-C50C-407E-A947-70E740481C1C}">
                <a14:useLocalDpi xmlns:a14="http://schemas.microsoft.com/office/drawing/2010/main" val="0"/>
              </a:ext>
            </a:extLst>
          </a:blip>
          <a:srcRect l="71710"/>
          <a:stretch>
            <a:fillRect/>
          </a:stretch>
        </p:blipFill>
        <p:spPr>
          <a:xfrm>
            <a:off x="8819240" y="3045167"/>
            <a:ext cx="451054" cy="738092"/>
          </a:xfrm>
          <a:prstGeom prst="rect">
            <a:avLst/>
          </a:prstGeom>
        </p:spPr>
      </p:pic>
      <p:pic>
        <p:nvPicPr>
          <p:cNvPr id="22" name="图片 21" descr="卡通人物&#10;&#10;AI 生成的内容可能不正确。">
            <a:extLst>
              <a:ext uri="{FF2B5EF4-FFF2-40B4-BE49-F238E27FC236}">
                <a16:creationId xmlns:a16="http://schemas.microsoft.com/office/drawing/2014/main" id="{FDAF3F70-5158-CD8A-A2EE-0EC8294E4E9C}"/>
              </a:ext>
            </a:extLst>
          </p:cNvPr>
          <p:cNvPicPr>
            <a:picLocks noChangeAspect="1"/>
          </p:cNvPicPr>
          <p:nvPr/>
        </p:nvPicPr>
        <p:blipFill>
          <a:blip r:embed="rId7">
            <a:extLst>
              <a:ext uri="{28A0092B-C50C-407E-A947-70E740481C1C}">
                <a14:useLocalDpi xmlns:a14="http://schemas.microsoft.com/office/drawing/2010/main" val="0"/>
              </a:ext>
            </a:extLst>
          </a:blip>
          <a:srcRect r="74687"/>
          <a:stretch>
            <a:fillRect/>
          </a:stretch>
        </p:blipFill>
        <p:spPr>
          <a:xfrm>
            <a:off x="10554343" y="1254836"/>
            <a:ext cx="407712" cy="745645"/>
          </a:xfrm>
          <a:prstGeom prst="rect">
            <a:avLst/>
          </a:prstGeom>
        </p:spPr>
      </p:pic>
      <p:pic>
        <p:nvPicPr>
          <p:cNvPr id="23" name="图片 22" descr="卡通人物&#10;&#10;AI 生成的内容可能不正确。">
            <a:extLst>
              <a:ext uri="{FF2B5EF4-FFF2-40B4-BE49-F238E27FC236}">
                <a16:creationId xmlns:a16="http://schemas.microsoft.com/office/drawing/2014/main" id="{CE6A5882-D267-F14D-AC35-182D1871CC15}"/>
              </a:ext>
            </a:extLst>
          </p:cNvPr>
          <p:cNvPicPr>
            <a:picLocks noChangeAspect="1"/>
          </p:cNvPicPr>
          <p:nvPr/>
        </p:nvPicPr>
        <p:blipFill>
          <a:blip r:embed="rId7">
            <a:extLst>
              <a:ext uri="{28A0092B-C50C-407E-A947-70E740481C1C}">
                <a14:useLocalDpi xmlns:a14="http://schemas.microsoft.com/office/drawing/2010/main" val="0"/>
              </a:ext>
            </a:extLst>
          </a:blip>
          <a:srcRect l="26636" r="51732"/>
          <a:stretch>
            <a:fillRect/>
          </a:stretch>
        </p:blipFill>
        <p:spPr>
          <a:xfrm>
            <a:off x="10725485" y="3014297"/>
            <a:ext cx="344900" cy="738092"/>
          </a:xfrm>
          <a:prstGeom prst="rect">
            <a:avLst/>
          </a:prstGeom>
        </p:spPr>
      </p:pic>
      <p:pic>
        <p:nvPicPr>
          <p:cNvPr id="24" name="图片 23" descr="卡通人物&#10;&#10;AI 生成的内容可能不正确。">
            <a:extLst>
              <a:ext uri="{FF2B5EF4-FFF2-40B4-BE49-F238E27FC236}">
                <a16:creationId xmlns:a16="http://schemas.microsoft.com/office/drawing/2014/main" id="{86A6D7A2-1852-7D4B-DE76-6C5BBF2FC502}"/>
              </a:ext>
            </a:extLst>
          </p:cNvPr>
          <p:cNvPicPr>
            <a:picLocks noChangeAspect="1"/>
          </p:cNvPicPr>
          <p:nvPr/>
        </p:nvPicPr>
        <p:blipFill>
          <a:blip r:embed="rId7">
            <a:extLst>
              <a:ext uri="{28A0092B-C50C-407E-A947-70E740481C1C}">
                <a14:useLocalDpi xmlns:a14="http://schemas.microsoft.com/office/drawing/2010/main" val="0"/>
              </a:ext>
            </a:extLst>
          </a:blip>
          <a:srcRect l="48392" r="27447"/>
          <a:stretch>
            <a:fillRect/>
          </a:stretch>
        </p:blipFill>
        <p:spPr>
          <a:xfrm>
            <a:off x="10070427" y="3007951"/>
            <a:ext cx="391838" cy="750785"/>
          </a:xfrm>
          <a:prstGeom prst="rect">
            <a:avLst/>
          </a:prstGeom>
        </p:spPr>
      </p:pic>
      <p:pic>
        <p:nvPicPr>
          <p:cNvPr id="25" name="图片 24">
            <a:extLst>
              <a:ext uri="{FF2B5EF4-FFF2-40B4-BE49-F238E27FC236}">
                <a16:creationId xmlns:a16="http://schemas.microsoft.com/office/drawing/2014/main" id="{79E5B868-FD37-194B-166F-ECCF2E79E418}"/>
              </a:ext>
            </a:extLst>
          </p:cNvPr>
          <p:cNvPicPr>
            <a:picLocks noChangeAspect="1"/>
          </p:cNvPicPr>
          <p:nvPr/>
        </p:nvPicPr>
        <p:blipFill>
          <a:blip r:embed="rId8"/>
          <a:stretch>
            <a:fillRect/>
          </a:stretch>
        </p:blipFill>
        <p:spPr>
          <a:xfrm>
            <a:off x="1101264" y="4619496"/>
            <a:ext cx="4753147" cy="1706402"/>
          </a:xfrm>
          <a:prstGeom prst="rect">
            <a:avLst/>
          </a:prstGeom>
        </p:spPr>
      </p:pic>
      <p:sp>
        <p:nvSpPr>
          <p:cNvPr id="26" name="文本框 25">
            <a:extLst>
              <a:ext uri="{FF2B5EF4-FFF2-40B4-BE49-F238E27FC236}">
                <a16:creationId xmlns:a16="http://schemas.microsoft.com/office/drawing/2014/main" id="{26AA8904-6C6F-93CB-C1D1-6B595CD74CAA}"/>
              </a:ext>
            </a:extLst>
          </p:cNvPr>
          <p:cNvSpPr txBox="1"/>
          <p:nvPr/>
        </p:nvSpPr>
        <p:spPr>
          <a:xfrm>
            <a:off x="1331632" y="6203647"/>
            <a:ext cx="4434227" cy="261610"/>
          </a:xfrm>
          <a:prstGeom prst="rect">
            <a:avLst/>
          </a:prstGeom>
          <a:noFill/>
        </p:spPr>
        <p:txBody>
          <a:bodyPr wrap="none" rtlCol="0">
            <a:spAutoFit/>
          </a:bodyPr>
          <a:lstStyle/>
          <a:p>
            <a:r>
              <a:rPr lang="en-US" altLang="ja-JP" sz="1100" b="1" dirty="0">
                <a:latin typeface="+mj-ea"/>
                <a:ea typeface="+mj-ea"/>
              </a:rPr>
              <a:t>Fig.8 </a:t>
            </a:r>
            <a:r>
              <a:rPr lang="ja-JP" altLang="en-US" sz="1100" b="1" dirty="0">
                <a:latin typeface="+mj-ea"/>
                <a:ea typeface="+mj-ea"/>
              </a:rPr>
              <a:t>提案手法で分類した</a:t>
            </a:r>
            <a:r>
              <a:rPr lang="en-US" altLang="ja-JP" sz="1100" b="1" dirty="0" err="1">
                <a:latin typeface="+mj-ea"/>
                <a:ea typeface="+mj-ea"/>
              </a:rPr>
              <a:t>BraVa</a:t>
            </a:r>
            <a:r>
              <a:rPr lang="ja-JP" altLang="en-US" sz="1100" b="1" dirty="0">
                <a:latin typeface="+mj-ea"/>
                <a:ea typeface="+mj-ea"/>
              </a:rPr>
              <a:t>データにおける各タイプの代表例</a:t>
            </a:r>
            <a:endParaRPr lang="en-US" sz="1100" b="1" dirty="0">
              <a:latin typeface="+mj-ea"/>
              <a:ea typeface="+mj-ea"/>
            </a:endParaRPr>
          </a:p>
        </p:txBody>
      </p:sp>
      <p:sp>
        <p:nvSpPr>
          <p:cNvPr id="27" name="文本框 26">
            <a:extLst>
              <a:ext uri="{FF2B5EF4-FFF2-40B4-BE49-F238E27FC236}">
                <a16:creationId xmlns:a16="http://schemas.microsoft.com/office/drawing/2014/main" id="{20EAE957-E37B-5B82-2263-C0F9DCDE0072}"/>
              </a:ext>
            </a:extLst>
          </p:cNvPr>
          <p:cNvSpPr txBox="1"/>
          <p:nvPr/>
        </p:nvSpPr>
        <p:spPr>
          <a:xfrm>
            <a:off x="2861214" y="2716542"/>
            <a:ext cx="3107575" cy="430887"/>
          </a:xfrm>
          <a:prstGeom prst="rect">
            <a:avLst/>
          </a:prstGeom>
          <a:noFill/>
        </p:spPr>
        <p:txBody>
          <a:bodyPr wrap="square" rtlCol="0">
            <a:spAutoFit/>
          </a:bodyPr>
          <a:lstStyle/>
          <a:p>
            <a:r>
              <a:rPr lang="en-US" altLang="ja-JP" sz="1100" b="1" dirty="0">
                <a:latin typeface="+mj-ea"/>
                <a:ea typeface="+mj-ea"/>
              </a:rPr>
              <a:t>Fig.6</a:t>
            </a:r>
            <a:r>
              <a:rPr lang="ja-JP" altLang="en-US" sz="1100" b="1" dirty="0">
                <a:latin typeface="+mj-ea"/>
                <a:ea typeface="+mj-ea"/>
              </a:rPr>
              <a:t>　サイホン中心線における幾何学的特徴</a:t>
            </a:r>
            <a:r>
              <a:rPr lang="en-US" altLang="ja-JP" sz="1100" b="1" dirty="0">
                <a:latin typeface="+mj-ea"/>
                <a:ea typeface="+mj-ea"/>
              </a:rPr>
              <a:t>CRB1</a:t>
            </a:r>
            <a:r>
              <a:rPr lang="ja-JP" altLang="en-US" sz="1100" b="1" dirty="0">
                <a:latin typeface="+mj-ea"/>
                <a:ea typeface="+mj-ea"/>
              </a:rPr>
              <a:t>、</a:t>
            </a:r>
            <a:r>
              <a:rPr lang="en-US" altLang="ja-JP" sz="1100" b="1" dirty="0">
                <a:latin typeface="+mj-ea"/>
                <a:ea typeface="+mj-ea"/>
              </a:rPr>
              <a:t>CRB2</a:t>
            </a:r>
            <a:r>
              <a:rPr lang="ja-JP" altLang="en-US" sz="1100" b="1" dirty="0">
                <a:latin typeface="+mj-ea"/>
                <a:ea typeface="+mj-ea"/>
              </a:rPr>
              <a:t>と</a:t>
            </a:r>
            <a:r>
              <a:rPr lang="en-US" altLang="ja-JP" sz="1100" b="1" dirty="0">
                <a:latin typeface="+mj-ea"/>
                <a:ea typeface="+mj-ea"/>
              </a:rPr>
              <a:t>Normal Angle</a:t>
            </a:r>
            <a:r>
              <a:rPr lang="ja-JP" altLang="en-US" sz="1100" b="1" dirty="0">
                <a:latin typeface="+mj-ea"/>
                <a:ea typeface="+mj-ea"/>
              </a:rPr>
              <a:t>の定義</a:t>
            </a:r>
            <a:endParaRPr lang="en-US" sz="1100" b="1" dirty="0">
              <a:latin typeface="+mj-ea"/>
              <a:ea typeface="+mj-ea"/>
            </a:endParaRPr>
          </a:p>
        </p:txBody>
      </p:sp>
      <p:sp>
        <p:nvSpPr>
          <p:cNvPr id="29" name="椭圆 28">
            <a:extLst>
              <a:ext uri="{FF2B5EF4-FFF2-40B4-BE49-F238E27FC236}">
                <a16:creationId xmlns:a16="http://schemas.microsoft.com/office/drawing/2014/main" id="{B3CE3776-B66F-D59A-0CBD-3EC03232C3EF}"/>
              </a:ext>
            </a:extLst>
          </p:cNvPr>
          <p:cNvSpPr/>
          <p:nvPr/>
        </p:nvSpPr>
        <p:spPr>
          <a:xfrm>
            <a:off x="1101264" y="1806079"/>
            <a:ext cx="729155" cy="330722"/>
          </a:xfrm>
          <a:prstGeom prst="ellipse">
            <a:avLst/>
          </a:prstGeom>
          <a:no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30" name="文本框 29">
            <a:extLst>
              <a:ext uri="{FF2B5EF4-FFF2-40B4-BE49-F238E27FC236}">
                <a16:creationId xmlns:a16="http://schemas.microsoft.com/office/drawing/2014/main" id="{2BECB5F9-0263-1062-7411-DB3C32F04739}"/>
              </a:ext>
            </a:extLst>
          </p:cNvPr>
          <p:cNvSpPr txBox="1"/>
          <p:nvPr/>
        </p:nvSpPr>
        <p:spPr>
          <a:xfrm>
            <a:off x="424589" y="2136801"/>
            <a:ext cx="1278511" cy="261610"/>
          </a:xfrm>
          <a:prstGeom prst="rect">
            <a:avLst/>
          </a:prstGeom>
          <a:noFill/>
        </p:spPr>
        <p:txBody>
          <a:bodyPr wrap="square" rtlCol="0">
            <a:spAutoFit/>
          </a:bodyPr>
          <a:lstStyle/>
          <a:p>
            <a:pPr algn="ctr"/>
            <a:r>
              <a:rPr lang="en-US" altLang="ja-JP" sz="1100" b="1" dirty="0">
                <a:latin typeface="+mj-ea"/>
                <a:ea typeface="+mj-ea"/>
              </a:rPr>
              <a:t>Carotid Siphon</a:t>
            </a:r>
            <a:endParaRPr lang="en-US" sz="1100" b="1" dirty="0">
              <a:latin typeface="+mj-ea"/>
              <a:ea typeface="+mj-ea"/>
            </a:endParaRPr>
          </a:p>
        </p:txBody>
      </p:sp>
      <p:graphicFrame>
        <p:nvGraphicFramePr>
          <p:cNvPr id="33" name="表格 32">
            <a:extLst>
              <a:ext uri="{FF2B5EF4-FFF2-40B4-BE49-F238E27FC236}">
                <a16:creationId xmlns:a16="http://schemas.microsoft.com/office/drawing/2014/main" id="{EB40640E-2C39-A00A-FC47-95B4147889D6}"/>
              </a:ext>
            </a:extLst>
          </p:cNvPr>
          <p:cNvGraphicFramePr>
            <a:graphicFrameLocks noGrp="1"/>
          </p:cNvGraphicFramePr>
          <p:nvPr>
            <p:extLst>
              <p:ext uri="{D42A27DB-BD31-4B8C-83A1-F6EECF244321}">
                <p14:modId xmlns:p14="http://schemas.microsoft.com/office/powerpoint/2010/main" val="2091768091"/>
              </p:ext>
            </p:extLst>
          </p:nvPr>
        </p:nvGraphicFramePr>
        <p:xfrm>
          <a:off x="6835895" y="5155682"/>
          <a:ext cx="3966686" cy="962025"/>
        </p:xfrm>
        <a:graphic>
          <a:graphicData uri="http://schemas.openxmlformats.org/drawingml/2006/table">
            <a:tbl>
              <a:tblPr>
                <a:tableStyleId>{9D7B26C5-4107-4FEC-AEDC-1716B250A1EF}</a:tableStyleId>
              </a:tblPr>
              <a:tblGrid>
                <a:gridCol w="709275">
                  <a:extLst>
                    <a:ext uri="{9D8B030D-6E8A-4147-A177-3AD203B41FA5}">
                      <a16:colId xmlns:a16="http://schemas.microsoft.com/office/drawing/2014/main" val="4264204079"/>
                    </a:ext>
                  </a:extLst>
                </a:gridCol>
                <a:gridCol w="709275">
                  <a:extLst>
                    <a:ext uri="{9D8B030D-6E8A-4147-A177-3AD203B41FA5}">
                      <a16:colId xmlns:a16="http://schemas.microsoft.com/office/drawing/2014/main" val="3156411640"/>
                    </a:ext>
                  </a:extLst>
                </a:gridCol>
                <a:gridCol w="1024508">
                  <a:extLst>
                    <a:ext uri="{9D8B030D-6E8A-4147-A177-3AD203B41FA5}">
                      <a16:colId xmlns:a16="http://schemas.microsoft.com/office/drawing/2014/main" val="2066197771"/>
                    </a:ext>
                  </a:extLst>
                </a:gridCol>
                <a:gridCol w="1523628">
                  <a:extLst>
                    <a:ext uri="{9D8B030D-6E8A-4147-A177-3AD203B41FA5}">
                      <a16:colId xmlns:a16="http://schemas.microsoft.com/office/drawing/2014/main" val="1453833080"/>
                    </a:ext>
                  </a:extLst>
                </a:gridCol>
              </a:tblGrid>
              <a:tr h="171450">
                <a:tc>
                  <a:txBody>
                    <a:bodyPr/>
                    <a:lstStyle/>
                    <a:p>
                      <a:pPr algn="ctr" fontAlgn="b">
                        <a:buNone/>
                      </a:pPr>
                      <a:r>
                        <a:rPr lang="en-US" sz="1200" b="1" u="none" strike="noStrike" dirty="0">
                          <a:effectLst/>
                          <a:latin typeface="Times New Roman" panose="02020603050405020304" pitchFamily="18" charset="0"/>
                          <a:cs typeface="Times New Roman" panose="02020603050405020304" pitchFamily="18" charset="0"/>
                        </a:rPr>
                        <a:t>Type</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b">
                        <a:buNone/>
                      </a:pPr>
                      <a:r>
                        <a:rPr lang="en-US" sz="1200" b="1" u="none" strike="noStrike">
                          <a:effectLst/>
                          <a:latin typeface="Times New Roman" panose="02020603050405020304" pitchFamily="18" charset="0"/>
                          <a:cs typeface="Times New Roman" panose="02020603050405020304" pitchFamily="18" charset="0"/>
                        </a:rPr>
                        <a:t>Count</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b">
                        <a:buNone/>
                      </a:pPr>
                      <a:r>
                        <a:rPr lang="en-US" sz="1200" b="1" u="none" strike="noStrike" dirty="0">
                          <a:effectLst/>
                          <a:latin typeface="Times New Roman" panose="02020603050405020304" pitchFamily="18" charset="0"/>
                          <a:cs typeface="Times New Roman" panose="02020603050405020304" pitchFamily="18" charset="0"/>
                        </a:rPr>
                        <a:t>%</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b">
                        <a:buNone/>
                      </a:pPr>
                      <a:r>
                        <a:rPr lang="en-US" sz="1200" u="none" strike="noStrike" dirty="0">
                          <a:effectLst/>
                          <a:latin typeface="Times New Roman" panose="02020603050405020304" pitchFamily="18" charset="0"/>
                          <a:cs typeface="Times New Roman" panose="02020603050405020304" pitchFamily="18" charset="0"/>
                        </a:rPr>
                        <a:t>Reference(Zhang) % </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3760184660"/>
                  </a:ext>
                </a:extLst>
              </a:tr>
              <a:tr h="171450">
                <a:tc>
                  <a:txBody>
                    <a:bodyPr/>
                    <a:lstStyle/>
                    <a:p>
                      <a:pPr algn="ctr" fontAlgn="b">
                        <a:buNone/>
                      </a:pPr>
                      <a:r>
                        <a:rPr lang="en-US" sz="1200" b="1" u="none" strike="noStrike" dirty="0">
                          <a:effectLst/>
                          <a:latin typeface="Times New Roman" panose="02020603050405020304" pitchFamily="18" charset="0"/>
                          <a:cs typeface="Times New Roman" panose="02020603050405020304" pitchFamily="18" charset="0"/>
                        </a:rPr>
                        <a:t>U shape</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b">
                        <a:buNone/>
                      </a:pPr>
                      <a:r>
                        <a:rPr lang="en-US" sz="1200" b="1" u="none" strike="noStrike" dirty="0">
                          <a:effectLst/>
                          <a:latin typeface="Times New Roman" panose="02020603050405020304" pitchFamily="18" charset="0"/>
                          <a:cs typeface="Times New Roman" panose="02020603050405020304" pitchFamily="18" charset="0"/>
                        </a:rPr>
                        <a:t>58</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b">
                        <a:buNone/>
                      </a:pPr>
                      <a:r>
                        <a:rPr lang="en-US" sz="1200" b="1" u="none" strike="noStrike">
                          <a:effectLst/>
                          <a:latin typeface="Times New Roman" panose="02020603050405020304" pitchFamily="18" charset="0"/>
                          <a:cs typeface="Times New Roman" panose="02020603050405020304" pitchFamily="18" charset="0"/>
                        </a:rPr>
                        <a:t>75.32</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b">
                        <a:buNone/>
                      </a:pPr>
                      <a:r>
                        <a:rPr lang="en-US" sz="1200" u="none" strike="noStrike">
                          <a:effectLst/>
                          <a:latin typeface="Times New Roman" panose="02020603050405020304" pitchFamily="18" charset="0"/>
                          <a:cs typeface="Times New Roman" panose="02020603050405020304" pitchFamily="18" charset="0"/>
                        </a:rPr>
                        <a:t>55</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884400684"/>
                  </a:ext>
                </a:extLst>
              </a:tr>
              <a:tr h="171450">
                <a:tc>
                  <a:txBody>
                    <a:bodyPr/>
                    <a:lstStyle/>
                    <a:p>
                      <a:pPr algn="ctr" fontAlgn="b">
                        <a:buNone/>
                      </a:pPr>
                      <a:r>
                        <a:rPr lang="en-US" sz="1200" b="1" u="none" strike="noStrike" dirty="0">
                          <a:effectLst/>
                          <a:latin typeface="Times New Roman" panose="02020603050405020304" pitchFamily="18" charset="0"/>
                          <a:cs typeface="Times New Roman" panose="02020603050405020304" pitchFamily="18" charset="0"/>
                        </a:rPr>
                        <a:t>V shape</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b">
                        <a:buNone/>
                      </a:pPr>
                      <a:r>
                        <a:rPr lang="en-US" sz="1200" b="1" u="none" strike="noStrike" dirty="0">
                          <a:effectLst/>
                          <a:latin typeface="Times New Roman" panose="02020603050405020304" pitchFamily="18" charset="0"/>
                          <a:cs typeface="Times New Roman" panose="02020603050405020304" pitchFamily="18" charset="0"/>
                        </a:rPr>
                        <a:t>10</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b">
                        <a:buNone/>
                      </a:pPr>
                      <a:r>
                        <a:rPr lang="en-US" sz="1200" b="1" u="none" strike="noStrike" dirty="0">
                          <a:effectLst/>
                          <a:latin typeface="Times New Roman" panose="02020603050405020304" pitchFamily="18" charset="0"/>
                          <a:cs typeface="Times New Roman" panose="02020603050405020304" pitchFamily="18" charset="0"/>
                        </a:rPr>
                        <a:t>11.69</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b">
                        <a:buNone/>
                      </a:pPr>
                      <a:r>
                        <a:rPr lang="en-US" sz="1200" u="none" strike="noStrike">
                          <a:effectLst/>
                          <a:latin typeface="Times New Roman" panose="02020603050405020304" pitchFamily="18" charset="0"/>
                          <a:cs typeface="Times New Roman" panose="02020603050405020304" pitchFamily="18" charset="0"/>
                        </a:rPr>
                        <a:t>28.33</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2856461773"/>
                  </a:ext>
                </a:extLst>
              </a:tr>
              <a:tr h="171450">
                <a:tc>
                  <a:txBody>
                    <a:bodyPr/>
                    <a:lstStyle/>
                    <a:p>
                      <a:pPr algn="ctr" fontAlgn="b">
                        <a:buNone/>
                      </a:pPr>
                      <a:r>
                        <a:rPr lang="en-US" sz="1200" b="1" u="none" strike="noStrike" dirty="0">
                          <a:effectLst/>
                          <a:latin typeface="Times New Roman" panose="02020603050405020304" pitchFamily="18" charset="0"/>
                          <a:cs typeface="Times New Roman" panose="02020603050405020304" pitchFamily="18" charset="0"/>
                        </a:rPr>
                        <a:t>C shape</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b">
                        <a:buNone/>
                      </a:pPr>
                      <a:r>
                        <a:rPr lang="en-US" sz="1200" b="1" u="none" strike="noStrike">
                          <a:effectLst/>
                          <a:latin typeface="Times New Roman" panose="02020603050405020304" pitchFamily="18" charset="0"/>
                          <a:cs typeface="Times New Roman" panose="02020603050405020304" pitchFamily="18" charset="0"/>
                        </a:rPr>
                        <a:t>4</a:t>
                      </a:r>
                      <a:endParaRPr lang="en-US" sz="12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b">
                        <a:buNone/>
                      </a:pPr>
                      <a:r>
                        <a:rPr lang="en-US" sz="1200" b="1" u="none" strike="noStrike" dirty="0">
                          <a:effectLst/>
                          <a:latin typeface="Times New Roman" panose="02020603050405020304" pitchFamily="18" charset="0"/>
                          <a:cs typeface="Times New Roman" panose="02020603050405020304" pitchFamily="18" charset="0"/>
                        </a:rPr>
                        <a:t>5.19</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b">
                        <a:buNone/>
                      </a:pPr>
                      <a:r>
                        <a:rPr lang="en-US" sz="1200" u="none" strike="noStrike">
                          <a:effectLst/>
                          <a:latin typeface="Times New Roman" panose="02020603050405020304" pitchFamily="18" charset="0"/>
                          <a:cs typeface="Times New Roman" panose="02020603050405020304" pitchFamily="18" charset="0"/>
                        </a:rPr>
                        <a:t>16.67</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3039510385"/>
                  </a:ext>
                </a:extLst>
              </a:tr>
              <a:tr h="171450">
                <a:tc>
                  <a:txBody>
                    <a:bodyPr/>
                    <a:lstStyle/>
                    <a:p>
                      <a:pPr algn="ctr" fontAlgn="b">
                        <a:buNone/>
                      </a:pPr>
                      <a:r>
                        <a:rPr lang="en-US" sz="1200" b="1" u="none" strike="noStrike" dirty="0">
                          <a:effectLst/>
                          <a:latin typeface="Times New Roman" panose="02020603050405020304" pitchFamily="18" charset="0"/>
                          <a:cs typeface="Times New Roman" panose="02020603050405020304" pitchFamily="18" charset="0"/>
                        </a:rPr>
                        <a:t>S shape</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b">
                        <a:buNone/>
                      </a:pPr>
                      <a:r>
                        <a:rPr lang="en-US" sz="1200" b="1" u="none" strike="noStrike" dirty="0">
                          <a:effectLst/>
                          <a:latin typeface="Times New Roman" panose="02020603050405020304" pitchFamily="18" charset="0"/>
                          <a:cs typeface="Times New Roman" panose="02020603050405020304" pitchFamily="18" charset="0"/>
                        </a:rPr>
                        <a:t>5</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b">
                        <a:buNone/>
                      </a:pPr>
                      <a:r>
                        <a:rPr lang="en-US" sz="1200" b="1" i="0" u="none" strike="noStrike" dirty="0">
                          <a:solidFill>
                            <a:srgbClr val="000000"/>
                          </a:solidFill>
                          <a:effectLst/>
                          <a:latin typeface="Times New Roman" panose="02020603050405020304" pitchFamily="18" charset="0"/>
                          <a:cs typeface="Times New Roman" panose="02020603050405020304" pitchFamily="18" charset="0"/>
                        </a:rPr>
                        <a:t>7.79</a:t>
                      </a:r>
                    </a:p>
                  </a:txBody>
                  <a:tcPr marL="9525" marR="9525" marT="9525" marB="0" anchor="ctr"/>
                </a:tc>
                <a:tc>
                  <a:txBody>
                    <a:bodyPr/>
                    <a:lstStyle/>
                    <a:p>
                      <a:pPr algn="ctr" fontAlgn="b">
                        <a:buNone/>
                      </a:pPr>
                      <a:r>
                        <a:rPr lang="en-US" sz="1200" u="none" strike="noStrike" dirty="0">
                          <a:effectLst/>
                          <a:latin typeface="Times New Roman" panose="02020603050405020304" pitchFamily="18" charset="0"/>
                          <a:cs typeface="Times New Roman" panose="02020603050405020304" pitchFamily="18" charset="0"/>
                        </a:rPr>
                        <a:t>0</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481971116"/>
                  </a:ext>
                </a:extLst>
              </a:tr>
            </a:tbl>
          </a:graphicData>
        </a:graphic>
      </p:graphicFrame>
      <p:sp>
        <p:nvSpPr>
          <p:cNvPr id="34" name="文本框 33">
            <a:extLst>
              <a:ext uri="{FF2B5EF4-FFF2-40B4-BE49-F238E27FC236}">
                <a16:creationId xmlns:a16="http://schemas.microsoft.com/office/drawing/2014/main" id="{0F96A205-23DA-DBB1-9AC8-6731E9E30E46}"/>
              </a:ext>
            </a:extLst>
          </p:cNvPr>
          <p:cNvSpPr txBox="1"/>
          <p:nvPr/>
        </p:nvSpPr>
        <p:spPr>
          <a:xfrm>
            <a:off x="8180354" y="3773411"/>
            <a:ext cx="3780145" cy="261610"/>
          </a:xfrm>
          <a:prstGeom prst="rect">
            <a:avLst/>
          </a:prstGeom>
          <a:noFill/>
        </p:spPr>
        <p:txBody>
          <a:bodyPr wrap="square" rtlCol="0">
            <a:spAutoFit/>
          </a:bodyPr>
          <a:lstStyle/>
          <a:p>
            <a:r>
              <a:rPr lang="en-US" altLang="ja-JP" sz="1100" b="1" dirty="0">
                <a:latin typeface="+mj-ea"/>
                <a:ea typeface="+mj-ea"/>
              </a:rPr>
              <a:t>Fig.7</a:t>
            </a:r>
            <a:r>
              <a:rPr lang="ja-JP" altLang="en-US" sz="1100" b="1" dirty="0">
                <a:latin typeface="+mj-ea"/>
                <a:ea typeface="+mj-ea"/>
              </a:rPr>
              <a:t>　</a:t>
            </a:r>
            <a:r>
              <a:rPr lang="en-US" altLang="ja-JP" sz="1100" b="1" dirty="0">
                <a:latin typeface="+mj-ea"/>
                <a:ea typeface="+mj-ea"/>
              </a:rPr>
              <a:t>CRB1,CRB2, </a:t>
            </a:r>
            <a:r>
              <a:rPr lang="en-US" altLang="ja-JP" sz="1100" b="1" dirty="0" err="1">
                <a:latin typeface="+mj-ea"/>
                <a:ea typeface="+mj-ea"/>
              </a:rPr>
              <a:t>NormalAngle</a:t>
            </a:r>
            <a:r>
              <a:rPr lang="ja-JP" altLang="en-US" sz="1100" b="1" dirty="0">
                <a:latin typeface="+mj-ea"/>
                <a:ea typeface="+mj-ea"/>
              </a:rPr>
              <a:t>による分類の流れ</a:t>
            </a:r>
            <a:endParaRPr lang="en-US" sz="1100" b="1" dirty="0">
              <a:latin typeface="+mj-ea"/>
              <a:ea typeface="+mj-ea"/>
            </a:endParaRPr>
          </a:p>
        </p:txBody>
      </p:sp>
      <p:sp>
        <p:nvSpPr>
          <p:cNvPr id="35" name="文本框 34">
            <a:extLst>
              <a:ext uri="{FF2B5EF4-FFF2-40B4-BE49-F238E27FC236}">
                <a16:creationId xmlns:a16="http://schemas.microsoft.com/office/drawing/2014/main" id="{F649C9FA-673E-7039-4430-CA33410D4D13}"/>
              </a:ext>
            </a:extLst>
          </p:cNvPr>
          <p:cNvSpPr txBox="1"/>
          <p:nvPr/>
        </p:nvSpPr>
        <p:spPr>
          <a:xfrm>
            <a:off x="6835895" y="4751178"/>
            <a:ext cx="3780145" cy="430887"/>
          </a:xfrm>
          <a:prstGeom prst="rect">
            <a:avLst/>
          </a:prstGeom>
          <a:noFill/>
        </p:spPr>
        <p:txBody>
          <a:bodyPr wrap="square" rtlCol="0">
            <a:spAutoFit/>
          </a:bodyPr>
          <a:lstStyle/>
          <a:p>
            <a:pPr algn="ctr"/>
            <a:r>
              <a:rPr lang="en-US" altLang="ja-JP" sz="1100" b="1" dirty="0">
                <a:latin typeface="+mj-ea"/>
                <a:ea typeface="+mj-ea"/>
              </a:rPr>
              <a:t>Tab.</a:t>
            </a:r>
            <a:r>
              <a:rPr lang="en-US" altLang="zh-CN" sz="1100" b="1" dirty="0">
                <a:latin typeface="+mj-ea"/>
                <a:ea typeface="+mj-ea"/>
              </a:rPr>
              <a:t>2</a:t>
            </a:r>
            <a:r>
              <a:rPr lang="en-US" altLang="ja-JP" sz="1100" b="1" dirty="0">
                <a:latin typeface="+mj-ea"/>
                <a:ea typeface="+mj-ea"/>
              </a:rPr>
              <a:t> </a:t>
            </a:r>
            <a:r>
              <a:rPr lang="en-US" altLang="ja-JP" sz="1100" b="1" dirty="0" err="1">
                <a:latin typeface="+mj-ea"/>
                <a:ea typeface="+mj-ea"/>
              </a:rPr>
              <a:t>BraVa</a:t>
            </a:r>
            <a:r>
              <a:rPr lang="ja-JP" altLang="en-US" sz="1100" b="1" dirty="0">
                <a:latin typeface="+mj-ea"/>
                <a:ea typeface="+mj-ea"/>
              </a:rPr>
              <a:t>データにおける分類結果と</a:t>
            </a:r>
            <a:r>
              <a:rPr lang="ja-JP" altLang="en-US" sz="1100" b="1">
                <a:latin typeface="+mj-ea"/>
                <a:ea typeface="+mj-ea"/>
              </a:rPr>
              <a:t>参考値（</a:t>
            </a:r>
            <a:r>
              <a:rPr lang="en-US" altLang="ja-JP" sz="1100" b="1" dirty="0">
                <a:latin typeface="+mj-ea"/>
                <a:ea typeface="+mj-ea"/>
              </a:rPr>
              <a:t>Reference</a:t>
            </a:r>
            <a:r>
              <a:rPr lang="ja-JP" altLang="en-US" sz="1100" b="1">
                <a:latin typeface="+mj-ea"/>
                <a:ea typeface="+mj-ea"/>
              </a:rPr>
              <a:t>は他</a:t>
            </a:r>
            <a:r>
              <a:rPr lang="ja-JP" altLang="en-US" sz="1100" b="1" dirty="0">
                <a:latin typeface="+mj-ea"/>
                <a:ea typeface="+mj-ea"/>
              </a:rPr>
              <a:t>データセット使用）</a:t>
            </a:r>
            <a:endParaRPr lang="en-US" sz="1100" b="1" dirty="0">
              <a:latin typeface="+mj-ea"/>
              <a:ea typeface="+mj-ea"/>
            </a:endParaRPr>
          </a:p>
        </p:txBody>
      </p:sp>
      <p:sp>
        <p:nvSpPr>
          <p:cNvPr id="36" name="文本框 35">
            <a:extLst>
              <a:ext uri="{FF2B5EF4-FFF2-40B4-BE49-F238E27FC236}">
                <a16:creationId xmlns:a16="http://schemas.microsoft.com/office/drawing/2014/main" id="{9B55DA36-7C35-3EA5-2788-11CCCE9811D5}"/>
              </a:ext>
            </a:extLst>
          </p:cNvPr>
          <p:cNvSpPr txBox="1"/>
          <p:nvPr/>
        </p:nvSpPr>
        <p:spPr>
          <a:xfrm>
            <a:off x="2548941" y="1366232"/>
            <a:ext cx="1107996" cy="230832"/>
          </a:xfrm>
          <a:prstGeom prst="rect">
            <a:avLst/>
          </a:prstGeom>
          <a:noFill/>
        </p:spPr>
        <p:txBody>
          <a:bodyPr wrap="none" rtlCol="0">
            <a:spAutoFit/>
          </a:bodyPr>
          <a:lstStyle/>
          <a:p>
            <a:r>
              <a:rPr lang="ja-JP" altLang="en-US" sz="900">
                <a:latin typeface="メイリオ" panose="020B0604030504040204" pitchFamily="50" charset="-128"/>
                <a:ea typeface="メイリオ" panose="020B0604030504040204" pitchFamily="50" charset="-128"/>
              </a:rPr>
              <a:t>遠心端曲率ピーク</a:t>
            </a:r>
            <a:endParaRPr lang="en-US" sz="900" dirty="0">
              <a:latin typeface="メイリオ" panose="020B0604030504040204" pitchFamily="50" charset="-128"/>
              <a:ea typeface="メイリオ" panose="020B0604030504040204" pitchFamily="50" charset="-128"/>
            </a:endParaRPr>
          </a:p>
        </p:txBody>
      </p:sp>
      <p:sp>
        <p:nvSpPr>
          <p:cNvPr id="37" name="文本框 36">
            <a:extLst>
              <a:ext uri="{FF2B5EF4-FFF2-40B4-BE49-F238E27FC236}">
                <a16:creationId xmlns:a16="http://schemas.microsoft.com/office/drawing/2014/main" id="{FE0B5AC4-5758-B4A8-8BA0-39701EC7AFBF}"/>
              </a:ext>
            </a:extLst>
          </p:cNvPr>
          <p:cNvSpPr txBox="1"/>
          <p:nvPr/>
        </p:nvSpPr>
        <p:spPr>
          <a:xfrm>
            <a:off x="2927916" y="2464893"/>
            <a:ext cx="1107996" cy="230832"/>
          </a:xfrm>
          <a:prstGeom prst="rect">
            <a:avLst/>
          </a:prstGeom>
          <a:noFill/>
        </p:spPr>
        <p:txBody>
          <a:bodyPr wrap="none" rtlCol="0">
            <a:spAutoFit/>
          </a:bodyPr>
          <a:lstStyle/>
          <a:p>
            <a:r>
              <a:rPr lang="ja-JP" altLang="en-US" sz="900">
                <a:latin typeface="メイリオ" panose="020B0604030504040204" pitchFamily="50" charset="-128"/>
                <a:ea typeface="メイリオ" panose="020B0604030504040204" pitchFamily="50" charset="-128"/>
              </a:rPr>
              <a:t>近心端曲率ピーク</a:t>
            </a:r>
            <a:endParaRPr lang="en-US" sz="900" dirty="0">
              <a:latin typeface="メイリオ" panose="020B0604030504040204" pitchFamily="50" charset="-128"/>
              <a:ea typeface="メイリオ" panose="020B0604030504040204" pitchFamily="50" charset="-128"/>
            </a:endParaRPr>
          </a:p>
        </p:txBody>
      </p:sp>
      <p:sp>
        <p:nvSpPr>
          <p:cNvPr id="5" name="文本占位符 4">
            <a:extLst>
              <a:ext uri="{FF2B5EF4-FFF2-40B4-BE49-F238E27FC236}">
                <a16:creationId xmlns:a16="http://schemas.microsoft.com/office/drawing/2014/main" id="{67DF8BF8-C969-FBCA-9456-36F3E3193498}"/>
              </a:ext>
            </a:extLst>
          </p:cNvPr>
          <p:cNvSpPr>
            <a:spLocks noGrp="1"/>
          </p:cNvSpPr>
          <p:nvPr>
            <p:ph type="body" sz="quarter" idx="12"/>
          </p:nvPr>
        </p:nvSpPr>
        <p:spPr>
          <a:xfrm>
            <a:off x="506381" y="3294615"/>
            <a:ext cx="8312857" cy="1287661"/>
          </a:xfrm>
        </p:spPr>
        <p:txBody>
          <a:bodyPr/>
          <a:lstStyle/>
          <a:p>
            <a:r>
              <a:rPr lang="ja-JP" altLang="en-US" dirty="0"/>
              <a:t>公開データベース</a:t>
            </a:r>
            <a:r>
              <a:rPr lang="en-US" altLang="ja-JP" dirty="0" err="1"/>
              <a:t>BraVa</a:t>
            </a:r>
            <a:r>
              <a:rPr lang="ja-JP" altLang="en-US" dirty="0"/>
              <a:t>の</a:t>
            </a:r>
            <a:r>
              <a:rPr lang="en-US" altLang="ja-JP" dirty="0"/>
              <a:t>77</a:t>
            </a:r>
            <a:r>
              <a:rPr lang="ja-JP" altLang="en-US" dirty="0"/>
              <a:t>例内頸動脈</a:t>
            </a:r>
            <a:r>
              <a:rPr lang="ja-JP" altLang="en-US"/>
              <a:t>中心線を使用</a:t>
            </a:r>
            <a:endParaRPr lang="en-US" altLang="ja-JP" dirty="0"/>
          </a:p>
          <a:p>
            <a:r>
              <a:rPr lang="ja-JP" altLang="en-US" dirty="0"/>
              <a:t>幾何学的特徴から解剖学的分類（</a:t>
            </a:r>
            <a:r>
              <a:rPr lang="en-US" altLang="ja-JP" dirty="0"/>
              <a:t>Zhang</a:t>
            </a:r>
            <a:r>
              <a:rPr lang="ja-JP" altLang="en-US" dirty="0"/>
              <a:t>ら</a:t>
            </a:r>
            <a:r>
              <a:rPr lang="en-US" altLang="ja-JP" dirty="0"/>
              <a:t>, Lin</a:t>
            </a:r>
            <a:r>
              <a:rPr lang="ja-JP" altLang="en-US" dirty="0"/>
              <a:t>ら）を推定</a:t>
            </a:r>
            <a:endParaRPr lang="en-US" altLang="ja-JP" dirty="0"/>
          </a:p>
          <a:p>
            <a:r>
              <a:rPr lang="ja-JP" altLang="en-US" dirty="0"/>
              <a:t>データの分布は先行研究の参考値と似た傾向（</a:t>
            </a:r>
            <a:r>
              <a:rPr lang="en-US" altLang="ja-JP" dirty="0"/>
              <a:t>U&gt;V&gt;C</a:t>
            </a:r>
            <a:r>
              <a:rPr lang="ja-JP" altLang="en-US" dirty="0"/>
              <a:t>）が得られた（</a:t>
            </a:r>
            <a:r>
              <a:rPr lang="en-US" altLang="ja-JP" dirty="0"/>
              <a:t>Tab.2</a:t>
            </a:r>
            <a:r>
              <a:rPr lang="ja-JP" altLang="en-US" dirty="0"/>
              <a:t>）</a:t>
            </a:r>
            <a:endParaRPr lang="en-US" altLang="ja-JP" dirty="0"/>
          </a:p>
          <a:p>
            <a:endParaRPr lang="en-US" altLang="ja-JP" dirty="0"/>
          </a:p>
        </p:txBody>
      </p:sp>
      <p:sp>
        <p:nvSpPr>
          <p:cNvPr id="15" name="TextBox 14">
            <a:extLst>
              <a:ext uri="{FF2B5EF4-FFF2-40B4-BE49-F238E27FC236}">
                <a16:creationId xmlns:a16="http://schemas.microsoft.com/office/drawing/2014/main" id="{D44D150E-5D63-C73E-399C-25F59EF3E757}"/>
              </a:ext>
            </a:extLst>
          </p:cNvPr>
          <p:cNvSpPr txBox="1"/>
          <p:nvPr/>
        </p:nvSpPr>
        <p:spPr>
          <a:xfrm>
            <a:off x="77372" y="6553504"/>
            <a:ext cx="6096000" cy="369332"/>
          </a:xfrm>
          <a:prstGeom prst="rect">
            <a:avLst/>
          </a:prstGeom>
          <a:noFill/>
        </p:spPr>
        <p:txBody>
          <a:bodyPr wrap="square">
            <a:spAutoFit/>
          </a:bodyPr>
          <a:lstStyle/>
          <a:p>
            <a:r>
              <a:rPr lang="en-US" sz="900" b="0" i="0" dirty="0">
                <a:solidFill>
                  <a:srgbClr val="222222"/>
                </a:solidFill>
                <a:effectLst/>
                <a:latin typeface="Arial" panose="020B0604020202020204" pitchFamily="34" charset="0"/>
              </a:rPr>
              <a:t>Zhang, Chi, et al. "Geometric classification of the carotid siphon: association between geometry and stenoses." </a:t>
            </a:r>
            <a:r>
              <a:rPr lang="en-US" sz="900" b="0" i="1" dirty="0">
                <a:solidFill>
                  <a:srgbClr val="222222"/>
                </a:solidFill>
                <a:effectLst/>
                <a:latin typeface="Arial" panose="020B0604020202020204" pitchFamily="34" charset="0"/>
              </a:rPr>
              <a:t>Surgical and radiologic anatomy</a:t>
            </a:r>
            <a:r>
              <a:rPr lang="en-US" sz="900" b="0" i="0" dirty="0">
                <a:solidFill>
                  <a:srgbClr val="222222"/>
                </a:solidFill>
                <a:effectLst/>
                <a:latin typeface="Arial" panose="020B0604020202020204" pitchFamily="34" charset="0"/>
              </a:rPr>
              <a:t> 35.5 (2013): 385-394.</a:t>
            </a:r>
            <a:endParaRPr lang="en-JP" sz="900" dirty="0"/>
          </a:p>
        </p:txBody>
      </p:sp>
      <p:sp>
        <p:nvSpPr>
          <p:cNvPr id="8" name="文本框 7">
            <a:extLst>
              <a:ext uri="{FF2B5EF4-FFF2-40B4-BE49-F238E27FC236}">
                <a16:creationId xmlns:a16="http://schemas.microsoft.com/office/drawing/2014/main" id="{8B885364-B435-B205-0361-F08B35AD9019}"/>
              </a:ext>
            </a:extLst>
          </p:cNvPr>
          <p:cNvSpPr txBox="1"/>
          <p:nvPr/>
        </p:nvSpPr>
        <p:spPr>
          <a:xfrm>
            <a:off x="9831388" y="954099"/>
            <a:ext cx="2060179" cy="261610"/>
          </a:xfrm>
          <a:prstGeom prst="rect">
            <a:avLst/>
          </a:prstGeom>
          <a:noFill/>
        </p:spPr>
        <p:txBody>
          <a:bodyPr wrap="none" rtlCol="0">
            <a:spAutoFit/>
          </a:bodyPr>
          <a:lstStyle/>
          <a:p>
            <a:r>
              <a:rPr lang="ja-JP" altLang="en-US" sz="1100" dirty="0"/>
              <a:t>資料提供：</a:t>
            </a:r>
            <a:r>
              <a:rPr lang="en-US" altLang="ja-JP" sz="1100" dirty="0"/>
              <a:t>Feng </a:t>
            </a:r>
            <a:r>
              <a:rPr lang="en-US" altLang="ja-JP" sz="1100" dirty="0" err="1"/>
              <a:t>Jianqing</a:t>
            </a:r>
            <a:r>
              <a:rPr lang="ja-JP" altLang="en-US" sz="1100" dirty="0"/>
              <a:t>さん</a:t>
            </a:r>
            <a:endParaRPr lang="en-US" sz="1100" dirty="0"/>
          </a:p>
        </p:txBody>
      </p:sp>
      <p:sp>
        <p:nvSpPr>
          <p:cNvPr id="16" name="文本框 29">
            <a:extLst>
              <a:ext uri="{FF2B5EF4-FFF2-40B4-BE49-F238E27FC236}">
                <a16:creationId xmlns:a16="http://schemas.microsoft.com/office/drawing/2014/main" id="{522454BA-5F5E-848B-6D47-1E4C543973B0}"/>
              </a:ext>
            </a:extLst>
          </p:cNvPr>
          <p:cNvSpPr txBox="1"/>
          <p:nvPr/>
        </p:nvSpPr>
        <p:spPr>
          <a:xfrm>
            <a:off x="1180173" y="2872895"/>
            <a:ext cx="1364916" cy="261610"/>
          </a:xfrm>
          <a:prstGeom prst="rect">
            <a:avLst/>
          </a:prstGeom>
          <a:noFill/>
        </p:spPr>
        <p:txBody>
          <a:bodyPr wrap="square" rtlCol="0">
            <a:spAutoFit/>
          </a:bodyPr>
          <a:lstStyle/>
          <a:p>
            <a:pPr algn="ctr"/>
            <a:r>
              <a:rPr lang="en-US" sz="1100" b="1" dirty="0" err="1">
                <a:latin typeface="+mj-ea"/>
                <a:ea typeface="+mj-ea"/>
              </a:rPr>
              <a:t>内頸動脈（ICA</a:t>
            </a:r>
            <a:r>
              <a:rPr lang="en-US" sz="1100" b="1" dirty="0">
                <a:latin typeface="+mj-ea"/>
                <a:ea typeface="+mj-ea"/>
              </a:rPr>
              <a:t>）</a:t>
            </a:r>
          </a:p>
        </p:txBody>
      </p:sp>
      <p:sp>
        <p:nvSpPr>
          <p:cNvPr id="18" name="文本框 29">
            <a:extLst>
              <a:ext uri="{FF2B5EF4-FFF2-40B4-BE49-F238E27FC236}">
                <a16:creationId xmlns:a16="http://schemas.microsoft.com/office/drawing/2014/main" id="{D103B2BE-489D-6594-179D-381A7EEAB5F6}"/>
              </a:ext>
            </a:extLst>
          </p:cNvPr>
          <p:cNvSpPr txBox="1"/>
          <p:nvPr/>
        </p:nvSpPr>
        <p:spPr>
          <a:xfrm>
            <a:off x="1843607" y="1018092"/>
            <a:ext cx="1565101" cy="261610"/>
          </a:xfrm>
          <a:prstGeom prst="rect">
            <a:avLst/>
          </a:prstGeom>
          <a:noFill/>
        </p:spPr>
        <p:txBody>
          <a:bodyPr wrap="square" rtlCol="0">
            <a:spAutoFit/>
          </a:bodyPr>
          <a:lstStyle/>
          <a:p>
            <a:pPr algn="ctr"/>
            <a:r>
              <a:rPr lang="en-US" sz="1100" b="1" dirty="0" err="1">
                <a:latin typeface="+mj-ea"/>
                <a:ea typeface="+mj-ea"/>
              </a:rPr>
              <a:t>中大脳動脈（MCA</a:t>
            </a:r>
            <a:r>
              <a:rPr lang="en-US" sz="1100" b="1" dirty="0">
                <a:latin typeface="+mj-ea"/>
                <a:ea typeface="+mj-ea"/>
              </a:rPr>
              <a:t>）</a:t>
            </a:r>
          </a:p>
        </p:txBody>
      </p:sp>
    </p:spTree>
    <p:extLst>
      <p:ext uri="{BB962C8B-B14F-4D97-AF65-F5344CB8AC3E}">
        <p14:creationId xmlns:p14="http://schemas.microsoft.com/office/powerpoint/2010/main" val="617060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4D66A5-AC6C-3B0C-E669-A92F81040CCA}"/>
              </a:ext>
            </a:extLst>
          </p:cNvPr>
          <p:cNvSpPr>
            <a:spLocks noGrp="1"/>
          </p:cNvSpPr>
          <p:nvPr>
            <p:ph type="title"/>
          </p:nvPr>
        </p:nvSpPr>
        <p:spPr/>
        <p:txBody>
          <a:bodyPr/>
          <a:lstStyle/>
          <a:p>
            <a:r>
              <a:rPr lang="ja-JP" altLang="en-US" dirty="0"/>
              <a:t>内頚動脈中心線の主成分分析</a:t>
            </a:r>
            <a:endParaRPr lang="en-US" dirty="0"/>
          </a:p>
        </p:txBody>
      </p:sp>
      <p:sp>
        <p:nvSpPr>
          <p:cNvPr id="3" name="页脚占位符 2">
            <a:extLst>
              <a:ext uri="{FF2B5EF4-FFF2-40B4-BE49-F238E27FC236}">
                <a16:creationId xmlns:a16="http://schemas.microsoft.com/office/drawing/2014/main" id="{66B7ADB8-CB94-5671-B429-CF2B78520BD9}"/>
              </a:ext>
            </a:extLst>
          </p:cNvPr>
          <p:cNvSpPr>
            <a:spLocks noGrp="1"/>
          </p:cNvSpPr>
          <p:nvPr>
            <p:ph type="ftr" sz="quarter" idx="10"/>
          </p:nvPr>
        </p:nvSpPr>
        <p:spPr/>
        <p:txBody>
          <a:bodyPr/>
          <a:lstStyle/>
          <a:p>
            <a:endParaRPr lang="en-US"/>
          </a:p>
        </p:txBody>
      </p:sp>
      <p:sp>
        <p:nvSpPr>
          <p:cNvPr id="4" name="灯片编号占位符 3">
            <a:extLst>
              <a:ext uri="{FF2B5EF4-FFF2-40B4-BE49-F238E27FC236}">
                <a16:creationId xmlns:a16="http://schemas.microsoft.com/office/drawing/2014/main" id="{A9B66808-0A6E-DAC8-8FC6-AA13C5034692}"/>
              </a:ext>
            </a:extLst>
          </p:cNvPr>
          <p:cNvSpPr>
            <a:spLocks noGrp="1"/>
          </p:cNvSpPr>
          <p:nvPr>
            <p:ph type="sldNum" sz="quarter" idx="11"/>
          </p:nvPr>
        </p:nvSpPr>
        <p:spPr/>
        <p:txBody>
          <a:bodyPr/>
          <a:lstStyle/>
          <a:p>
            <a:fld id="{E2B18E97-1989-4D85-BA90-17B226C62452}" type="slidenum">
              <a:rPr lang="en-US" smtClean="0"/>
              <a:pPr/>
              <a:t>8</a:t>
            </a:fld>
            <a:endParaRPr lang="en-US"/>
          </a:p>
        </p:txBody>
      </p:sp>
      <p:sp>
        <p:nvSpPr>
          <p:cNvPr id="5" name="文本占位符 4">
            <a:extLst>
              <a:ext uri="{FF2B5EF4-FFF2-40B4-BE49-F238E27FC236}">
                <a16:creationId xmlns:a16="http://schemas.microsoft.com/office/drawing/2014/main" id="{9B18B386-DD66-EC00-6F17-9169CDD75510}"/>
              </a:ext>
            </a:extLst>
          </p:cNvPr>
          <p:cNvSpPr>
            <a:spLocks noGrp="1"/>
          </p:cNvSpPr>
          <p:nvPr>
            <p:ph type="body" sz="quarter" idx="12"/>
          </p:nvPr>
        </p:nvSpPr>
        <p:spPr>
          <a:xfrm>
            <a:off x="766763" y="1268413"/>
            <a:ext cx="7021941" cy="5039736"/>
          </a:xfrm>
        </p:spPr>
        <p:txBody>
          <a:bodyPr/>
          <a:lstStyle/>
          <a:p>
            <a:pPr marL="0" indent="0">
              <a:buNone/>
            </a:pPr>
            <a:r>
              <a:rPr lang="ja-JP" altLang="en-US" dirty="0"/>
              <a:t>内頸動脈サイホン部中心線の</a:t>
            </a:r>
            <a:r>
              <a:rPr lang="en-US" altLang="ja-JP" dirty="0"/>
              <a:t>3</a:t>
            </a:r>
            <a:r>
              <a:rPr lang="ja-JP" altLang="en-US" dirty="0"/>
              <a:t>次元座標の主成分分析</a:t>
            </a:r>
            <a:endParaRPr lang="en-US" altLang="ja-JP" dirty="0"/>
          </a:p>
          <a:p>
            <a:r>
              <a:rPr lang="en-US" altLang="ja-JP" dirty="0"/>
              <a:t>PC3</a:t>
            </a:r>
            <a:r>
              <a:rPr lang="ja-JP" altLang="en-US" dirty="0"/>
              <a:t>まで累積寄与率</a:t>
            </a:r>
            <a:r>
              <a:rPr lang="en-US" altLang="ja-JP" dirty="0"/>
              <a:t>&gt;90%</a:t>
            </a:r>
            <a:r>
              <a:rPr lang="ja-JP" altLang="en-US" dirty="0"/>
              <a:t>、</a:t>
            </a:r>
            <a:r>
              <a:rPr lang="en-US" altLang="ja-JP" dirty="0"/>
              <a:t>PC7</a:t>
            </a:r>
            <a:r>
              <a:rPr lang="ja-JP" altLang="en-US" dirty="0"/>
              <a:t>で</a:t>
            </a:r>
            <a:r>
              <a:rPr lang="en-US" altLang="ja-JP" dirty="0"/>
              <a:t>&gt;99%</a:t>
            </a:r>
          </a:p>
          <a:p>
            <a:endParaRPr lang="en-US" altLang="ja-JP" dirty="0"/>
          </a:p>
          <a:p>
            <a:endParaRPr lang="en-US" altLang="ja-JP" dirty="0"/>
          </a:p>
          <a:p>
            <a:pPr marL="0" indent="0">
              <a:buNone/>
            </a:pPr>
            <a:endParaRPr lang="en-US" altLang="ja-JP" dirty="0"/>
          </a:p>
          <a:p>
            <a:pPr marL="0" indent="0">
              <a:buNone/>
            </a:pPr>
            <a:r>
              <a:rPr lang="ja-JP" altLang="en-US" sz="1600"/>
              <a:t>➡︎平均長さ</a:t>
            </a:r>
            <a:r>
              <a:rPr lang="en-US" altLang="ja-JP" sz="1600" dirty="0"/>
              <a:t>25mm</a:t>
            </a:r>
            <a:r>
              <a:rPr lang="ja-JP" altLang="en-US" sz="1600"/>
              <a:t>のサイホン部バリエーションは</a:t>
            </a:r>
            <a:r>
              <a:rPr lang="en-US" altLang="ja-JP" sz="1600" dirty="0"/>
              <a:t>3〜8</a:t>
            </a:r>
            <a:r>
              <a:rPr lang="ja-JP" altLang="en-US" sz="1600"/>
              <a:t>成分で表せる</a:t>
            </a:r>
            <a:endParaRPr lang="en-US" altLang="ja-JP" sz="1600" dirty="0"/>
          </a:p>
          <a:p>
            <a:pPr marL="0" indent="0">
              <a:buNone/>
            </a:pPr>
            <a:r>
              <a:rPr lang="en-US" altLang="ja-JP" dirty="0"/>
              <a:t>2</a:t>
            </a:r>
            <a:r>
              <a:rPr lang="ja-JP" altLang="en-US" dirty="0"/>
              <a:t>～</a:t>
            </a:r>
            <a:r>
              <a:rPr lang="en-US" altLang="ja-JP" dirty="0"/>
              <a:t>4</a:t>
            </a:r>
            <a:r>
              <a:rPr lang="ja-JP" altLang="en-US" dirty="0"/>
              <a:t>ボクセル内の再構成誤差</a:t>
            </a:r>
            <a:endParaRPr lang="en-US" altLang="ja-JP" dirty="0"/>
          </a:p>
          <a:p>
            <a:r>
              <a:rPr lang="ja-JP" altLang="en-US" sz="1600" dirty="0"/>
              <a:t>用いられた</a:t>
            </a:r>
            <a:r>
              <a:rPr lang="en-US" altLang="ja-JP" sz="1600" dirty="0"/>
              <a:t>MRA</a:t>
            </a:r>
            <a:r>
              <a:rPr lang="ja-JP" altLang="en-US" sz="1600" dirty="0"/>
              <a:t>解像度は</a:t>
            </a:r>
            <a:r>
              <a:rPr lang="en-US" altLang="ja-JP" sz="1600" dirty="0"/>
              <a:t>0.62mm</a:t>
            </a:r>
            <a:r>
              <a:rPr lang="ja-JP" altLang="en-US" sz="1600" dirty="0"/>
              <a:t>に対して、</a:t>
            </a:r>
            <a:r>
              <a:rPr lang="en-US" altLang="ja-JP" sz="1600" dirty="0"/>
              <a:t>PC3</a:t>
            </a:r>
            <a:r>
              <a:rPr lang="ja-JP" altLang="en-US" sz="1600"/>
              <a:t>まで用いてサイホン部中心</a:t>
            </a:r>
            <a:r>
              <a:rPr lang="ja-JP" altLang="en-US" sz="1600" dirty="0"/>
              <a:t>線を再構成する場合の</a:t>
            </a:r>
            <a:r>
              <a:rPr lang="en-US" altLang="ja-JP" sz="1600" dirty="0"/>
              <a:t>MSE=2.31</a:t>
            </a:r>
            <a:r>
              <a:rPr lang="ja-JP" altLang="en-US" sz="1600" dirty="0"/>
              <a:t>～</a:t>
            </a:r>
            <a:r>
              <a:rPr lang="en-US" altLang="ja-JP" sz="1600" dirty="0"/>
              <a:t>mm</a:t>
            </a:r>
            <a:r>
              <a:rPr lang="ja-JP" altLang="en-US" sz="1600" dirty="0"/>
              <a:t>、</a:t>
            </a:r>
            <a:r>
              <a:rPr lang="en-US" altLang="ja-JP" sz="1600" dirty="0"/>
              <a:t>PC8</a:t>
            </a:r>
            <a:r>
              <a:rPr lang="ja-JP" altLang="en-US" sz="1600" dirty="0"/>
              <a:t>まで用いると</a:t>
            </a:r>
            <a:r>
              <a:rPr lang="en-US" altLang="ja-JP" sz="1600" dirty="0"/>
              <a:t>1.08</a:t>
            </a:r>
            <a:r>
              <a:rPr lang="ja-JP" altLang="en-US" sz="1600" dirty="0"/>
              <a:t>～</a:t>
            </a:r>
            <a:r>
              <a:rPr lang="en-US" altLang="ja-JP" sz="1600" dirty="0"/>
              <a:t>mm</a:t>
            </a:r>
          </a:p>
          <a:p>
            <a:endParaRPr lang="en-US" altLang="ja-JP" dirty="0"/>
          </a:p>
          <a:p>
            <a:pPr marL="0" indent="0">
              <a:buNone/>
            </a:pPr>
            <a:r>
              <a:rPr lang="ja-JP" altLang="en-US"/>
              <a:t>低次主成分と解剖学的</a:t>
            </a:r>
            <a:r>
              <a:rPr lang="ja-JP" altLang="en-US" dirty="0"/>
              <a:t>タイプ（</a:t>
            </a:r>
            <a:r>
              <a:rPr lang="en-US" altLang="ja-JP" dirty="0"/>
              <a:t>U/V/C/S</a:t>
            </a:r>
            <a:r>
              <a:rPr lang="ja-JP" altLang="en-US" dirty="0"/>
              <a:t>）との相関関係</a:t>
            </a:r>
            <a:endParaRPr lang="en-US" altLang="ja-JP" dirty="0"/>
          </a:p>
          <a:p>
            <a:r>
              <a:rPr lang="en-US" altLang="ja-JP" dirty="0"/>
              <a:t>PC1</a:t>
            </a:r>
            <a:r>
              <a:rPr lang="ja-JP" altLang="en-US" dirty="0"/>
              <a:t>ー</a:t>
            </a:r>
            <a:r>
              <a:rPr lang="en-US" altLang="ja-JP" dirty="0"/>
              <a:t>PC2</a:t>
            </a:r>
            <a:r>
              <a:rPr lang="ja-JP" altLang="en-US" dirty="0"/>
              <a:t>平面において</a:t>
            </a:r>
            <a:r>
              <a:rPr lang="en-US" altLang="ja-JP" dirty="0"/>
              <a:t>V/C</a:t>
            </a:r>
            <a:r>
              <a:rPr lang="ja-JP" altLang="en-US" dirty="0"/>
              <a:t>タイプのクラスタが見られた</a:t>
            </a:r>
            <a:endParaRPr lang="en-US" altLang="ja-JP" dirty="0"/>
          </a:p>
          <a:p>
            <a:pPr marL="0" indent="0">
              <a:buNone/>
            </a:pPr>
            <a:endParaRPr lang="en-US" dirty="0"/>
          </a:p>
        </p:txBody>
      </p:sp>
      <p:sp>
        <p:nvSpPr>
          <p:cNvPr id="6" name="文本占位符 5">
            <a:extLst>
              <a:ext uri="{FF2B5EF4-FFF2-40B4-BE49-F238E27FC236}">
                <a16:creationId xmlns:a16="http://schemas.microsoft.com/office/drawing/2014/main" id="{9460138B-C960-37AF-0BD3-C9813E7A3906}"/>
              </a:ext>
            </a:extLst>
          </p:cNvPr>
          <p:cNvSpPr>
            <a:spLocks noGrp="1"/>
          </p:cNvSpPr>
          <p:nvPr>
            <p:ph type="body" sz="quarter" idx="13"/>
          </p:nvPr>
        </p:nvSpPr>
        <p:spPr/>
        <p:txBody>
          <a:bodyPr/>
          <a:lstStyle/>
          <a:p>
            <a:r>
              <a:rPr lang="en-US" altLang="zh-CN" dirty="0"/>
              <a:t>2025.12.06</a:t>
            </a:r>
            <a:r>
              <a:rPr lang="ja-JP" altLang="en-US" dirty="0"/>
              <a:t>　バイオフロンティア講演会　</a:t>
            </a:r>
            <a:r>
              <a:rPr lang="en-US" altLang="ja-JP" dirty="0"/>
              <a:t>1E12</a:t>
            </a:r>
          </a:p>
        </p:txBody>
      </p:sp>
      <p:sp>
        <p:nvSpPr>
          <p:cNvPr id="7" name="文本占位符 6">
            <a:extLst>
              <a:ext uri="{FF2B5EF4-FFF2-40B4-BE49-F238E27FC236}">
                <a16:creationId xmlns:a16="http://schemas.microsoft.com/office/drawing/2014/main" id="{B1B9F64E-DD37-66F1-59AF-D62DC5113E7E}"/>
              </a:ext>
            </a:extLst>
          </p:cNvPr>
          <p:cNvSpPr>
            <a:spLocks noGrp="1"/>
          </p:cNvSpPr>
          <p:nvPr>
            <p:ph type="body" sz="quarter" idx="14"/>
          </p:nvPr>
        </p:nvSpPr>
        <p:spPr/>
        <p:txBody>
          <a:bodyPr/>
          <a:lstStyle/>
          <a:p>
            <a:r>
              <a:rPr lang="ja-JP" altLang="en-US" dirty="0"/>
              <a:t>結果</a:t>
            </a:r>
            <a:r>
              <a:rPr lang="en-US" altLang="ja-JP" dirty="0"/>
              <a:t>4/4</a:t>
            </a:r>
            <a:endParaRPr lang="en-US" dirty="0"/>
          </a:p>
        </p:txBody>
      </p:sp>
      <p:pic>
        <p:nvPicPr>
          <p:cNvPr id="9" name="图片 8">
            <a:extLst>
              <a:ext uri="{FF2B5EF4-FFF2-40B4-BE49-F238E27FC236}">
                <a16:creationId xmlns:a16="http://schemas.microsoft.com/office/drawing/2014/main" id="{1052ADA5-F2BB-79E7-4E6F-B5DB557EAB6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072555" y="1011577"/>
            <a:ext cx="4623825" cy="2054124"/>
          </a:xfrm>
          <a:prstGeom prst="rect">
            <a:avLst/>
          </a:prstGeom>
        </p:spPr>
      </p:pic>
      <p:pic>
        <p:nvPicPr>
          <p:cNvPr id="11" name="图片 10">
            <a:extLst>
              <a:ext uri="{FF2B5EF4-FFF2-40B4-BE49-F238E27FC236}">
                <a16:creationId xmlns:a16="http://schemas.microsoft.com/office/drawing/2014/main" id="{17D66CCA-20BA-78F6-CBD7-E1A57EBF10F4}"/>
              </a:ext>
            </a:extLst>
          </p:cNvPr>
          <p:cNvPicPr>
            <a:picLocks noChangeAspect="1"/>
          </p:cNvPicPr>
          <p:nvPr/>
        </p:nvPicPr>
        <p:blipFill>
          <a:blip r:embed="rId4"/>
          <a:stretch>
            <a:fillRect/>
          </a:stretch>
        </p:blipFill>
        <p:spPr>
          <a:xfrm>
            <a:off x="7788704" y="3428262"/>
            <a:ext cx="3298396" cy="2879887"/>
          </a:xfrm>
          <a:prstGeom prst="rect">
            <a:avLst/>
          </a:prstGeom>
        </p:spPr>
      </p:pic>
      <p:graphicFrame>
        <p:nvGraphicFramePr>
          <p:cNvPr id="12" name="表格 11">
            <a:extLst>
              <a:ext uri="{FF2B5EF4-FFF2-40B4-BE49-F238E27FC236}">
                <a16:creationId xmlns:a16="http://schemas.microsoft.com/office/drawing/2014/main" id="{70A42D9A-3DF1-75C4-543C-A067C8130DD0}"/>
              </a:ext>
            </a:extLst>
          </p:cNvPr>
          <p:cNvGraphicFramePr>
            <a:graphicFrameLocks noGrp="1"/>
          </p:cNvGraphicFramePr>
          <p:nvPr>
            <p:extLst>
              <p:ext uri="{D42A27DB-BD31-4B8C-83A1-F6EECF244321}">
                <p14:modId xmlns:p14="http://schemas.microsoft.com/office/powerpoint/2010/main" val="3419532666"/>
              </p:ext>
            </p:extLst>
          </p:nvPr>
        </p:nvGraphicFramePr>
        <p:xfrm>
          <a:off x="1023462" y="2465975"/>
          <a:ext cx="5433057" cy="668655"/>
        </p:xfrm>
        <a:graphic>
          <a:graphicData uri="http://schemas.openxmlformats.org/drawingml/2006/table">
            <a:tbl>
              <a:tblPr>
                <a:tableStyleId>{9D7B26C5-4107-4FEC-AEDC-1716B250A1EF}</a:tableStyleId>
              </a:tblPr>
              <a:tblGrid>
                <a:gridCol w="603673">
                  <a:extLst>
                    <a:ext uri="{9D8B030D-6E8A-4147-A177-3AD203B41FA5}">
                      <a16:colId xmlns:a16="http://schemas.microsoft.com/office/drawing/2014/main" val="1453294126"/>
                    </a:ext>
                  </a:extLst>
                </a:gridCol>
                <a:gridCol w="603673">
                  <a:extLst>
                    <a:ext uri="{9D8B030D-6E8A-4147-A177-3AD203B41FA5}">
                      <a16:colId xmlns:a16="http://schemas.microsoft.com/office/drawing/2014/main" val="1754977176"/>
                    </a:ext>
                  </a:extLst>
                </a:gridCol>
                <a:gridCol w="603673">
                  <a:extLst>
                    <a:ext uri="{9D8B030D-6E8A-4147-A177-3AD203B41FA5}">
                      <a16:colId xmlns:a16="http://schemas.microsoft.com/office/drawing/2014/main" val="19615947"/>
                    </a:ext>
                  </a:extLst>
                </a:gridCol>
                <a:gridCol w="603673">
                  <a:extLst>
                    <a:ext uri="{9D8B030D-6E8A-4147-A177-3AD203B41FA5}">
                      <a16:colId xmlns:a16="http://schemas.microsoft.com/office/drawing/2014/main" val="3630149500"/>
                    </a:ext>
                  </a:extLst>
                </a:gridCol>
                <a:gridCol w="603673">
                  <a:extLst>
                    <a:ext uri="{9D8B030D-6E8A-4147-A177-3AD203B41FA5}">
                      <a16:colId xmlns:a16="http://schemas.microsoft.com/office/drawing/2014/main" val="1358492369"/>
                    </a:ext>
                  </a:extLst>
                </a:gridCol>
                <a:gridCol w="603673">
                  <a:extLst>
                    <a:ext uri="{9D8B030D-6E8A-4147-A177-3AD203B41FA5}">
                      <a16:colId xmlns:a16="http://schemas.microsoft.com/office/drawing/2014/main" val="2544754705"/>
                    </a:ext>
                  </a:extLst>
                </a:gridCol>
                <a:gridCol w="603673">
                  <a:extLst>
                    <a:ext uri="{9D8B030D-6E8A-4147-A177-3AD203B41FA5}">
                      <a16:colId xmlns:a16="http://schemas.microsoft.com/office/drawing/2014/main" val="664961178"/>
                    </a:ext>
                  </a:extLst>
                </a:gridCol>
                <a:gridCol w="603673">
                  <a:extLst>
                    <a:ext uri="{9D8B030D-6E8A-4147-A177-3AD203B41FA5}">
                      <a16:colId xmlns:a16="http://schemas.microsoft.com/office/drawing/2014/main" val="2040823452"/>
                    </a:ext>
                  </a:extLst>
                </a:gridCol>
                <a:gridCol w="603673">
                  <a:extLst>
                    <a:ext uri="{9D8B030D-6E8A-4147-A177-3AD203B41FA5}">
                      <a16:colId xmlns:a16="http://schemas.microsoft.com/office/drawing/2014/main" val="5776914"/>
                    </a:ext>
                  </a:extLst>
                </a:gridCol>
              </a:tblGrid>
              <a:tr h="171450">
                <a:tc>
                  <a:txBody>
                    <a:bodyPr/>
                    <a:lstStyle/>
                    <a:p>
                      <a:pPr algn="l" fontAlgn="b">
                        <a:buNone/>
                      </a:pP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buNone/>
                      </a:pPr>
                      <a:r>
                        <a:rPr lang="en-US" sz="1400" b="1" u="none" strike="noStrike" dirty="0">
                          <a:effectLst/>
                          <a:latin typeface="Times New Roman" panose="02020603050405020304" pitchFamily="18" charset="0"/>
                          <a:cs typeface="Times New Roman" panose="02020603050405020304" pitchFamily="18" charset="0"/>
                        </a:rPr>
                        <a:t>PC1</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buNone/>
                      </a:pPr>
                      <a:r>
                        <a:rPr lang="en-US" sz="1400" b="1" u="none" strike="noStrike" dirty="0">
                          <a:effectLst/>
                          <a:latin typeface="Times New Roman" panose="02020603050405020304" pitchFamily="18" charset="0"/>
                          <a:cs typeface="Times New Roman" panose="02020603050405020304" pitchFamily="18" charset="0"/>
                        </a:rPr>
                        <a:t>PC2</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buNone/>
                      </a:pPr>
                      <a:r>
                        <a:rPr lang="en-US" sz="1400" b="1" u="none" strike="noStrike" dirty="0">
                          <a:effectLst/>
                          <a:latin typeface="Times New Roman" panose="02020603050405020304" pitchFamily="18" charset="0"/>
                          <a:cs typeface="Times New Roman" panose="02020603050405020304" pitchFamily="18" charset="0"/>
                        </a:rPr>
                        <a:t>PC3</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buNone/>
                      </a:pPr>
                      <a:r>
                        <a:rPr lang="en-US" sz="1400" b="1" u="none" strike="noStrike" dirty="0">
                          <a:effectLst/>
                          <a:latin typeface="Times New Roman" panose="02020603050405020304" pitchFamily="18" charset="0"/>
                          <a:cs typeface="Times New Roman" panose="02020603050405020304" pitchFamily="18" charset="0"/>
                        </a:rPr>
                        <a:t>PC4</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buNone/>
                      </a:pPr>
                      <a:r>
                        <a:rPr lang="en-US" sz="1400" b="1" u="none" strike="noStrike">
                          <a:effectLst/>
                          <a:latin typeface="Times New Roman" panose="02020603050405020304" pitchFamily="18" charset="0"/>
                          <a:cs typeface="Times New Roman" panose="02020603050405020304" pitchFamily="18" charset="0"/>
                        </a:rPr>
                        <a:t>PC5</a:t>
                      </a:r>
                      <a:endParaRPr lang="en-US" sz="14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buNone/>
                      </a:pPr>
                      <a:r>
                        <a:rPr lang="en-US" sz="1400" b="1" u="none" strike="noStrike" dirty="0">
                          <a:effectLst/>
                          <a:latin typeface="Times New Roman" panose="02020603050405020304" pitchFamily="18" charset="0"/>
                          <a:cs typeface="Times New Roman" panose="02020603050405020304" pitchFamily="18" charset="0"/>
                        </a:rPr>
                        <a:t>PC6</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buNone/>
                      </a:pPr>
                      <a:r>
                        <a:rPr lang="en-US" sz="1400" b="1" u="none" strike="noStrike" dirty="0">
                          <a:effectLst/>
                          <a:latin typeface="Times New Roman" panose="02020603050405020304" pitchFamily="18" charset="0"/>
                          <a:cs typeface="Times New Roman" panose="02020603050405020304" pitchFamily="18" charset="0"/>
                        </a:rPr>
                        <a:t>PC7</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buNone/>
                      </a:pPr>
                      <a:r>
                        <a:rPr lang="en-US" sz="1400" b="1" u="none" strike="noStrike" dirty="0">
                          <a:effectLst/>
                          <a:latin typeface="Times New Roman" panose="02020603050405020304" pitchFamily="18" charset="0"/>
                          <a:cs typeface="Times New Roman" panose="02020603050405020304" pitchFamily="18" charset="0"/>
                        </a:rPr>
                        <a:t>PC8</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641174255"/>
                  </a:ext>
                </a:extLst>
              </a:tr>
              <a:tr h="171450">
                <a:tc>
                  <a:txBody>
                    <a:bodyPr/>
                    <a:lstStyle/>
                    <a:p>
                      <a:pPr algn="r" fontAlgn="b">
                        <a:buNone/>
                      </a:pPr>
                      <a:r>
                        <a:rPr lang="en-US" sz="1400" b="1" u="none" strike="noStrike" dirty="0">
                          <a:effectLst/>
                          <a:latin typeface="Times New Roman" panose="02020603050405020304" pitchFamily="18" charset="0"/>
                          <a:cs typeface="Times New Roman" panose="02020603050405020304" pitchFamily="18" charset="0"/>
                        </a:rPr>
                        <a:t>VE</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buNone/>
                      </a:pPr>
                      <a:r>
                        <a:rPr lang="en-US" sz="1400" u="none" strike="noStrike" dirty="0">
                          <a:effectLst/>
                          <a:latin typeface="Times New Roman" panose="02020603050405020304" pitchFamily="18" charset="0"/>
                          <a:cs typeface="Times New Roman" panose="02020603050405020304" pitchFamily="18" charset="0"/>
                        </a:rPr>
                        <a:t>0.62</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buNone/>
                      </a:pPr>
                      <a:r>
                        <a:rPr lang="en-US" sz="1400" u="none" strike="noStrike" dirty="0">
                          <a:effectLst/>
                          <a:latin typeface="Times New Roman" panose="02020603050405020304" pitchFamily="18" charset="0"/>
                          <a:cs typeface="Times New Roman" panose="02020603050405020304" pitchFamily="18" charset="0"/>
                        </a:rPr>
                        <a:t>0.19</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buNone/>
                      </a:pPr>
                      <a:r>
                        <a:rPr lang="en-US" sz="1400" u="none" strike="noStrike">
                          <a:effectLst/>
                          <a:latin typeface="Times New Roman" panose="02020603050405020304" pitchFamily="18" charset="0"/>
                          <a:cs typeface="Times New Roman" panose="02020603050405020304" pitchFamily="18" charset="0"/>
                        </a:rPr>
                        <a:t>0.09</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buNone/>
                      </a:pPr>
                      <a:r>
                        <a:rPr lang="en-US" sz="1400" u="none" strike="noStrike">
                          <a:effectLst/>
                          <a:latin typeface="Times New Roman" panose="02020603050405020304" pitchFamily="18" charset="0"/>
                          <a:cs typeface="Times New Roman" panose="02020603050405020304" pitchFamily="18" charset="0"/>
                        </a:rPr>
                        <a:t>0.05</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buNone/>
                      </a:pPr>
                      <a:r>
                        <a:rPr lang="en-US" sz="1400" u="none" strike="noStrike">
                          <a:effectLst/>
                          <a:latin typeface="Times New Roman" panose="02020603050405020304" pitchFamily="18" charset="0"/>
                          <a:cs typeface="Times New Roman" panose="02020603050405020304" pitchFamily="18" charset="0"/>
                        </a:rPr>
                        <a:t>0.02</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buNone/>
                      </a:pPr>
                      <a:r>
                        <a:rPr lang="en-US" sz="1400" u="none" strike="noStrike">
                          <a:effectLst/>
                          <a:latin typeface="Times New Roman" panose="02020603050405020304" pitchFamily="18" charset="0"/>
                          <a:cs typeface="Times New Roman" panose="02020603050405020304" pitchFamily="18" charset="0"/>
                        </a:rPr>
                        <a:t>0.01</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buNone/>
                      </a:pPr>
                      <a:r>
                        <a:rPr lang="en-US" sz="1400" u="none" strike="noStrike">
                          <a:effectLst/>
                          <a:latin typeface="Times New Roman" panose="02020603050405020304" pitchFamily="18" charset="0"/>
                          <a:cs typeface="Times New Roman" panose="02020603050405020304" pitchFamily="18" charset="0"/>
                        </a:rPr>
                        <a:t>0.01</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buNone/>
                      </a:pPr>
                      <a:r>
                        <a:rPr lang="en-US" sz="1400" u="none" strike="noStrike" dirty="0">
                          <a:effectLst/>
                          <a:latin typeface="Times New Roman" panose="02020603050405020304" pitchFamily="18" charset="0"/>
                          <a:cs typeface="Times New Roman" panose="02020603050405020304" pitchFamily="18" charset="0"/>
                        </a:rPr>
                        <a:t>0</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988411604"/>
                  </a:ext>
                </a:extLst>
              </a:tr>
              <a:tr h="171450">
                <a:tc>
                  <a:txBody>
                    <a:bodyPr/>
                    <a:lstStyle/>
                    <a:p>
                      <a:pPr algn="r" fontAlgn="b">
                        <a:buNone/>
                      </a:pPr>
                      <a:r>
                        <a:rPr lang="el-GR" sz="1400" b="1" u="none" strike="noStrike" dirty="0">
                          <a:effectLst/>
                          <a:latin typeface="Times New Roman" panose="02020603050405020304" pitchFamily="18" charset="0"/>
                          <a:cs typeface="Times New Roman" panose="02020603050405020304" pitchFamily="18" charset="0"/>
                        </a:rPr>
                        <a:t>Σ</a:t>
                      </a:r>
                      <a:r>
                        <a:rPr lang="en-US" sz="1400" b="1" u="none" strike="noStrike" dirty="0">
                          <a:effectLst/>
                          <a:latin typeface="Times New Roman" panose="02020603050405020304" pitchFamily="18" charset="0"/>
                          <a:cs typeface="Times New Roman" panose="02020603050405020304" pitchFamily="18" charset="0"/>
                        </a:rPr>
                        <a:t>VE</a:t>
                      </a: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buNone/>
                      </a:pPr>
                      <a:r>
                        <a:rPr lang="en-US" sz="1400" u="none" strike="noStrike">
                          <a:effectLst/>
                          <a:latin typeface="Times New Roman" panose="02020603050405020304" pitchFamily="18" charset="0"/>
                          <a:cs typeface="Times New Roman" panose="02020603050405020304" pitchFamily="18" charset="0"/>
                        </a:rPr>
                        <a:t>0.62</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buNone/>
                      </a:pPr>
                      <a:r>
                        <a:rPr lang="en-US" sz="1400" u="none" strike="noStrike">
                          <a:effectLst/>
                          <a:latin typeface="Times New Roman" panose="02020603050405020304" pitchFamily="18" charset="0"/>
                          <a:cs typeface="Times New Roman" panose="02020603050405020304" pitchFamily="18" charset="0"/>
                        </a:rPr>
                        <a:t>0.81</a:t>
                      </a:r>
                      <a:endParaRPr lang="en-US" sz="14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buNone/>
                      </a:pPr>
                      <a:r>
                        <a:rPr lang="en-US" sz="1400" u="none" strike="noStrike" dirty="0">
                          <a:solidFill>
                            <a:schemeClr val="tx1"/>
                          </a:solidFill>
                          <a:effectLst/>
                          <a:latin typeface="Times New Roman" panose="02020603050405020304" pitchFamily="18" charset="0"/>
                          <a:cs typeface="Times New Roman" panose="02020603050405020304" pitchFamily="18" charset="0"/>
                        </a:rPr>
                        <a:t>0.9</a:t>
                      </a:r>
                      <a:endParaRPr lang="en-US" sz="14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buNone/>
                      </a:pPr>
                      <a:r>
                        <a:rPr lang="en-US" sz="1400" u="none" strike="noStrike" dirty="0">
                          <a:effectLst/>
                          <a:latin typeface="Times New Roman" panose="02020603050405020304" pitchFamily="18" charset="0"/>
                          <a:cs typeface="Times New Roman" panose="02020603050405020304" pitchFamily="18" charset="0"/>
                        </a:rPr>
                        <a:t>0.95</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buNone/>
                      </a:pPr>
                      <a:r>
                        <a:rPr lang="en-US" sz="1400" u="none" strike="noStrike" dirty="0">
                          <a:effectLst/>
                          <a:latin typeface="Times New Roman" panose="02020603050405020304" pitchFamily="18" charset="0"/>
                          <a:cs typeface="Times New Roman" panose="02020603050405020304" pitchFamily="18" charset="0"/>
                        </a:rPr>
                        <a:t>0.97</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buNone/>
                      </a:pPr>
                      <a:r>
                        <a:rPr lang="en-US" sz="1400" u="none" strike="noStrike" dirty="0">
                          <a:effectLst/>
                          <a:latin typeface="Times New Roman" panose="02020603050405020304" pitchFamily="18" charset="0"/>
                          <a:cs typeface="Times New Roman" panose="02020603050405020304" pitchFamily="18" charset="0"/>
                        </a:rPr>
                        <a:t>0.98</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buNone/>
                      </a:pPr>
                      <a:r>
                        <a:rPr lang="en-US" sz="1400" u="none" strike="noStrike" dirty="0">
                          <a:effectLst/>
                          <a:latin typeface="Times New Roman" panose="02020603050405020304" pitchFamily="18" charset="0"/>
                          <a:cs typeface="Times New Roman" panose="02020603050405020304" pitchFamily="18" charset="0"/>
                        </a:rPr>
                        <a:t>0.99</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buNone/>
                      </a:pPr>
                      <a:r>
                        <a:rPr lang="en-US" sz="1400" u="none" strike="noStrike" dirty="0">
                          <a:effectLst/>
                          <a:latin typeface="Times New Roman" panose="02020603050405020304" pitchFamily="18" charset="0"/>
                          <a:cs typeface="Times New Roman" panose="02020603050405020304" pitchFamily="18" charset="0"/>
                        </a:rPr>
                        <a:t>0.99</a:t>
                      </a:r>
                      <a:endParaRPr 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89361945"/>
                  </a:ext>
                </a:extLst>
              </a:tr>
            </a:tbl>
          </a:graphicData>
        </a:graphic>
      </p:graphicFrame>
      <p:sp>
        <p:nvSpPr>
          <p:cNvPr id="13" name="文本框 12">
            <a:extLst>
              <a:ext uri="{FF2B5EF4-FFF2-40B4-BE49-F238E27FC236}">
                <a16:creationId xmlns:a16="http://schemas.microsoft.com/office/drawing/2014/main" id="{C4308B0F-F1CE-D3A3-1807-EF1306047D59}"/>
              </a:ext>
            </a:extLst>
          </p:cNvPr>
          <p:cNvSpPr txBox="1"/>
          <p:nvPr/>
        </p:nvSpPr>
        <p:spPr>
          <a:xfrm>
            <a:off x="2697900" y="2206357"/>
            <a:ext cx="1922321" cy="261610"/>
          </a:xfrm>
          <a:prstGeom prst="rect">
            <a:avLst/>
          </a:prstGeom>
          <a:noFill/>
        </p:spPr>
        <p:txBody>
          <a:bodyPr wrap="none" rtlCol="0">
            <a:spAutoFit/>
          </a:bodyPr>
          <a:lstStyle/>
          <a:p>
            <a:r>
              <a:rPr lang="en-US" altLang="ja-JP" sz="1100" b="1" dirty="0">
                <a:latin typeface="+mj-ea"/>
                <a:ea typeface="+mj-ea"/>
              </a:rPr>
              <a:t>Tab.</a:t>
            </a:r>
            <a:r>
              <a:rPr lang="en-US" altLang="zh-CN" sz="1100" b="1" dirty="0">
                <a:latin typeface="+mj-ea"/>
                <a:ea typeface="+mj-ea"/>
              </a:rPr>
              <a:t>3</a:t>
            </a:r>
            <a:r>
              <a:rPr lang="en-US" altLang="ja-JP" sz="1100" b="1" dirty="0">
                <a:latin typeface="+mj-ea"/>
                <a:ea typeface="+mj-ea"/>
              </a:rPr>
              <a:t> </a:t>
            </a:r>
            <a:r>
              <a:rPr lang="ja-JP" altLang="en-US" sz="1100" b="1" dirty="0">
                <a:latin typeface="+mj-ea"/>
                <a:ea typeface="+mj-ea"/>
              </a:rPr>
              <a:t>寄与率と累積寄与率</a:t>
            </a:r>
            <a:endParaRPr lang="en-US" sz="1100" b="1" dirty="0">
              <a:latin typeface="+mj-ea"/>
              <a:ea typeface="+mj-ea"/>
            </a:endParaRPr>
          </a:p>
        </p:txBody>
      </p:sp>
      <p:sp>
        <p:nvSpPr>
          <p:cNvPr id="14" name="文本框 13">
            <a:extLst>
              <a:ext uri="{FF2B5EF4-FFF2-40B4-BE49-F238E27FC236}">
                <a16:creationId xmlns:a16="http://schemas.microsoft.com/office/drawing/2014/main" id="{BA0BBC5A-DD51-3113-774B-6886E9E4848B}"/>
              </a:ext>
            </a:extLst>
          </p:cNvPr>
          <p:cNvSpPr txBox="1"/>
          <p:nvPr/>
        </p:nvSpPr>
        <p:spPr>
          <a:xfrm>
            <a:off x="7595355" y="3134630"/>
            <a:ext cx="3578224" cy="261610"/>
          </a:xfrm>
          <a:prstGeom prst="rect">
            <a:avLst/>
          </a:prstGeom>
          <a:noFill/>
        </p:spPr>
        <p:txBody>
          <a:bodyPr wrap="none" rtlCol="0">
            <a:spAutoFit/>
          </a:bodyPr>
          <a:lstStyle/>
          <a:p>
            <a:pPr algn="ctr"/>
            <a:r>
              <a:rPr lang="en-US" altLang="ja-JP" sz="1100" b="1" dirty="0">
                <a:latin typeface="+mj-ea"/>
                <a:ea typeface="+mj-ea"/>
              </a:rPr>
              <a:t>Fig.</a:t>
            </a:r>
            <a:r>
              <a:rPr lang="en-US" altLang="zh-CN" sz="1100" b="1" dirty="0">
                <a:latin typeface="+mj-ea"/>
                <a:ea typeface="+mj-ea"/>
              </a:rPr>
              <a:t>9</a:t>
            </a:r>
            <a:r>
              <a:rPr lang="ja-JP" altLang="en-US" sz="1100" b="1">
                <a:latin typeface="+mj-ea"/>
                <a:ea typeface="+mj-ea"/>
              </a:rPr>
              <a:t>　</a:t>
            </a:r>
            <a:r>
              <a:rPr lang="en-US" altLang="ja-JP" sz="1100" b="1" dirty="0">
                <a:latin typeface="+mj-ea"/>
                <a:ea typeface="+mj-ea"/>
              </a:rPr>
              <a:t>PC</a:t>
            </a:r>
            <a:r>
              <a:rPr lang="ja-JP" altLang="en-US" sz="1100" b="1" dirty="0">
                <a:latin typeface="+mj-ea"/>
                <a:ea typeface="+mj-ea"/>
              </a:rPr>
              <a:t>１～</a:t>
            </a:r>
            <a:r>
              <a:rPr lang="en-US" altLang="ja-JP" sz="1100" b="1" dirty="0">
                <a:latin typeface="+mj-ea"/>
                <a:ea typeface="+mj-ea"/>
              </a:rPr>
              <a:t>PC3</a:t>
            </a:r>
            <a:r>
              <a:rPr lang="ja-JP" altLang="en-US" sz="1100" b="1" dirty="0">
                <a:latin typeface="+mj-ea"/>
                <a:ea typeface="+mj-ea"/>
              </a:rPr>
              <a:t>の調整によるサイホン形状の変化</a:t>
            </a:r>
            <a:endParaRPr lang="en-US" sz="1100" b="1" dirty="0">
              <a:latin typeface="+mj-ea"/>
              <a:ea typeface="+mj-ea"/>
            </a:endParaRPr>
          </a:p>
        </p:txBody>
      </p:sp>
      <p:sp>
        <p:nvSpPr>
          <p:cNvPr id="16" name="文本框 15">
            <a:extLst>
              <a:ext uri="{FF2B5EF4-FFF2-40B4-BE49-F238E27FC236}">
                <a16:creationId xmlns:a16="http://schemas.microsoft.com/office/drawing/2014/main" id="{8CD32A89-F267-0F77-9CF8-4ECD7C89162A}"/>
              </a:ext>
            </a:extLst>
          </p:cNvPr>
          <p:cNvSpPr txBox="1"/>
          <p:nvPr/>
        </p:nvSpPr>
        <p:spPr>
          <a:xfrm rot="1777732">
            <a:off x="6683993" y="1227396"/>
            <a:ext cx="588623" cy="253916"/>
          </a:xfrm>
          <a:prstGeom prst="rect">
            <a:avLst/>
          </a:prstGeom>
          <a:noFill/>
        </p:spPr>
        <p:txBody>
          <a:bodyPr wrap="none" rtlCol="0">
            <a:spAutoFit/>
          </a:bodyPr>
          <a:lstStyle/>
          <a:p>
            <a:r>
              <a:rPr lang="ja-JP" altLang="en-US" sz="1000" b="1" dirty="0">
                <a:latin typeface="メイリオ" panose="020B0604030504040204" pitchFamily="50" charset="-128"/>
                <a:ea typeface="メイリオ" panose="020B0604030504040204" pitchFamily="50" charset="-128"/>
              </a:rPr>
              <a:t>近心端</a:t>
            </a:r>
            <a:endParaRPr lang="en-US" sz="1000" b="1" dirty="0">
              <a:latin typeface="メイリオ" panose="020B0604030504040204" pitchFamily="50" charset="-128"/>
              <a:ea typeface="メイリオ" panose="020B0604030504040204" pitchFamily="50" charset="-128"/>
            </a:endParaRPr>
          </a:p>
        </p:txBody>
      </p:sp>
      <p:sp>
        <p:nvSpPr>
          <p:cNvPr id="17" name="文本框 16">
            <a:extLst>
              <a:ext uri="{FF2B5EF4-FFF2-40B4-BE49-F238E27FC236}">
                <a16:creationId xmlns:a16="http://schemas.microsoft.com/office/drawing/2014/main" id="{2597D956-4C7B-4C84-15A0-F2E52DF41314}"/>
              </a:ext>
            </a:extLst>
          </p:cNvPr>
          <p:cNvSpPr txBox="1"/>
          <p:nvPr/>
        </p:nvSpPr>
        <p:spPr>
          <a:xfrm rot="1777732">
            <a:off x="7389618" y="1547436"/>
            <a:ext cx="588623" cy="253916"/>
          </a:xfrm>
          <a:prstGeom prst="rect">
            <a:avLst/>
          </a:prstGeom>
          <a:noFill/>
        </p:spPr>
        <p:txBody>
          <a:bodyPr wrap="none" rtlCol="0">
            <a:spAutoFit/>
          </a:bodyPr>
          <a:lstStyle/>
          <a:p>
            <a:r>
              <a:rPr lang="ja-JP" altLang="en-US" sz="1000" b="1" dirty="0">
                <a:latin typeface="メイリオ" panose="020B0604030504040204" pitchFamily="50" charset="-128"/>
                <a:ea typeface="メイリオ" panose="020B0604030504040204" pitchFamily="50" charset="-128"/>
              </a:rPr>
              <a:t>遠心端</a:t>
            </a:r>
            <a:endParaRPr lang="en-US" sz="1000" b="1" dirty="0">
              <a:latin typeface="メイリオ" panose="020B0604030504040204" pitchFamily="50" charset="-128"/>
              <a:ea typeface="メイリオ" panose="020B0604030504040204" pitchFamily="50" charset="-128"/>
            </a:endParaRPr>
          </a:p>
        </p:txBody>
      </p:sp>
      <p:sp>
        <p:nvSpPr>
          <p:cNvPr id="8" name="文本框 13">
            <a:extLst>
              <a:ext uri="{FF2B5EF4-FFF2-40B4-BE49-F238E27FC236}">
                <a16:creationId xmlns:a16="http://schemas.microsoft.com/office/drawing/2014/main" id="{79A2999F-AFC0-D5F9-01F3-B31B5E47DA29}"/>
              </a:ext>
            </a:extLst>
          </p:cNvPr>
          <p:cNvSpPr txBox="1"/>
          <p:nvPr/>
        </p:nvSpPr>
        <p:spPr>
          <a:xfrm>
            <a:off x="7493183" y="6300560"/>
            <a:ext cx="3959738" cy="261610"/>
          </a:xfrm>
          <a:prstGeom prst="rect">
            <a:avLst/>
          </a:prstGeom>
          <a:noFill/>
        </p:spPr>
        <p:txBody>
          <a:bodyPr wrap="none" rtlCol="0">
            <a:spAutoFit/>
          </a:bodyPr>
          <a:lstStyle/>
          <a:p>
            <a:pPr algn="ctr"/>
            <a:r>
              <a:rPr lang="en-US" altLang="ja-JP" sz="1100" b="1" dirty="0">
                <a:latin typeface="+mj-ea"/>
                <a:ea typeface="+mj-ea"/>
              </a:rPr>
              <a:t>Fig.</a:t>
            </a:r>
            <a:r>
              <a:rPr lang="en-US" altLang="zh-CN" sz="1100" b="1" dirty="0">
                <a:latin typeface="+mj-ea"/>
                <a:ea typeface="+mj-ea"/>
              </a:rPr>
              <a:t>10</a:t>
            </a:r>
            <a:r>
              <a:rPr lang="ja-JP" altLang="en-US" sz="1100" b="1">
                <a:latin typeface="+mj-ea"/>
                <a:ea typeface="+mj-ea"/>
              </a:rPr>
              <a:t>　</a:t>
            </a:r>
            <a:r>
              <a:rPr lang="en-US" altLang="ja-JP" sz="1100" b="1" dirty="0">
                <a:latin typeface="+mj-ea"/>
                <a:ea typeface="+mj-ea"/>
              </a:rPr>
              <a:t>UVCS</a:t>
            </a:r>
            <a:r>
              <a:rPr lang="ja-JP" altLang="en-US" sz="1100" b="1">
                <a:latin typeface="+mj-ea"/>
                <a:ea typeface="+mj-ea"/>
              </a:rPr>
              <a:t>タイプと</a:t>
            </a:r>
            <a:r>
              <a:rPr lang="en-US" altLang="ja-JP" sz="1100" b="1" dirty="0">
                <a:latin typeface="+mj-ea"/>
                <a:ea typeface="+mj-ea"/>
              </a:rPr>
              <a:t>PC1-PC2</a:t>
            </a:r>
            <a:r>
              <a:rPr lang="ja-JP" altLang="en-US" sz="1100" b="1">
                <a:latin typeface="+mj-ea"/>
                <a:ea typeface="+mj-ea"/>
              </a:rPr>
              <a:t>平面上のクラスタリング</a:t>
            </a:r>
            <a:endParaRPr lang="en-US" altLang="ja-JP" sz="1100" b="1" dirty="0">
              <a:latin typeface="+mj-ea"/>
              <a:ea typeface="+mj-ea"/>
            </a:endParaRPr>
          </a:p>
        </p:txBody>
      </p:sp>
    </p:spTree>
    <p:extLst>
      <p:ext uri="{BB962C8B-B14F-4D97-AF65-F5344CB8AC3E}">
        <p14:creationId xmlns:p14="http://schemas.microsoft.com/office/powerpoint/2010/main" val="327925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862020-7626-D51E-D6B6-D25B6F85A54A}"/>
              </a:ext>
            </a:extLst>
          </p:cNvPr>
          <p:cNvSpPr>
            <a:spLocks noGrp="1"/>
          </p:cNvSpPr>
          <p:nvPr>
            <p:ph type="title"/>
          </p:nvPr>
        </p:nvSpPr>
        <p:spPr/>
        <p:txBody>
          <a:bodyPr/>
          <a:lstStyle/>
          <a:p>
            <a:r>
              <a:rPr lang="ja-JP" altLang="en-US"/>
              <a:t>まとめ</a:t>
            </a:r>
            <a:endParaRPr lang="en-US" dirty="0"/>
          </a:p>
        </p:txBody>
      </p:sp>
      <p:sp>
        <p:nvSpPr>
          <p:cNvPr id="3" name="页脚占位符 2">
            <a:extLst>
              <a:ext uri="{FF2B5EF4-FFF2-40B4-BE49-F238E27FC236}">
                <a16:creationId xmlns:a16="http://schemas.microsoft.com/office/drawing/2014/main" id="{EBC62B2B-B9B0-0E48-1D8C-26D7A6A5696C}"/>
              </a:ext>
            </a:extLst>
          </p:cNvPr>
          <p:cNvSpPr>
            <a:spLocks noGrp="1"/>
          </p:cNvSpPr>
          <p:nvPr>
            <p:ph type="ftr" sz="quarter" idx="10"/>
          </p:nvPr>
        </p:nvSpPr>
        <p:spPr/>
        <p:txBody>
          <a:bodyPr/>
          <a:lstStyle/>
          <a:p>
            <a:endParaRPr lang="en-US"/>
          </a:p>
        </p:txBody>
      </p:sp>
      <p:sp>
        <p:nvSpPr>
          <p:cNvPr id="4" name="灯片编号占位符 3">
            <a:extLst>
              <a:ext uri="{FF2B5EF4-FFF2-40B4-BE49-F238E27FC236}">
                <a16:creationId xmlns:a16="http://schemas.microsoft.com/office/drawing/2014/main" id="{10AD6293-1891-0E22-427A-5756F7BAC1CF}"/>
              </a:ext>
            </a:extLst>
          </p:cNvPr>
          <p:cNvSpPr>
            <a:spLocks noGrp="1"/>
          </p:cNvSpPr>
          <p:nvPr>
            <p:ph type="sldNum" sz="quarter" idx="11"/>
          </p:nvPr>
        </p:nvSpPr>
        <p:spPr/>
        <p:txBody>
          <a:bodyPr/>
          <a:lstStyle/>
          <a:p>
            <a:fld id="{E2B18E97-1989-4D85-BA90-17B226C62452}" type="slidenum">
              <a:rPr lang="en-US" smtClean="0"/>
              <a:pPr/>
              <a:t>9</a:t>
            </a:fld>
            <a:endParaRPr lang="en-US"/>
          </a:p>
        </p:txBody>
      </p:sp>
      <p:sp>
        <p:nvSpPr>
          <p:cNvPr id="5" name="文本占位符 4">
            <a:extLst>
              <a:ext uri="{FF2B5EF4-FFF2-40B4-BE49-F238E27FC236}">
                <a16:creationId xmlns:a16="http://schemas.microsoft.com/office/drawing/2014/main" id="{BE9E8863-5743-A963-CF84-FAC9C4B329CF}"/>
              </a:ext>
            </a:extLst>
          </p:cNvPr>
          <p:cNvSpPr>
            <a:spLocks noGrp="1"/>
          </p:cNvSpPr>
          <p:nvPr>
            <p:ph type="body" sz="quarter" idx="12"/>
          </p:nvPr>
        </p:nvSpPr>
        <p:spPr/>
        <p:txBody>
          <a:bodyPr/>
          <a:lstStyle/>
          <a:p>
            <a:pPr marL="0" indent="0">
              <a:buNone/>
            </a:pPr>
            <a:r>
              <a:rPr lang="ja-JP" altLang="en-US" dirty="0"/>
              <a:t>大規模</a:t>
            </a:r>
            <a:r>
              <a:rPr lang="en-US" altLang="ja-JP" dirty="0"/>
              <a:t>MRA</a:t>
            </a:r>
            <a:r>
              <a:rPr lang="ja-JP" altLang="en-US" dirty="0"/>
              <a:t>データを処理するための</a:t>
            </a:r>
            <a:r>
              <a:rPr lang="ja-JP" altLang="en-US" u="sng" dirty="0"/>
              <a:t>脳動脈形状の統計的解析パイプライン</a:t>
            </a:r>
            <a:r>
              <a:rPr lang="ja-JP" altLang="en-US"/>
              <a:t>の開発</a:t>
            </a:r>
            <a:endParaRPr lang="en-US" altLang="ja-JP" dirty="0"/>
          </a:p>
          <a:p>
            <a:r>
              <a:rPr lang="ja-JP" altLang="en-US"/>
              <a:t>深層学習モデルによる</a:t>
            </a:r>
            <a:r>
              <a:rPr lang="en-US" altLang="ja-JP" dirty="0" err="1"/>
              <a:t>CoW</a:t>
            </a:r>
            <a:r>
              <a:rPr lang="ja-JP" altLang="en-US"/>
              <a:t>血管領域自動セグメンテーション</a:t>
            </a:r>
            <a:endParaRPr lang="en-US" altLang="ja-JP" dirty="0"/>
          </a:p>
          <a:p>
            <a:r>
              <a:rPr lang="ja-JP" altLang="en-US"/>
              <a:t>構造的モデリングデータ：ラベル付きボクセル・中心線・表面格子</a:t>
            </a:r>
            <a:endParaRPr lang="en-US" altLang="ja-JP" dirty="0"/>
          </a:p>
          <a:p>
            <a:r>
              <a:rPr lang="ja-JP" altLang="en-US" dirty="0"/>
              <a:t>幾何学的特徴を用いた解剖学的</a:t>
            </a:r>
            <a:r>
              <a:rPr lang="ja-JP" altLang="en-US"/>
              <a:t>特徴推定：局所湾曲を用いた頸動脈サイホン部形状分類</a:t>
            </a:r>
            <a:endParaRPr lang="en-US" altLang="ja-JP" dirty="0"/>
          </a:p>
          <a:p>
            <a:r>
              <a:rPr lang="ja-JP" altLang="en-US" dirty="0"/>
              <a:t>主成分分析を用いた内頸動脈中心</a:t>
            </a:r>
            <a:r>
              <a:rPr lang="ja-JP" altLang="en-US"/>
              <a:t>線の表現</a:t>
            </a:r>
            <a:r>
              <a:rPr lang="ja-JP" altLang="en-US" dirty="0"/>
              <a:t>・</a:t>
            </a:r>
            <a:r>
              <a:rPr lang="ja-JP" altLang="en-US"/>
              <a:t>再構成</a:t>
            </a:r>
            <a:endParaRPr lang="en-US" altLang="ja-JP" dirty="0"/>
          </a:p>
          <a:p>
            <a:endParaRPr lang="en-US" altLang="ja-JP" dirty="0"/>
          </a:p>
          <a:p>
            <a:pPr marL="0" indent="0">
              <a:buNone/>
            </a:pPr>
            <a:r>
              <a:rPr lang="ja-JP" altLang="en-US" sz="2400"/>
              <a:t>今後の展開について</a:t>
            </a:r>
            <a:endParaRPr lang="en-US" altLang="ja-JP" sz="2400" dirty="0"/>
          </a:p>
          <a:p>
            <a:r>
              <a:rPr lang="ja-JP" altLang="en-US"/>
              <a:t>一般規模データで開発されたパイプラインを大規模データセットに使用する際の検証手法</a:t>
            </a:r>
            <a:endParaRPr lang="en-US" altLang="ja-JP" dirty="0"/>
          </a:p>
          <a:p>
            <a:r>
              <a:rPr lang="ja-JP" altLang="en-US"/>
              <a:t>統計的形状解析手法の中心線からの拡張</a:t>
            </a:r>
            <a:endParaRPr lang="en-US" altLang="ja-JP" dirty="0"/>
          </a:p>
          <a:p>
            <a:endParaRPr lang="en-US" dirty="0"/>
          </a:p>
        </p:txBody>
      </p:sp>
      <p:sp>
        <p:nvSpPr>
          <p:cNvPr id="6" name="文本占位符 5">
            <a:extLst>
              <a:ext uri="{FF2B5EF4-FFF2-40B4-BE49-F238E27FC236}">
                <a16:creationId xmlns:a16="http://schemas.microsoft.com/office/drawing/2014/main" id="{347C7C69-11E0-7172-26CC-4B2ED9F412E3}"/>
              </a:ext>
            </a:extLst>
          </p:cNvPr>
          <p:cNvSpPr>
            <a:spLocks noGrp="1"/>
          </p:cNvSpPr>
          <p:nvPr>
            <p:ph type="body" sz="quarter" idx="13"/>
          </p:nvPr>
        </p:nvSpPr>
        <p:spPr/>
        <p:txBody>
          <a:bodyPr/>
          <a:lstStyle/>
          <a:p>
            <a:r>
              <a:rPr lang="en-US" altLang="zh-CN" dirty="0"/>
              <a:t>2025.12.06</a:t>
            </a:r>
            <a:r>
              <a:rPr lang="ja-JP" altLang="en-US" dirty="0"/>
              <a:t>　バイオフロンティア講演会　</a:t>
            </a:r>
            <a:r>
              <a:rPr lang="en-US" altLang="ja-JP" dirty="0"/>
              <a:t>1E12</a:t>
            </a:r>
          </a:p>
        </p:txBody>
      </p:sp>
      <p:sp>
        <p:nvSpPr>
          <p:cNvPr id="7" name="文本占位符 6">
            <a:extLst>
              <a:ext uri="{FF2B5EF4-FFF2-40B4-BE49-F238E27FC236}">
                <a16:creationId xmlns:a16="http://schemas.microsoft.com/office/drawing/2014/main" id="{AB17734E-3ABF-6CFC-F632-B5CDA58D2D6B}"/>
              </a:ext>
            </a:extLst>
          </p:cNvPr>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37186175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926A9-F49A-746A-55A1-DFE7AFCB5120}"/>
              </a:ext>
            </a:extLst>
          </p:cNvPr>
          <p:cNvSpPr>
            <a:spLocks noGrp="1"/>
          </p:cNvSpPr>
          <p:nvPr>
            <p:ph type="title"/>
          </p:nvPr>
        </p:nvSpPr>
        <p:spPr/>
        <p:txBody>
          <a:bodyPr/>
          <a:lstStyle/>
          <a:p>
            <a:r>
              <a:rPr lang="en-JP" dirty="0"/>
              <a:t>Acknowledgement</a:t>
            </a:r>
          </a:p>
        </p:txBody>
      </p:sp>
      <p:sp>
        <p:nvSpPr>
          <p:cNvPr id="5" name="Footer Placeholder 4">
            <a:extLst>
              <a:ext uri="{FF2B5EF4-FFF2-40B4-BE49-F238E27FC236}">
                <a16:creationId xmlns:a16="http://schemas.microsoft.com/office/drawing/2014/main" id="{FC0FD0E9-4DCA-7133-6876-E6AA01CEA984}"/>
              </a:ext>
            </a:extLst>
          </p:cNvPr>
          <p:cNvSpPr>
            <a:spLocks noGrp="1"/>
          </p:cNvSpPr>
          <p:nvPr>
            <p:ph type="ftr" sz="quarter" idx="10"/>
          </p:nvPr>
        </p:nvSpPr>
        <p:spPr/>
        <p:txBody>
          <a:bodyPr/>
          <a:lstStyle/>
          <a:p>
            <a:endParaRPr lang="en-US"/>
          </a:p>
        </p:txBody>
      </p:sp>
      <p:sp>
        <p:nvSpPr>
          <p:cNvPr id="6" name="Slide Number Placeholder 5">
            <a:extLst>
              <a:ext uri="{FF2B5EF4-FFF2-40B4-BE49-F238E27FC236}">
                <a16:creationId xmlns:a16="http://schemas.microsoft.com/office/drawing/2014/main" id="{66AF5BF0-D96E-4F80-D9E3-61567732541E}"/>
              </a:ext>
            </a:extLst>
          </p:cNvPr>
          <p:cNvSpPr>
            <a:spLocks noGrp="1"/>
          </p:cNvSpPr>
          <p:nvPr>
            <p:ph type="sldNum" sz="quarter" idx="11"/>
          </p:nvPr>
        </p:nvSpPr>
        <p:spPr/>
        <p:txBody>
          <a:bodyPr/>
          <a:lstStyle/>
          <a:p>
            <a:fld id="{E2B18E97-1989-4D85-BA90-17B226C62452}" type="slidenum">
              <a:rPr lang="en-US" smtClean="0"/>
              <a:t>10</a:t>
            </a:fld>
            <a:endParaRPr lang="en-US"/>
          </a:p>
        </p:txBody>
      </p:sp>
      <p:sp>
        <p:nvSpPr>
          <p:cNvPr id="3" name="Content Placeholder 2">
            <a:extLst>
              <a:ext uri="{FF2B5EF4-FFF2-40B4-BE49-F238E27FC236}">
                <a16:creationId xmlns:a16="http://schemas.microsoft.com/office/drawing/2014/main" id="{B3AD70A9-3CAE-8D47-009C-BA29C564C598}"/>
              </a:ext>
            </a:extLst>
          </p:cNvPr>
          <p:cNvSpPr>
            <a:spLocks noGrp="1"/>
          </p:cNvSpPr>
          <p:nvPr>
            <p:ph type="body" sz="quarter" idx="12"/>
          </p:nvPr>
        </p:nvSpPr>
        <p:spPr/>
        <p:txBody>
          <a:bodyPr/>
          <a:lstStyle/>
          <a:p>
            <a:r>
              <a:rPr lang="en-US" altLang="ja-JP" b="0" dirty="0">
                <a:latin typeface="Aptos Black" panose="020B0004020202020204" pitchFamily="34" charset="0"/>
                <a:cs typeface="Arial" panose="020B0604020202020204" pitchFamily="34" charset="0"/>
              </a:rPr>
              <a:t>This research was supported by AMED under Grant Number JP23tm0524003 and JSPS KAKENHI under Grant Number JP22H00190</a:t>
            </a:r>
          </a:p>
          <a:p>
            <a:endParaRPr lang="en-JP" dirty="0"/>
          </a:p>
        </p:txBody>
      </p:sp>
      <p:sp>
        <p:nvSpPr>
          <p:cNvPr id="11" name="文本占位符 10">
            <a:extLst>
              <a:ext uri="{FF2B5EF4-FFF2-40B4-BE49-F238E27FC236}">
                <a16:creationId xmlns:a16="http://schemas.microsoft.com/office/drawing/2014/main" id="{FB5E7E5B-1190-C222-CB43-7DDB66915AAB}"/>
              </a:ext>
            </a:extLst>
          </p:cNvPr>
          <p:cNvSpPr>
            <a:spLocks noGrp="1"/>
          </p:cNvSpPr>
          <p:nvPr>
            <p:ph type="body" sz="quarter" idx="13"/>
          </p:nvPr>
        </p:nvSpPr>
        <p:spPr/>
        <p:txBody>
          <a:bodyPr/>
          <a:lstStyle/>
          <a:p>
            <a:endParaRPr lang="en-US"/>
          </a:p>
        </p:txBody>
      </p:sp>
      <p:sp>
        <p:nvSpPr>
          <p:cNvPr id="12" name="文本占位符 11">
            <a:extLst>
              <a:ext uri="{FF2B5EF4-FFF2-40B4-BE49-F238E27FC236}">
                <a16:creationId xmlns:a16="http://schemas.microsoft.com/office/drawing/2014/main" id="{30B6E0E0-630E-5050-91ED-5A465728E532}"/>
              </a:ext>
            </a:extLst>
          </p:cNvPr>
          <p:cNvSpPr>
            <a:spLocks noGrp="1"/>
          </p:cNvSpPr>
          <p:nvPr>
            <p:ph type="body" sz="quarter" idx="14"/>
          </p:nvPr>
        </p:nvSpPr>
        <p:spPr/>
        <p:txBody>
          <a:bodyPr/>
          <a:lstStyle/>
          <a:p>
            <a:endParaRPr lang="en-US"/>
          </a:p>
        </p:txBody>
      </p:sp>
      <p:sp>
        <p:nvSpPr>
          <p:cNvPr id="4" name="Date Placeholder 3">
            <a:extLst>
              <a:ext uri="{FF2B5EF4-FFF2-40B4-BE49-F238E27FC236}">
                <a16:creationId xmlns:a16="http://schemas.microsoft.com/office/drawing/2014/main" id="{1B55F035-03E8-682A-4950-9DFECF8D44E3}"/>
              </a:ext>
            </a:extLst>
          </p:cNvPr>
          <p:cNvSpPr>
            <a:spLocks noGrp="1"/>
          </p:cNvSpPr>
          <p:nvPr>
            <p:ph type="dt" sz="half" idx="4294967295"/>
          </p:nvPr>
        </p:nvSpPr>
        <p:spPr>
          <a:xfrm>
            <a:off x="0" y="0"/>
            <a:ext cx="0" cy="0"/>
          </a:xfrm>
        </p:spPr>
        <p:txBody>
          <a:bodyPr/>
          <a:lstStyle/>
          <a:p>
            <a:fld id="{3D4D8E17-0A3C-49C2-943F-7AB0ED31512A}" type="datetime1">
              <a:rPr lang="en-US" smtClean="0"/>
              <a:t>12/9/2025</a:t>
            </a:fld>
            <a:endParaRPr lang="en-US" dirty="0"/>
          </a:p>
        </p:txBody>
      </p:sp>
      <p:pic>
        <p:nvPicPr>
          <p:cNvPr id="7" name="图片 6">
            <a:extLst>
              <a:ext uri="{FF2B5EF4-FFF2-40B4-BE49-F238E27FC236}">
                <a16:creationId xmlns:a16="http://schemas.microsoft.com/office/drawing/2014/main" id="{15EC3E2A-1757-119B-CC20-99776714517D}"/>
              </a:ext>
            </a:extLst>
          </p:cNvPr>
          <p:cNvPicPr>
            <a:picLocks noChangeAspect="1"/>
          </p:cNvPicPr>
          <p:nvPr/>
        </p:nvPicPr>
        <p:blipFill>
          <a:blip r:embed="rId2"/>
          <a:stretch>
            <a:fillRect/>
          </a:stretch>
        </p:blipFill>
        <p:spPr>
          <a:xfrm>
            <a:off x="504652" y="2086656"/>
            <a:ext cx="11182695" cy="3723593"/>
          </a:xfrm>
          <a:prstGeom prst="rect">
            <a:avLst/>
          </a:prstGeom>
        </p:spPr>
      </p:pic>
    </p:spTree>
    <p:extLst>
      <p:ext uri="{BB962C8B-B14F-4D97-AF65-F5344CB8AC3E}">
        <p14:creationId xmlns:p14="http://schemas.microsoft.com/office/powerpoint/2010/main" val="37398986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601379-F9B4-8B06-05AC-687B22790741}"/>
              </a:ext>
            </a:extLst>
          </p:cNvPr>
          <p:cNvSpPr>
            <a:spLocks noGrp="1"/>
          </p:cNvSpPr>
          <p:nvPr>
            <p:ph type="title"/>
          </p:nvPr>
        </p:nvSpPr>
        <p:spPr/>
        <p:txBody>
          <a:bodyPr/>
          <a:lstStyle/>
          <a:p>
            <a:r>
              <a:rPr lang="en-US"/>
              <a:t>Reconstructing PCs</a:t>
            </a:r>
          </a:p>
        </p:txBody>
      </p:sp>
      <p:sp>
        <p:nvSpPr>
          <p:cNvPr id="3" name="页脚占位符 2">
            <a:extLst>
              <a:ext uri="{FF2B5EF4-FFF2-40B4-BE49-F238E27FC236}">
                <a16:creationId xmlns:a16="http://schemas.microsoft.com/office/drawing/2014/main" id="{1CBEA87C-9F14-309B-324D-BD8792C4DC73}"/>
              </a:ext>
            </a:extLst>
          </p:cNvPr>
          <p:cNvSpPr>
            <a:spLocks noGrp="1"/>
          </p:cNvSpPr>
          <p:nvPr>
            <p:ph type="ftr" sz="quarter" idx="10"/>
          </p:nvPr>
        </p:nvSpPr>
        <p:spPr/>
        <p:txBody>
          <a:bodyPr/>
          <a:lstStyle/>
          <a:p>
            <a:endParaRPr lang="en-US"/>
          </a:p>
        </p:txBody>
      </p:sp>
      <p:sp>
        <p:nvSpPr>
          <p:cNvPr id="4" name="灯片编号占位符 3">
            <a:extLst>
              <a:ext uri="{FF2B5EF4-FFF2-40B4-BE49-F238E27FC236}">
                <a16:creationId xmlns:a16="http://schemas.microsoft.com/office/drawing/2014/main" id="{45AA0B9D-FF13-9A9C-705D-CC6956F38508}"/>
              </a:ext>
            </a:extLst>
          </p:cNvPr>
          <p:cNvSpPr>
            <a:spLocks noGrp="1"/>
          </p:cNvSpPr>
          <p:nvPr>
            <p:ph type="sldNum" sz="quarter" idx="11"/>
          </p:nvPr>
        </p:nvSpPr>
        <p:spPr/>
        <p:txBody>
          <a:bodyPr/>
          <a:lstStyle/>
          <a:p>
            <a:fld id="{E2B18E97-1989-4D85-BA90-17B226C62452}" type="slidenum">
              <a:rPr lang="en-US" smtClean="0"/>
              <a:pPr/>
              <a:t>11</a:t>
            </a:fld>
            <a:endParaRPr lang="en-US"/>
          </a:p>
        </p:txBody>
      </p:sp>
      <p:sp>
        <p:nvSpPr>
          <p:cNvPr id="5" name="图片占位符 4">
            <a:extLst>
              <a:ext uri="{FF2B5EF4-FFF2-40B4-BE49-F238E27FC236}">
                <a16:creationId xmlns:a16="http://schemas.microsoft.com/office/drawing/2014/main" id="{C1AC3906-6F7D-BA0A-02CC-E4DF23071756}"/>
              </a:ext>
            </a:extLst>
          </p:cNvPr>
          <p:cNvSpPr>
            <a:spLocks noGrp="1"/>
          </p:cNvSpPr>
          <p:nvPr>
            <p:ph type="pic" sz="quarter" idx="12"/>
          </p:nvPr>
        </p:nvSpPr>
        <p:spPr/>
        <p:txBody>
          <a:bodyPr/>
          <a:lstStyle/>
          <a:p>
            <a:endParaRPr lang="en-US"/>
          </a:p>
        </p:txBody>
      </p:sp>
      <p:sp>
        <p:nvSpPr>
          <p:cNvPr id="6" name="文本占位符 5">
            <a:extLst>
              <a:ext uri="{FF2B5EF4-FFF2-40B4-BE49-F238E27FC236}">
                <a16:creationId xmlns:a16="http://schemas.microsoft.com/office/drawing/2014/main" id="{BC7338A7-959E-A20E-DFCD-3306443376C3}"/>
              </a:ext>
            </a:extLst>
          </p:cNvPr>
          <p:cNvSpPr>
            <a:spLocks noGrp="1"/>
          </p:cNvSpPr>
          <p:nvPr>
            <p:ph type="body" sz="quarter" idx="15"/>
          </p:nvPr>
        </p:nvSpPr>
        <p:spPr/>
        <p:txBody>
          <a:bodyPr/>
          <a:lstStyle/>
          <a:p>
            <a:endParaRPr lang="en-US"/>
          </a:p>
        </p:txBody>
      </p:sp>
      <p:pic>
        <p:nvPicPr>
          <p:cNvPr id="10" name="图片 9">
            <a:extLst>
              <a:ext uri="{FF2B5EF4-FFF2-40B4-BE49-F238E27FC236}">
                <a16:creationId xmlns:a16="http://schemas.microsoft.com/office/drawing/2014/main" id="{B58A1F9A-A64C-7A52-34D6-305903BFD2F6}"/>
              </a:ext>
            </a:extLst>
          </p:cNvPr>
          <p:cNvPicPr>
            <a:picLocks noChangeAspect="1"/>
          </p:cNvPicPr>
          <p:nvPr/>
        </p:nvPicPr>
        <p:blipFill>
          <a:blip r:embed="rId3"/>
          <a:stretch>
            <a:fillRect/>
          </a:stretch>
        </p:blipFill>
        <p:spPr>
          <a:xfrm>
            <a:off x="1847850" y="1228558"/>
            <a:ext cx="8496300" cy="4727921"/>
          </a:xfrm>
          <a:prstGeom prst="rect">
            <a:avLst/>
          </a:prstGeom>
        </p:spPr>
      </p:pic>
    </p:spTree>
    <p:extLst>
      <p:ext uri="{BB962C8B-B14F-4D97-AF65-F5344CB8AC3E}">
        <p14:creationId xmlns:p14="http://schemas.microsoft.com/office/powerpoint/2010/main" val="32568428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3" name="图片 22">
            <a:extLst>
              <a:ext uri="{FF2B5EF4-FFF2-40B4-BE49-F238E27FC236}">
                <a16:creationId xmlns:a16="http://schemas.microsoft.com/office/drawing/2014/main" id="{D174DBA4-84DB-0985-532C-339CF36E2D5B}"/>
              </a:ext>
            </a:extLst>
          </p:cNvPr>
          <p:cNvPicPr>
            <a:picLocks noChangeAspect="1"/>
          </p:cNvPicPr>
          <p:nvPr/>
        </p:nvPicPr>
        <p:blipFill>
          <a:blip r:embed="rId3"/>
          <a:stretch>
            <a:fillRect/>
          </a:stretch>
        </p:blipFill>
        <p:spPr>
          <a:xfrm>
            <a:off x="7106695" y="1163638"/>
            <a:ext cx="4318541" cy="5143500"/>
          </a:xfrm>
          <a:prstGeom prst="rect">
            <a:avLst/>
          </a:prstGeom>
        </p:spPr>
      </p:pic>
      <p:sp>
        <p:nvSpPr>
          <p:cNvPr id="26" name="文本框 25">
            <a:extLst>
              <a:ext uri="{FF2B5EF4-FFF2-40B4-BE49-F238E27FC236}">
                <a16:creationId xmlns:a16="http://schemas.microsoft.com/office/drawing/2014/main" id="{E8362784-C4B7-F95E-2308-095F943F1244}"/>
              </a:ext>
            </a:extLst>
          </p:cNvPr>
          <p:cNvSpPr txBox="1"/>
          <p:nvPr/>
        </p:nvSpPr>
        <p:spPr>
          <a:xfrm>
            <a:off x="8994610" y="2836410"/>
            <a:ext cx="1790875" cy="300082"/>
          </a:xfrm>
          <a:prstGeom prst="rect">
            <a:avLst/>
          </a:prstGeom>
          <a:noFill/>
        </p:spPr>
        <p:txBody>
          <a:bodyPr wrap="none" rtlCol="0">
            <a:spAutoFit/>
          </a:bodyPr>
          <a:lstStyle/>
          <a:p>
            <a:r>
              <a:rPr lang="en-US" altLang="zh-CN" sz="1350" b="1">
                <a:solidFill>
                  <a:srgbClr val="D75B3C"/>
                </a:solidFill>
              </a:rPr>
              <a:t>C2</a:t>
            </a:r>
            <a:r>
              <a:rPr lang="en-US" altLang="zh-CN" sz="1350"/>
              <a:t> Petrous Segment</a:t>
            </a:r>
            <a:endParaRPr lang="en-US" sz="1350"/>
          </a:p>
        </p:txBody>
      </p:sp>
      <p:sp>
        <p:nvSpPr>
          <p:cNvPr id="27" name="文本框 26">
            <a:extLst>
              <a:ext uri="{FF2B5EF4-FFF2-40B4-BE49-F238E27FC236}">
                <a16:creationId xmlns:a16="http://schemas.microsoft.com/office/drawing/2014/main" id="{2FC5D785-3915-8002-4DD2-0FE6895858A0}"/>
              </a:ext>
            </a:extLst>
          </p:cNvPr>
          <p:cNvSpPr txBox="1"/>
          <p:nvPr/>
        </p:nvSpPr>
        <p:spPr>
          <a:xfrm>
            <a:off x="8297277" y="2138016"/>
            <a:ext cx="1867819" cy="300082"/>
          </a:xfrm>
          <a:prstGeom prst="rect">
            <a:avLst/>
          </a:prstGeom>
          <a:noFill/>
        </p:spPr>
        <p:txBody>
          <a:bodyPr wrap="none" rtlCol="0">
            <a:spAutoFit/>
          </a:bodyPr>
          <a:lstStyle/>
          <a:p>
            <a:r>
              <a:rPr lang="en-US" altLang="zh-CN" sz="1350" b="1">
                <a:solidFill>
                  <a:srgbClr val="DED722"/>
                </a:solidFill>
              </a:rPr>
              <a:t>C3</a:t>
            </a:r>
            <a:r>
              <a:rPr lang="en-US" altLang="zh-CN" sz="1350"/>
              <a:t> Lacerum Segment</a:t>
            </a:r>
            <a:endParaRPr lang="en-US" sz="1350"/>
          </a:p>
        </p:txBody>
      </p:sp>
      <p:sp>
        <p:nvSpPr>
          <p:cNvPr id="28" name="文本框 27">
            <a:extLst>
              <a:ext uri="{FF2B5EF4-FFF2-40B4-BE49-F238E27FC236}">
                <a16:creationId xmlns:a16="http://schemas.microsoft.com/office/drawing/2014/main" id="{E7C1E9F6-A84C-625E-E3D0-F35E986273BC}"/>
              </a:ext>
            </a:extLst>
          </p:cNvPr>
          <p:cNvSpPr txBox="1"/>
          <p:nvPr/>
        </p:nvSpPr>
        <p:spPr>
          <a:xfrm>
            <a:off x="8276102" y="1751866"/>
            <a:ext cx="2031325" cy="300082"/>
          </a:xfrm>
          <a:prstGeom prst="rect">
            <a:avLst/>
          </a:prstGeom>
          <a:noFill/>
        </p:spPr>
        <p:txBody>
          <a:bodyPr wrap="none" rtlCol="0">
            <a:spAutoFit/>
          </a:bodyPr>
          <a:lstStyle/>
          <a:p>
            <a:r>
              <a:rPr lang="en-US" altLang="zh-CN" sz="1350" b="1">
                <a:solidFill>
                  <a:srgbClr val="2E8BDE"/>
                </a:solidFill>
              </a:rPr>
              <a:t>C4</a:t>
            </a:r>
            <a:r>
              <a:rPr lang="en-US" altLang="zh-CN" sz="1350"/>
              <a:t> Cavernous Segment</a:t>
            </a:r>
            <a:endParaRPr lang="en-US" sz="1350"/>
          </a:p>
        </p:txBody>
      </p:sp>
      <p:sp>
        <p:nvSpPr>
          <p:cNvPr id="29" name="文本框 28">
            <a:extLst>
              <a:ext uri="{FF2B5EF4-FFF2-40B4-BE49-F238E27FC236}">
                <a16:creationId xmlns:a16="http://schemas.microsoft.com/office/drawing/2014/main" id="{07ABFC5C-D60A-29FC-428E-6D4C731651D1}"/>
              </a:ext>
            </a:extLst>
          </p:cNvPr>
          <p:cNvSpPr txBox="1"/>
          <p:nvPr/>
        </p:nvSpPr>
        <p:spPr>
          <a:xfrm>
            <a:off x="5790487" y="1738740"/>
            <a:ext cx="1723549" cy="300082"/>
          </a:xfrm>
          <a:prstGeom prst="rect">
            <a:avLst/>
          </a:prstGeom>
          <a:noFill/>
        </p:spPr>
        <p:txBody>
          <a:bodyPr wrap="none" rtlCol="0">
            <a:spAutoFit/>
          </a:bodyPr>
          <a:lstStyle/>
          <a:p>
            <a:r>
              <a:rPr lang="en-US" altLang="zh-CN" sz="1350" b="1">
                <a:solidFill>
                  <a:srgbClr val="B648CB"/>
                </a:solidFill>
              </a:rPr>
              <a:t>C5</a:t>
            </a:r>
            <a:r>
              <a:rPr lang="en-US" altLang="zh-CN" sz="1350"/>
              <a:t> Clinoid Segment</a:t>
            </a:r>
            <a:endParaRPr lang="en-US" sz="1350"/>
          </a:p>
        </p:txBody>
      </p:sp>
      <p:sp>
        <p:nvSpPr>
          <p:cNvPr id="30" name="文本框 29">
            <a:extLst>
              <a:ext uri="{FF2B5EF4-FFF2-40B4-BE49-F238E27FC236}">
                <a16:creationId xmlns:a16="http://schemas.microsoft.com/office/drawing/2014/main" id="{22EB6458-E911-5322-F6EF-92D7D20614A7}"/>
              </a:ext>
            </a:extLst>
          </p:cNvPr>
          <p:cNvSpPr txBox="1"/>
          <p:nvPr/>
        </p:nvSpPr>
        <p:spPr>
          <a:xfrm>
            <a:off x="5462624" y="1461741"/>
            <a:ext cx="2069797" cy="300082"/>
          </a:xfrm>
          <a:prstGeom prst="rect">
            <a:avLst/>
          </a:prstGeom>
          <a:noFill/>
        </p:spPr>
        <p:txBody>
          <a:bodyPr wrap="none" rtlCol="0">
            <a:spAutoFit/>
          </a:bodyPr>
          <a:lstStyle/>
          <a:p>
            <a:r>
              <a:rPr lang="en-US" altLang="zh-CN" sz="1350">
                <a:solidFill>
                  <a:srgbClr val="00C7AA"/>
                </a:solidFill>
              </a:rPr>
              <a:t>C6</a:t>
            </a:r>
            <a:r>
              <a:rPr lang="en-US" altLang="zh-CN" sz="1350"/>
              <a:t> Ophthalmic Segment</a:t>
            </a:r>
            <a:endParaRPr lang="en-US" sz="1350"/>
          </a:p>
        </p:txBody>
      </p:sp>
      <p:sp>
        <p:nvSpPr>
          <p:cNvPr id="31" name="文本框 30">
            <a:extLst>
              <a:ext uri="{FF2B5EF4-FFF2-40B4-BE49-F238E27FC236}">
                <a16:creationId xmlns:a16="http://schemas.microsoft.com/office/drawing/2014/main" id="{0A2C0FFE-7327-9296-B8E4-C6EE05472B46}"/>
              </a:ext>
            </a:extLst>
          </p:cNvPr>
          <p:cNvSpPr txBox="1"/>
          <p:nvPr/>
        </p:nvSpPr>
        <p:spPr>
          <a:xfrm>
            <a:off x="8150869" y="1192079"/>
            <a:ext cx="2233625" cy="300082"/>
          </a:xfrm>
          <a:prstGeom prst="rect">
            <a:avLst/>
          </a:prstGeom>
          <a:noFill/>
        </p:spPr>
        <p:txBody>
          <a:bodyPr wrap="none" rtlCol="0">
            <a:spAutoFit/>
          </a:bodyPr>
          <a:lstStyle/>
          <a:p>
            <a:r>
              <a:rPr lang="en-US" altLang="zh-CN" sz="1350" b="1" dirty="0">
                <a:solidFill>
                  <a:srgbClr val="AED81A"/>
                </a:solidFill>
              </a:rPr>
              <a:t>C7</a:t>
            </a:r>
            <a:r>
              <a:rPr lang="en-US" altLang="zh-CN" sz="1350" dirty="0"/>
              <a:t> </a:t>
            </a:r>
            <a:r>
              <a:rPr lang="en-US" altLang="zh-CN" sz="1350" dirty="0" err="1"/>
              <a:t>Comunicating</a:t>
            </a:r>
            <a:r>
              <a:rPr lang="en-US" altLang="zh-CN" sz="1350" dirty="0"/>
              <a:t> Segment</a:t>
            </a:r>
            <a:endParaRPr lang="en-US" sz="1350" dirty="0"/>
          </a:p>
        </p:txBody>
      </p:sp>
      <p:sp>
        <p:nvSpPr>
          <p:cNvPr id="34" name="文本框 33">
            <a:extLst>
              <a:ext uri="{FF2B5EF4-FFF2-40B4-BE49-F238E27FC236}">
                <a16:creationId xmlns:a16="http://schemas.microsoft.com/office/drawing/2014/main" id="{E1B4A293-E313-2336-E241-E9906B72BB5F}"/>
              </a:ext>
            </a:extLst>
          </p:cNvPr>
          <p:cNvSpPr txBox="1"/>
          <p:nvPr/>
        </p:nvSpPr>
        <p:spPr>
          <a:xfrm>
            <a:off x="9702967" y="6006074"/>
            <a:ext cx="1512081" cy="300082"/>
          </a:xfrm>
          <a:prstGeom prst="rect">
            <a:avLst/>
          </a:prstGeom>
          <a:noFill/>
        </p:spPr>
        <p:txBody>
          <a:bodyPr wrap="none" rtlCol="0">
            <a:spAutoFit/>
          </a:bodyPr>
          <a:lstStyle/>
          <a:p>
            <a:r>
              <a:rPr lang="en-US" sz="1350" dirty="0"/>
              <a:t>[Bouthillier 1996]</a:t>
            </a:r>
          </a:p>
        </p:txBody>
      </p:sp>
      <p:sp>
        <p:nvSpPr>
          <p:cNvPr id="3" name="标题 2">
            <a:extLst>
              <a:ext uri="{FF2B5EF4-FFF2-40B4-BE49-F238E27FC236}">
                <a16:creationId xmlns:a16="http://schemas.microsoft.com/office/drawing/2014/main" id="{B4D43B3C-DDC6-B76D-025A-491907A68E20}"/>
              </a:ext>
            </a:extLst>
          </p:cNvPr>
          <p:cNvSpPr>
            <a:spLocks noGrp="1"/>
          </p:cNvSpPr>
          <p:nvPr>
            <p:ph type="title"/>
          </p:nvPr>
        </p:nvSpPr>
        <p:spPr/>
        <p:txBody>
          <a:bodyPr/>
          <a:lstStyle/>
          <a:p>
            <a:r>
              <a:rPr lang="ja-JP" altLang="en-US" dirty="0"/>
              <a:t>内頸動脈サイホン部</a:t>
            </a:r>
            <a:endParaRPr lang="en-US" dirty="0"/>
          </a:p>
        </p:txBody>
      </p:sp>
      <p:sp>
        <p:nvSpPr>
          <p:cNvPr id="2" name="灯片编号占位符 1">
            <a:extLst>
              <a:ext uri="{FF2B5EF4-FFF2-40B4-BE49-F238E27FC236}">
                <a16:creationId xmlns:a16="http://schemas.microsoft.com/office/drawing/2014/main" id="{77E2D79D-2018-E644-7AF6-AC7744C5CB03}"/>
              </a:ext>
            </a:extLst>
          </p:cNvPr>
          <p:cNvSpPr>
            <a:spLocks noGrp="1"/>
          </p:cNvSpPr>
          <p:nvPr>
            <p:ph type="sldNum" sz="quarter" idx="11"/>
          </p:nvPr>
        </p:nvSpPr>
        <p:spPr/>
        <p:txBody>
          <a:bodyPr/>
          <a:lstStyle/>
          <a:p>
            <a:fld id="{EE7526AA-F3CD-450D-ADBB-FB2EBC484A89}" type="slidenum">
              <a:rPr lang="en-US" smtClean="0"/>
              <a:t>12</a:t>
            </a:fld>
            <a:endParaRPr lang="en-US"/>
          </a:p>
        </p:txBody>
      </p:sp>
      <p:sp>
        <p:nvSpPr>
          <p:cNvPr id="6" name="文本占位符 5">
            <a:extLst>
              <a:ext uri="{FF2B5EF4-FFF2-40B4-BE49-F238E27FC236}">
                <a16:creationId xmlns:a16="http://schemas.microsoft.com/office/drawing/2014/main" id="{D03CD9C5-03D1-1C46-7C55-31B0DCF00095}"/>
              </a:ext>
            </a:extLst>
          </p:cNvPr>
          <p:cNvSpPr>
            <a:spLocks noGrp="1"/>
          </p:cNvSpPr>
          <p:nvPr>
            <p:ph type="body" sz="quarter" idx="13"/>
          </p:nvPr>
        </p:nvSpPr>
        <p:spPr/>
        <p:txBody>
          <a:bodyPr/>
          <a:lstStyle/>
          <a:p>
            <a:endParaRPr lang="en-US"/>
          </a:p>
        </p:txBody>
      </p:sp>
      <p:sp>
        <p:nvSpPr>
          <p:cNvPr id="7" name="文本占位符 6">
            <a:extLst>
              <a:ext uri="{FF2B5EF4-FFF2-40B4-BE49-F238E27FC236}">
                <a16:creationId xmlns:a16="http://schemas.microsoft.com/office/drawing/2014/main" id="{316BA9C4-CB28-76AC-8BD9-2AE6595DCA2B}"/>
              </a:ext>
            </a:extLst>
          </p:cNvPr>
          <p:cNvSpPr>
            <a:spLocks noGrp="1"/>
          </p:cNvSpPr>
          <p:nvPr>
            <p:ph type="body" sz="quarter" idx="14"/>
          </p:nvPr>
        </p:nvSpPr>
        <p:spPr/>
        <p:txBody>
          <a:bodyPr/>
          <a:lstStyle/>
          <a:p>
            <a:endParaRPr lang="en-US"/>
          </a:p>
        </p:txBody>
      </p:sp>
      <p:sp>
        <p:nvSpPr>
          <p:cNvPr id="1037" name="文本框 1036">
            <a:extLst>
              <a:ext uri="{FF2B5EF4-FFF2-40B4-BE49-F238E27FC236}">
                <a16:creationId xmlns:a16="http://schemas.microsoft.com/office/drawing/2014/main" id="{089C4883-9DDA-07ED-F554-00B0353406A9}"/>
              </a:ext>
            </a:extLst>
          </p:cNvPr>
          <p:cNvSpPr txBox="1"/>
          <p:nvPr/>
        </p:nvSpPr>
        <p:spPr>
          <a:xfrm>
            <a:off x="9043108" y="2535560"/>
            <a:ext cx="2085827" cy="300082"/>
          </a:xfrm>
          <a:prstGeom prst="rect">
            <a:avLst/>
          </a:prstGeom>
          <a:noFill/>
        </p:spPr>
        <p:txBody>
          <a:bodyPr wrap="none" rtlCol="0">
            <a:spAutoFit/>
          </a:bodyPr>
          <a:lstStyle/>
          <a:p>
            <a:r>
              <a:rPr lang="ja-JP" altLang="en-US" sz="1350" b="1">
                <a:solidFill>
                  <a:srgbClr val="D75B3C"/>
                </a:solidFill>
                <a:latin typeface="+mn-ea"/>
              </a:rPr>
              <a:t>頸動脈管</a:t>
            </a:r>
            <a:r>
              <a:rPr lang="en-US" altLang="ja-JP" sz="1350" b="1">
                <a:solidFill>
                  <a:srgbClr val="D75B3C"/>
                </a:solidFill>
                <a:latin typeface="+mn-ea"/>
              </a:rPr>
              <a:t>(</a:t>
            </a:r>
            <a:r>
              <a:rPr lang="ja-JP" altLang="en-US" sz="1350" b="1">
                <a:solidFill>
                  <a:srgbClr val="D75B3C"/>
                </a:solidFill>
                <a:latin typeface="+mn-ea"/>
              </a:rPr>
              <a:t>骨のトンネル</a:t>
            </a:r>
            <a:r>
              <a:rPr lang="en-US" altLang="ja-JP" sz="1350" b="1">
                <a:solidFill>
                  <a:srgbClr val="D75B3C"/>
                </a:solidFill>
                <a:latin typeface="+mn-ea"/>
              </a:rPr>
              <a:t>)</a:t>
            </a:r>
            <a:endParaRPr lang="en-US" sz="1350" b="1">
              <a:solidFill>
                <a:srgbClr val="D75B3C"/>
              </a:solidFill>
              <a:latin typeface="+mn-ea"/>
            </a:endParaRPr>
          </a:p>
        </p:txBody>
      </p:sp>
      <p:sp>
        <p:nvSpPr>
          <p:cNvPr id="1038" name="文本框 1037">
            <a:extLst>
              <a:ext uri="{FF2B5EF4-FFF2-40B4-BE49-F238E27FC236}">
                <a16:creationId xmlns:a16="http://schemas.microsoft.com/office/drawing/2014/main" id="{1D3D77AA-FF6A-C66A-23E4-23218687337F}"/>
              </a:ext>
            </a:extLst>
          </p:cNvPr>
          <p:cNvSpPr txBox="1"/>
          <p:nvPr/>
        </p:nvSpPr>
        <p:spPr>
          <a:xfrm>
            <a:off x="6413154" y="2102970"/>
            <a:ext cx="1685077" cy="300082"/>
          </a:xfrm>
          <a:prstGeom prst="rect">
            <a:avLst/>
          </a:prstGeom>
          <a:noFill/>
        </p:spPr>
        <p:txBody>
          <a:bodyPr wrap="none" rtlCol="0">
            <a:spAutoFit/>
          </a:bodyPr>
          <a:lstStyle/>
          <a:p>
            <a:r>
              <a:rPr lang="ja-JP" altLang="en-US" sz="1350" b="1">
                <a:solidFill>
                  <a:srgbClr val="2E8BDE"/>
                </a:solidFill>
                <a:latin typeface="Arial" panose="020B0604020202020204" pitchFamily="34" charset="0"/>
              </a:rPr>
              <a:t>海綿静脈洞</a:t>
            </a:r>
            <a:r>
              <a:rPr lang="en-US" altLang="ja-JP" sz="1350" b="1">
                <a:solidFill>
                  <a:srgbClr val="2E8BDE"/>
                </a:solidFill>
                <a:latin typeface="Arial" panose="020B0604020202020204" pitchFamily="34" charset="0"/>
              </a:rPr>
              <a:t>(</a:t>
            </a:r>
            <a:r>
              <a:rPr lang="ja-JP" altLang="en-US" sz="1350" b="1">
                <a:solidFill>
                  <a:srgbClr val="2E8BDE"/>
                </a:solidFill>
                <a:latin typeface="Arial" panose="020B0604020202020204" pitchFamily="34" charset="0"/>
              </a:rPr>
              <a:t>静脈洞</a:t>
            </a:r>
            <a:r>
              <a:rPr lang="en-US" altLang="ja-JP" sz="1350" b="1">
                <a:solidFill>
                  <a:srgbClr val="2E8BDE"/>
                </a:solidFill>
                <a:latin typeface="Arial" panose="020B0604020202020204" pitchFamily="34" charset="0"/>
              </a:rPr>
              <a:t>)</a:t>
            </a:r>
            <a:endParaRPr lang="en-US" sz="1350" b="1">
              <a:solidFill>
                <a:srgbClr val="2E8BDE"/>
              </a:solidFill>
              <a:latin typeface="Arial" panose="020B0604020202020204" pitchFamily="34" charset="0"/>
            </a:endParaRPr>
          </a:p>
        </p:txBody>
      </p:sp>
      <p:cxnSp>
        <p:nvCxnSpPr>
          <p:cNvPr id="1050" name="直接连接符 1049">
            <a:extLst>
              <a:ext uri="{FF2B5EF4-FFF2-40B4-BE49-F238E27FC236}">
                <a16:creationId xmlns:a16="http://schemas.microsoft.com/office/drawing/2014/main" id="{AEBFE6DD-F892-08B1-67B3-5E9102A32F25}"/>
              </a:ext>
            </a:extLst>
          </p:cNvPr>
          <p:cNvCxnSpPr>
            <a:cxnSpLocks/>
          </p:cNvCxnSpPr>
          <p:nvPr/>
        </p:nvCxnSpPr>
        <p:spPr>
          <a:xfrm flipV="1">
            <a:off x="5568599" y="1748112"/>
            <a:ext cx="1947970" cy="16284"/>
          </a:xfrm>
          <a:prstGeom prst="line">
            <a:avLst/>
          </a:prstGeom>
          <a:ln>
            <a:solidFill>
              <a:srgbClr val="00C7AA"/>
            </a:solidFill>
            <a:prstDash val="sysDash"/>
          </a:ln>
        </p:spPr>
        <p:style>
          <a:lnRef idx="2">
            <a:schemeClr val="accent1"/>
          </a:lnRef>
          <a:fillRef idx="0">
            <a:schemeClr val="accent1"/>
          </a:fillRef>
          <a:effectRef idx="1">
            <a:schemeClr val="accent1"/>
          </a:effectRef>
          <a:fontRef idx="minor">
            <a:schemeClr val="tx1"/>
          </a:fontRef>
        </p:style>
      </p:cxnSp>
      <p:cxnSp>
        <p:nvCxnSpPr>
          <p:cNvPr id="1056" name="直接连接符 1055">
            <a:extLst>
              <a:ext uri="{FF2B5EF4-FFF2-40B4-BE49-F238E27FC236}">
                <a16:creationId xmlns:a16="http://schemas.microsoft.com/office/drawing/2014/main" id="{A834AA04-7699-2FA5-CE31-85A4CF25BE89}"/>
              </a:ext>
            </a:extLst>
          </p:cNvPr>
          <p:cNvCxnSpPr>
            <a:cxnSpLocks/>
          </p:cNvCxnSpPr>
          <p:nvPr/>
        </p:nvCxnSpPr>
        <p:spPr>
          <a:xfrm flipV="1">
            <a:off x="7736822" y="1713741"/>
            <a:ext cx="3680883" cy="30770"/>
          </a:xfrm>
          <a:prstGeom prst="line">
            <a:avLst/>
          </a:prstGeom>
          <a:ln>
            <a:solidFill>
              <a:srgbClr val="00C7AA"/>
            </a:solidFill>
            <a:prstDash val="sysDash"/>
          </a:ln>
        </p:spPr>
        <p:style>
          <a:lnRef idx="2">
            <a:schemeClr val="accent1"/>
          </a:lnRef>
          <a:fillRef idx="0">
            <a:schemeClr val="accent1"/>
          </a:fillRef>
          <a:effectRef idx="1">
            <a:schemeClr val="accent1"/>
          </a:effectRef>
          <a:fontRef idx="minor">
            <a:schemeClr val="tx1"/>
          </a:fontRef>
        </p:style>
      </p:cxnSp>
      <p:sp>
        <p:nvSpPr>
          <p:cNvPr id="1060" name="箭头: 右 1059">
            <a:extLst>
              <a:ext uri="{FF2B5EF4-FFF2-40B4-BE49-F238E27FC236}">
                <a16:creationId xmlns:a16="http://schemas.microsoft.com/office/drawing/2014/main" id="{CDFF061E-8D8F-EBD8-CA03-A1428865BEB0}"/>
              </a:ext>
            </a:extLst>
          </p:cNvPr>
          <p:cNvSpPr/>
          <p:nvPr/>
        </p:nvSpPr>
        <p:spPr>
          <a:xfrm rot="16200000">
            <a:off x="10196010" y="1496074"/>
            <a:ext cx="341148" cy="94187"/>
          </a:xfrm>
          <a:prstGeom prst="rightArrow">
            <a:avLst>
              <a:gd name="adj1" fmla="val 50000"/>
              <a:gd name="adj2" fmla="val 78704"/>
            </a:avLst>
          </a:prstGeom>
          <a:solidFill>
            <a:srgbClr val="00C7AA"/>
          </a:solidFill>
          <a:ln>
            <a:solidFill>
              <a:srgbClr val="00C7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61" name="文本框 1060">
            <a:extLst>
              <a:ext uri="{FF2B5EF4-FFF2-40B4-BE49-F238E27FC236}">
                <a16:creationId xmlns:a16="http://schemas.microsoft.com/office/drawing/2014/main" id="{C473F1FF-E422-0E53-EFCD-3559CB9D113A}"/>
              </a:ext>
            </a:extLst>
          </p:cNvPr>
          <p:cNvSpPr txBox="1"/>
          <p:nvPr/>
        </p:nvSpPr>
        <p:spPr>
          <a:xfrm>
            <a:off x="10444601" y="1497450"/>
            <a:ext cx="1781257" cy="507831"/>
          </a:xfrm>
          <a:prstGeom prst="rect">
            <a:avLst/>
          </a:prstGeom>
          <a:noFill/>
        </p:spPr>
        <p:txBody>
          <a:bodyPr wrap="none" rtlCol="0">
            <a:spAutoFit/>
          </a:bodyPr>
          <a:lstStyle/>
          <a:p>
            <a:r>
              <a:rPr lang="en-US" sz="1350"/>
              <a:t>subarachnoid space </a:t>
            </a:r>
          </a:p>
          <a:p>
            <a:r>
              <a:rPr lang="ja-JP" altLang="en-US" sz="1350">
                <a:latin typeface="Arial" panose="020B0604020202020204" pitchFamily="34" charset="0"/>
              </a:rPr>
              <a:t>蜘蛛膜下腔</a:t>
            </a:r>
            <a:endParaRPr lang="en-US" sz="1350"/>
          </a:p>
        </p:txBody>
      </p:sp>
      <p:sp>
        <p:nvSpPr>
          <p:cNvPr id="43" name="矩形 42">
            <a:extLst>
              <a:ext uri="{FF2B5EF4-FFF2-40B4-BE49-F238E27FC236}">
                <a16:creationId xmlns:a16="http://schemas.microsoft.com/office/drawing/2014/main" id="{116232E8-1306-BC75-2A1C-85957A35B038}"/>
              </a:ext>
            </a:extLst>
          </p:cNvPr>
          <p:cNvSpPr/>
          <p:nvPr/>
        </p:nvSpPr>
        <p:spPr>
          <a:xfrm>
            <a:off x="7904265" y="5550582"/>
            <a:ext cx="393012" cy="7281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Text Placeholder 7">
            <a:extLst>
              <a:ext uri="{FF2B5EF4-FFF2-40B4-BE49-F238E27FC236}">
                <a16:creationId xmlns:a16="http://schemas.microsoft.com/office/drawing/2014/main" id="{53057895-386F-426F-6F73-695563E30E55}"/>
              </a:ext>
            </a:extLst>
          </p:cNvPr>
          <p:cNvSpPr>
            <a:spLocks noGrp="1"/>
          </p:cNvSpPr>
          <p:nvPr>
            <p:ph type="body" sz="quarter" idx="12"/>
          </p:nvPr>
        </p:nvSpPr>
        <p:spPr/>
        <p:txBody>
          <a:bodyPr/>
          <a:lstStyle/>
          <a:p>
            <a:endParaRPr lang="en-JP"/>
          </a:p>
        </p:txBody>
      </p:sp>
    </p:spTree>
    <p:extLst>
      <p:ext uri="{BB962C8B-B14F-4D97-AF65-F5344CB8AC3E}">
        <p14:creationId xmlns:p14="http://schemas.microsoft.com/office/powerpoint/2010/main" val="29346516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3" name="矩形: 圆角 42">
            <a:extLst>
              <a:ext uri="{FF2B5EF4-FFF2-40B4-BE49-F238E27FC236}">
                <a16:creationId xmlns:a16="http://schemas.microsoft.com/office/drawing/2014/main" id="{B10B73E9-2E6A-888C-88D6-93FD9E8AF849}"/>
              </a:ext>
            </a:extLst>
          </p:cNvPr>
          <p:cNvSpPr/>
          <p:nvPr/>
        </p:nvSpPr>
        <p:spPr>
          <a:xfrm>
            <a:off x="4453592" y="1875689"/>
            <a:ext cx="3445280" cy="3088481"/>
          </a:xfrm>
          <a:prstGeom prst="roundRect">
            <a:avLst>
              <a:gd name="adj" fmla="val 2789"/>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标题 9">
            <a:extLst>
              <a:ext uri="{FF2B5EF4-FFF2-40B4-BE49-F238E27FC236}">
                <a16:creationId xmlns:a16="http://schemas.microsoft.com/office/drawing/2014/main" id="{A9B8A9F5-7C2F-CD77-0FAB-B23244045767}"/>
              </a:ext>
            </a:extLst>
          </p:cNvPr>
          <p:cNvSpPr>
            <a:spLocks noGrp="1"/>
          </p:cNvSpPr>
          <p:nvPr>
            <p:ph type="title"/>
          </p:nvPr>
        </p:nvSpPr>
        <p:spPr/>
        <p:txBody>
          <a:bodyPr/>
          <a:lstStyle/>
          <a:p>
            <a:endParaRPr lang="en-US"/>
          </a:p>
        </p:txBody>
      </p:sp>
      <p:sp>
        <p:nvSpPr>
          <p:cNvPr id="4" name="灯片编号占位符 3">
            <a:extLst>
              <a:ext uri="{FF2B5EF4-FFF2-40B4-BE49-F238E27FC236}">
                <a16:creationId xmlns:a16="http://schemas.microsoft.com/office/drawing/2014/main" id="{E52336DD-503B-9D9D-AD6F-829D9C579CFC}"/>
              </a:ext>
            </a:extLst>
          </p:cNvPr>
          <p:cNvSpPr>
            <a:spLocks noGrp="1"/>
          </p:cNvSpPr>
          <p:nvPr>
            <p:ph type="sldNum" sz="quarter" idx="11"/>
          </p:nvPr>
        </p:nvSpPr>
        <p:spPr/>
        <p:txBody>
          <a:bodyPr/>
          <a:lstStyle/>
          <a:p>
            <a:fld id="{EE7526AA-F3CD-450D-ADBB-FB2EBC484A89}" type="slidenum">
              <a:rPr lang="en-US" smtClean="0"/>
              <a:t>13</a:t>
            </a:fld>
            <a:endParaRPr lang="en-US"/>
          </a:p>
        </p:txBody>
      </p:sp>
      <p:sp>
        <p:nvSpPr>
          <p:cNvPr id="11" name="图片占位符 10">
            <a:extLst>
              <a:ext uri="{FF2B5EF4-FFF2-40B4-BE49-F238E27FC236}">
                <a16:creationId xmlns:a16="http://schemas.microsoft.com/office/drawing/2014/main" id="{1154A10E-A60C-44D2-D127-A138F3680A7F}"/>
              </a:ext>
            </a:extLst>
          </p:cNvPr>
          <p:cNvSpPr>
            <a:spLocks noGrp="1"/>
          </p:cNvSpPr>
          <p:nvPr>
            <p:ph type="pic" sz="quarter" idx="12"/>
          </p:nvPr>
        </p:nvSpPr>
        <p:spPr/>
        <p:txBody>
          <a:bodyPr/>
          <a:lstStyle/>
          <a:p>
            <a:endParaRPr lang="en-US"/>
          </a:p>
        </p:txBody>
      </p:sp>
      <p:sp>
        <p:nvSpPr>
          <p:cNvPr id="6" name="矩形 5">
            <a:extLst>
              <a:ext uri="{FF2B5EF4-FFF2-40B4-BE49-F238E27FC236}">
                <a16:creationId xmlns:a16="http://schemas.microsoft.com/office/drawing/2014/main" id="{B45E1BCE-45FE-CE11-C068-98A2ADA16CB4}"/>
              </a:ext>
            </a:extLst>
          </p:cNvPr>
          <p:cNvSpPr/>
          <p:nvPr/>
        </p:nvSpPr>
        <p:spPr>
          <a:xfrm>
            <a:off x="2029479" y="1875690"/>
            <a:ext cx="2343150" cy="933451"/>
          </a:xfrm>
          <a:prstGeom prst="rect">
            <a:avLst/>
          </a:prstGeom>
          <a:ln>
            <a:solidFill>
              <a:schemeClr val="tx1">
                <a:lumMod val="50000"/>
                <a:lumOff val="50000"/>
              </a:schemeClr>
            </a:solidFill>
          </a:ln>
        </p:spPr>
        <p:style>
          <a:lnRef idx="2">
            <a:schemeClr val="dk1"/>
          </a:lnRef>
          <a:fillRef idx="1">
            <a:schemeClr val="lt1"/>
          </a:fillRef>
          <a:effectRef idx="0">
            <a:schemeClr val="dk1"/>
          </a:effectRef>
          <a:fontRef idx="minor">
            <a:schemeClr val="dk1"/>
          </a:fontRef>
        </p:style>
        <p:txBody>
          <a:bodyPr rtlCol="0" anchor="t"/>
          <a:lstStyle/>
          <a:p>
            <a:pPr algn="ctr"/>
            <a:r>
              <a:rPr lang="en-US" altLang="ja-JP" sz="1350"/>
              <a:t>1. </a:t>
            </a:r>
            <a:r>
              <a:rPr lang="ja-JP" altLang="en-US" sz="1350"/>
              <a:t>血流解析</a:t>
            </a:r>
            <a:endParaRPr lang="en-US" sz="1350"/>
          </a:p>
        </p:txBody>
      </p:sp>
      <p:sp>
        <p:nvSpPr>
          <p:cNvPr id="7" name="矩形 6">
            <a:extLst>
              <a:ext uri="{FF2B5EF4-FFF2-40B4-BE49-F238E27FC236}">
                <a16:creationId xmlns:a16="http://schemas.microsoft.com/office/drawing/2014/main" id="{D220085F-92A8-5A69-067D-214A3138EE3E}"/>
              </a:ext>
            </a:extLst>
          </p:cNvPr>
          <p:cNvSpPr/>
          <p:nvPr/>
        </p:nvSpPr>
        <p:spPr>
          <a:xfrm>
            <a:off x="2029479" y="2953204"/>
            <a:ext cx="2343150" cy="933451"/>
          </a:xfrm>
          <a:prstGeom prst="rect">
            <a:avLst/>
          </a:prstGeom>
          <a:ln>
            <a:solidFill>
              <a:schemeClr val="tx1">
                <a:lumMod val="50000"/>
                <a:lumOff val="50000"/>
              </a:schemeClr>
            </a:solidFill>
          </a:ln>
        </p:spPr>
        <p:style>
          <a:lnRef idx="2">
            <a:schemeClr val="dk1"/>
          </a:lnRef>
          <a:fillRef idx="1">
            <a:schemeClr val="lt1"/>
          </a:fillRef>
          <a:effectRef idx="0">
            <a:schemeClr val="dk1"/>
          </a:effectRef>
          <a:fontRef idx="minor">
            <a:schemeClr val="dk1"/>
          </a:fontRef>
        </p:style>
        <p:txBody>
          <a:bodyPr rtlCol="0" anchor="t"/>
          <a:lstStyle/>
          <a:p>
            <a:pPr algn="ctr"/>
            <a:r>
              <a:rPr lang="en-US" altLang="ja-JP" sz="1350"/>
              <a:t>2. GWAS/</a:t>
            </a:r>
            <a:r>
              <a:rPr lang="ja-JP" altLang="en-US" sz="1350"/>
              <a:t>ゲノム解析</a:t>
            </a:r>
            <a:endParaRPr lang="en-US" sz="1350"/>
          </a:p>
        </p:txBody>
      </p:sp>
      <p:sp>
        <p:nvSpPr>
          <p:cNvPr id="8" name="矩形 7">
            <a:extLst>
              <a:ext uri="{FF2B5EF4-FFF2-40B4-BE49-F238E27FC236}">
                <a16:creationId xmlns:a16="http://schemas.microsoft.com/office/drawing/2014/main" id="{F0B1108F-B832-4E4C-F16A-525013692D9F}"/>
              </a:ext>
            </a:extLst>
          </p:cNvPr>
          <p:cNvSpPr/>
          <p:nvPr/>
        </p:nvSpPr>
        <p:spPr>
          <a:xfrm>
            <a:off x="2029479" y="4030719"/>
            <a:ext cx="2343150" cy="933451"/>
          </a:xfrm>
          <a:prstGeom prst="rect">
            <a:avLst/>
          </a:prstGeom>
          <a:ln>
            <a:solidFill>
              <a:schemeClr val="tx1">
                <a:lumMod val="50000"/>
                <a:lumOff val="50000"/>
              </a:schemeClr>
            </a:solidFill>
          </a:ln>
        </p:spPr>
        <p:style>
          <a:lnRef idx="2">
            <a:schemeClr val="dk1"/>
          </a:lnRef>
          <a:fillRef idx="1">
            <a:schemeClr val="lt1"/>
          </a:fillRef>
          <a:effectRef idx="0">
            <a:schemeClr val="dk1"/>
          </a:effectRef>
          <a:fontRef idx="minor">
            <a:schemeClr val="dk1"/>
          </a:fontRef>
        </p:style>
        <p:txBody>
          <a:bodyPr rtlCol="0" anchor="t"/>
          <a:lstStyle/>
          <a:p>
            <a:pPr algn="ctr"/>
            <a:r>
              <a:rPr lang="en-US" altLang="ja-JP" sz="1350"/>
              <a:t>3. </a:t>
            </a:r>
            <a:r>
              <a:rPr lang="ja-JP" altLang="en-US" sz="1350"/>
              <a:t>疫学統計</a:t>
            </a:r>
            <a:endParaRPr lang="en-US" sz="1350"/>
          </a:p>
        </p:txBody>
      </p:sp>
      <p:sp>
        <p:nvSpPr>
          <p:cNvPr id="12" name="矩形 11">
            <a:extLst>
              <a:ext uri="{FF2B5EF4-FFF2-40B4-BE49-F238E27FC236}">
                <a16:creationId xmlns:a16="http://schemas.microsoft.com/office/drawing/2014/main" id="{82259651-FFD2-6D62-D85F-854AD036FBA2}"/>
              </a:ext>
            </a:extLst>
          </p:cNvPr>
          <p:cNvSpPr/>
          <p:nvPr/>
        </p:nvSpPr>
        <p:spPr>
          <a:xfrm>
            <a:off x="7972691" y="3863005"/>
            <a:ext cx="1943489" cy="110116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t"/>
          <a:lstStyle/>
          <a:p>
            <a:pPr algn="ctr"/>
            <a:r>
              <a:rPr lang="en-US" altLang="ja-JP" sz="1200"/>
              <a:t>Cerebral Vascular Network</a:t>
            </a:r>
            <a:endParaRPr lang="en-US" sz="1200"/>
          </a:p>
        </p:txBody>
      </p:sp>
      <p:sp>
        <p:nvSpPr>
          <p:cNvPr id="13" name="箭头: 左右 12">
            <a:extLst>
              <a:ext uri="{FF2B5EF4-FFF2-40B4-BE49-F238E27FC236}">
                <a16:creationId xmlns:a16="http://schemas.microsoft.com/office/drawing/2014/main" id="{FCF47765-8DF5-19A0-20F3-1A7104032F96}"/>
              </a:ext>
            </a:extLst>
          </p:cNvPr>
          <p:cNvSpPr/>
          <p:nvPr/>
        </p:nvSpPr>
        <p:spPr>
          <a:xfrm>
            <a:off x="4291668" y="2245971"/>
            <a:ext cx="295275" cy="236934"/>
          </a:xfrm>
          <a:prstGeom prst="leftRightArrow">
            <a:avLst>
              <a:gd name="adj1" fmla="val 39504"/>
              <a:gd name="adj2" fmla="val 44751"/>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350"/>
          </a:p>
        </p:txBody>
      </p:sp>
      <p:sp>
        <p:nvSpPr>
          <p:cNvPr id="14" name="箭头: 左右 13">
            <a:extLst>
              <a:ext uri="{FF2B5EF4-FFF2-40B4-BE49-F238E27FC236}">
                <a16:creationId xmlns:a16="http://schemas.microsoft.com/office/drawing/2014/main" id="{04471D42-9648-F5A2-3DED-C478ADC992F7}"/>
              </a:ext>
            </a:extLst>
          </p:cNvPr>
          <p:cNvSpPr/>
          <p:nvPr/>
        </p:nvSpPr>
        <p:spPr>
          <a:xfrm>
            <a:off x="4291668" y="3317978"/>
            <a:ext cx="295275" cy="236934"/>
          </a:xfrm>
          <a:prstGeom prst="leftRightArrow">
            <a:avLst>
              <a:gd name="adj1" fmla="val 39504"/>
              <a:gd name="adj2" fmla="val 44751"/>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350"/>
          </a:p>
        </p:txBody>
      </p:sp>
      <p:pic>
        <p:nvPicPr>
          <p:cNvPr id="21" name="Picture 6" descr="Fluid Structure Interaction Study of Stenosed Carotid Artery Considering  the Effects of Blood Pressure and Altered Gravity | IntechOpen">
            <a:extLst>
              <a:ext uri="{FF2B5EF4-FFF2-40B4-BE49-F238E27FC236}">
                <a16:creationId xmlns:a16="http://schemas.microsoft.com/office/drawing/2014/main" id="{353C5E6C-F87B-C2D2-A1A9-9907B2674D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1315" y="1934104"/>
            <a:ext cx="690971" cy="866978"/>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4" descr="Genome assembly and comparative and evolutionary genomic analysis of cultivated hawthorn&#10;(A) Hi‐C interaction heatmap of cultivated hawthorn genome showing the interactions among 17 chromosomes (Chr1–17). (B) Genomic features of cultivated hawthorn. The outer colored square represents the 17 chromosomes of hawthorn, with tick marks every 10 Mb. Tracks show, from outside to inside, the densities of genes (red), DNA transposons (green), RNA transposons (blue), and other types of genome components (purple), respectively. The window size used in the circles was 500 kb. (C) Flower plot displaying the shared core orthogroups (in the center) and the species‐specific orthogroups (in the petals) for the relatives. (D) Maximum likelihood phylogenetic tree and expanded and contracted gene families in Rosaceae. The numbers at the branch node in the tree indicate the divergence time and 95% confidence interval, and the pie charts show the relative sizes of expansion (lake blue) and contraction (red). C1–C6 mark calibration points used to estimate the divergence times. (E) Kyoto Encyclopedia of Genes and Genomes (KEGG) classification of gene function of genes that have rapidly expanded in cultivated hawthorn.">
            <a:extLst>
              <a:ext uri="{FF2B5EF4-FFF2-40B4-BE49-F238E27FC236}">
                <a16:creationId xmlns:a16="http://schemas.microsoft.com/office/drawing/2014/main" id="{2B4451D6-E4F5-38AA-93FA-C782AEA2A86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9167" y="3192761"/>
            <a:ext cx="994655" cy="663494"/>
          </a:xfrm>
          <a:prstGeom prst="rect">
            <a:avLst/>
          </a:prstGeom>
          <a:noFill/>
          <a:extLst>
            <a:ext uri="{909E8E84-426E-40DD-AFC4-6F175D3DCCD1}">
              <a14:hiddenFill xmlns:a14="http://schemas.microsoft.com/office/drawing/2010/main">
                <a:solidFill>
                  <a:srgbClr val="FFFFFF"/>
                </a:solidFill>
              </a14:hiddenFill>
            </a:ext>
          </a:extLst>
        </p:spPr>
      </p:pic>
      <p:sp>
        <p:nvSpPr>
          <p:cNvPr id="27" name="标注: 下箭头 26">
            <a:extLst>
              <a:ext uri="{FF2B5EF4-FFF2-40B4-BE49-F238E27FC236}">
                <a16:creationId xmlns:a16="http://schemas.microsoft.com/office/drawing/2014/main" id="{CCC917F2-4F3F-821D-925B-40EAE6BACF04}"/>
              </a:ext>
            </a:extLst>
          </p:cNvPr>
          <p:cNvSpPr/>
          <p:nvPr/>
        </p:nvSpPr>
        <p:spPr>
          <a:xfrm>
            <a:off x="7967929" y="2844857"/>
            <a:ext cx="1943489" cy="1088231"/>
          </a:xfrm>
          <a:prstGeom prst="downArrowCallout">
            <a:avLst>
              <a:gd name="adj1" fmla="val 14229"/>
              <a:gd name="adj2" fmla="val 13915"/>
              <a:gd name="adj3" fmla="val 10663"/>
              <a:gd name="adj4" fmla="val 87582"/>
            </a:avLst>
          </a:prstGeom>
          <a:ln w="22225">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t"/>
          <a:lstStyle/>
          <a:p>
            <a:pPr algn="ctr"/>
            <a:r>
              <a:rPr lang="en-US" altLang="ja-JP" sz="1350"/>
              <a:t>Multi-arterial structure</a:t>
            </a:r>
            <a:endParaRPr lang="en-US" sz="1350"/>
          </a:p>
          <a:p>
            <a:pPr algn="ctr"/>
            <a:endParaRPr lang="en-US" sz="1350"/>
          </a:p>
        </p:txBody>
      </p:sp>
      <p:sp>
        <p:nvSpPr>
          <p:cNvPr id="26" name="标注: 下箭头 25">
            <a:extLst>
              <a:ext uri="{FF2B5EF4-FFF2-40B4-BE49-F238E27FC236}">
                <a16:creationId xmlns:a16="http://schemas.microsoft.com/office/drawing/2014/main" id="{12C7B4D7-E5B4-C21B-E0F3-A35749C398C6}"/>
              </a:ext>
            </a:extLst>
          </p:cNvPr>
          <p:cNvSpPr/>
          <p:nvPr/>
        </p:nvSpPr>
        <p:spPr>
          <a:xfrm>
            <a:off x="7972691" y="1875689"/>
            <a:ext cx="1943489" cy="1018169"/>
          </a:xfrm>
          <a:prstGeom prst="downArrowCallout">
            <a:avLst>
              <a:gd name="adj1" fmla="val 17731"/>
              <a:gd name="adj2" fmla="val 13915"/>
              <a:gd name="adj3" fmla="val 9959"/>
              <a:gd name="adj4" fmla="val 89196"/>
            </a:avLst>
          </a:prstGeom>
          <a:ln w="22225">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t"/>
          <a:lstStyle/>
          <a:p>
            <a:pPr algn="ctr"/>
            <a:r>
              <a:rPr lang="en-US" altLang="ja-JP" sz="1350"/>
              <a:t>ICA/main arteries</a:t>
            </a:r>
            <a:endParaRPr lang="en-US" sz="1350"/>
          </a:p>
          <a:p>
            <a:pPr algn="ctr"/>
            <a:endParaRPr lang="en-US" sz="1350"/>
          </a:p>
        </p:txBody>
      </p:sp>
      <p:sp>
        <p:nvSpPr>
          <p:cNvPr id="16" name="箭头: 右 15">
            <a:extLst>
              <a:ext uri="{FF2B5EF4-FFF2-40B4-BE49-F238E27FC236}">
                <a16:creationId xmlns:a16="http://schemas.microsoft.com/office/drawing/2014/main" id="{5B420BBE-C7FD-37E1-5087-12CA02421236}"/>
              </a:ext>
            </a:extLst>
          </p:cNvPr>
          <p:cNvSpPr/>
          <p:nvPr/>
        </p:nvSpPr>
        <p:spPr>
          <a:xfrm flipH="1">
            <a:off x="7793660" y="2185964"/>
            <a:ext cx="245707" cy="236934"/>
          </a:xfrm>
          <a:prstGeom prst="rightArrow">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sz="1350"/>
          </a:p>
        </p:txBody>
      </p:sp>
      <p:sp>
        <p:nvSpPr>
          <p:cNvPr id="29" name="箭头: 右 28">
            <a:extLst>
              <a:ext uri="{FF2B5EF4-FFF2-40B4-BE49-F238E27FC236}">
                <a16:creationId xmlns:a16="http://schemas.microsoft.com/office/drawing/2014/main" id="{21875B37-6E78-3318-8B62-83DC1A6B94C0}"/>
              </a:ext>
            </a:extLst>
          </p:cNvPr>
          <p:cNvSpPr/>
          <p:nvPr/>
        </p:nvSpPr>
        <p:spPr>
          <a:xfrm flipH="1">
            <a:off x="7793660" y="3235712"/>
            <a:ext cx="245707" cy="236934"/>
          </a:xfrm>
          <a:prstGeom prst="rightArrow">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sz="1350"/>
          </a:p>
        </p:txBody>
      </p:sp>
      <p:pic>
        <p:nvPicPr>
          <p:cNvPr id="37" name="图形 36" descr="线箭头: 向右旋转 纯色填充">
            <a:extLst>
              <a:ext uri="{FF2B5EF4-FFF2-40B4-BE49-F238E27FC236}">
                <a16:creationId xmlns:a16="http://schemas.microsoft.com/office/drawing/2014/main" id="{3BFF8DE7-69F8-96BC-8D01-250095AB51C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4903872" flipH="1">
            <a:off x="1690103" y="3802442"/>
            <a:ext cx="556762" cy="556762"/>
          </a:xfrm>
          <a:prstGeom prst="rect">
            <a:avLst/>
          </a:prstGeom>
        </p:spPr>
      </p:pic>
      <p:pic>
        <p:nvPicPr>
          <p:cNvPr id="38" name="图形 37" descr="线箭头: 向右旋转 纯色填充">
            <a:extLst>
              <a:ext uri="{FF2B5EF4-FFF2-40B4-BE49-F238E27FC236}">
                <a16:creationId xmlns:a16="http://schemas.microsoft.com/office/drawing/2014/main" id="{4E6054F2-8E4E-01AE-DDDB-5AB8980F619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4903872" flipH="1">
            <a:off x="1732048" y="2756537"/>
            <a:ext cx="556762" cy="556762"/>
          </a:xfrm>
          <a:prstGeom prst="rect">
            <a:avLst/>
          </a:prstGeom>
        </p:spPr>
      </p:pic>
      <p:pic>
        <p:nvPicPr>
          <p:cNvPr id="2050" name="Picture 2" descr="What are the different types of cardiovascular diseases, and how many  deaths do they cause? - Our World in Data">
            <a:extLst>
              <a:ext uri="{FF2B5EF4-FFF2-40B4-BE49-F238E27FC236}">
                <a16:creationId xmlns:a16="http://schemas.microsoft.com/office/drawing/2014/main" id="{4B0F0457-F81A-C36E-684A-D8E39723B0F7}"/>
              </a:ext>
            </a:extLst>
          </p:cNvPr>
          <p:cNvPicPr>
            <a:picLocks noChangeAspect="1" noChangeArrowheads="1"/>
          </p:cNvPicPr>
          <p:nvPr/>
        </p:nvPicPr>
        <p:blipFill rotWithShape="1">
          <a:blip r:embed="rId7">
            <a:extLst>
              <a:ext uri="{BEBA8EAE-BF5A-486C-A8C5-ECC9F3942E4B}">
                <a14:imgProps xmlns:a14="http://schemas.microsoft.com/office/drawing/2010/main">
                  <a14:imgLayer r:embed="rId8">
                    <a14:imgEffect>
                      <a14:colorTemperature colorTemp="5300"/>
                    </a14:imgEffect>
                  </a14:imgLayer>
                </a14:imgProps>
              </a:ext>
              <a:ext uri="{28A0092B-C50C-407E-A947-70E740481C1C}">
                <a14:useLocalDpi xmlns:a14="http://schemas.microsoft.com/office/drawing/2010/main" val="0"/>
              </a:ext>
            </a:extLst>
          </a:blip>
          <a:srcRect l="1494" t="2268" r="55317" b="5325"/>
          <a:stretch/>
        </p:blipFill>
        <p:spPr bwMode="auto">
          <a:xfrm>
            <a:off x="2127352" y="4100646"/>
            <a:ext cx="345324" cy="797762"/>
          </a:xfrm>
          <a:prstGeom prst="rect">
            <a:avLst/>
          </a:prstGeom>
          <a:noFill/>
          <a:extLst>
            <a:ext uri="{909E8E84-426E-40DD-AFC4-6F175D3DCCD1}">
              <a14:hiddenFill xmlns:a14="http://schemas.microsoft.com/office/drawing/2010/main">
                <a:solidFill>
                  <a:srgbClr val="FFFFFF"/>
                </a:solidFill>
              </a14:hiddenFill>
            </a:ext>
          </a:extLst>
        </p:spPr>
      </p:pic>
      <p:pic>
        <p:nvPicPr>
          <p:cNvPr id="40" name="图片 39">
            <a:extLst>
              <a:ext uri="{FF2B5EF4-FFF2-40B4-BE49-F238E27FC236}">
                <a16:creationId xmlns:a16="http://schemas.microsoft.com/office/drawing/2014/main" id="{A1A90AE9-61C3-B4BF-6A9A-711D26696C39}"/>
              </a:ext>
            </a:extLst>
          </p:cNvPr>
          <p:cNvPicPr>
            <a:picLocks noChangeAspect="1"/>
          </p:cNvPicPr>
          <p:nvPr/>
        </p:nvPicPr>
        <p:blipFill>
          <a:blip r:embed="rId9"/>
          <a:stretch>
            <a:fillRect/>
          </a:stretch>
        </p:blipFill>
        <p:spPr>
          <a:xfrm>
            <a:off x="2524720" y="4303039"/>
            <a:ext cx="1300223" cy="601561"/>
          </a:xfrm>
          <a:prstGeom prst="rect">
            <a:avLst/>
          </a:prstGeom>
        </p:spPr>
      </p:pic>
      <p:pic>
        <p:nvPicPr>
          <p:cNvPr id="2054" name="Picture 6" descr="Fig. 1">
            <a:extLst>
              <a:ext uri="{FF2B5EF4-FFF2-40B4-BE49-F238E27FC236}">
                <a16:creationId xmlns:a16="http://schemas.microsoft.com/office/drawing/2014/main" id="{218F3E80-85D9-E3F2-B260-896EF9E10F2C}"/>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28903"/>
          <a:stretch/>
        </p:blipFill>
        <p:spPr bwMode="auto">
          <a:xfrm>
            <a:off x="3824942" y="4072967"/>
            <a:ext cx="513935" cy="829421"/>
          </a:xfrm>
          <a:prstGeom prst="rect">
            <a:avLst/>
          </a:prstGeom>
          <a:noFill/>
          <a:extLst>
            <a:ext uri="{909E8E84-426E-40DD-AFC4-6F175D3DCCD1}">
              <a14:hiddenFill xmlns:a14="http://schemas.microsoft.com/office/drawing/2010/main">
                <a:solidFill>
                  <a:srgbClr val="FFFFFF"/>
                </a:solidFill>
              </a14:hiddenFill>
            </a:ext>
          </a:extLst>
        </p:spPr>
      </p:pic>
      <p:sp>
        <p:nvSpPr>
          <p:cNvPr id="15" name="箭头: 左右 14">
            <a:extLst>
              <a:ext uri="{FF2B5EF4-FFF2-40B4-BE49-F238E27FC236}">
                <a16:creationId xmlns:a16="http://schemas.microsoft.com/office/drawing/2014/main" id="{1DC925CE-B9AB-A075-EC23-6949109C7C83}"/>
              </a:ext>
            </a:extLst>
          </p:cNvPr>
          <p:cNvSpPr/>
          <p:nvPr/>
        </p:nvSpPr>
        <p:spPr>
          <a:xfrm>
            <a:off x="4285933" y="4475418"/>
            <a:ext cx="295275" cy="236934"/>
          </a:xfrm>
          <a:prstGeom prst="leftRightArrow">
            <a:avLst>
              <a:gd name="adj1" fmla="val 39504"/>
              <a:gd name="adj2" fmla="val 44751"/>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350"/>
          </a:p>
        </p:txBody>
      </p:sp>
      <p:pic>
        <p:nvPicPr>
          <p:cNvPr id="41" name="図 5" descr="屋内, テーブル, 座る, ピンク が含まれている画像&#10;&#10;自動的に生成された説明">
            <a:extLst>
              <a:ext uri="{FF2B5EF4-FFF2-40B4-BE49-F238E27FC236}">
                <a16:creationId xmlns:a16="http://schemas.microsoft.com/office/drawing/2014/main" id="{E0A23401-01D3-BBB6-BA3F-4A272C1F176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232967" y="2109103"/>
            <a:ext cx="979428" cy="653983"/>
          </a:xfrm>
          <a:prstGeom prst="rect">
            <a:avLst/>
          </a:prstGeom>
        </p:spPr>
      </p:pic>
      <p:sp>
        <p:nvSpPr>
          <p:cNvPr id="42" name="文本框 41">
            <a:extLst>
              <a:ext uri="{FF2B5EF4-FFF2-40B4-BE49-F238E27FC236}">
                <a16:creationId xmlns:a16="http://schemas.microsoft.com/office/drawing/2014/main" id="{29B57684-E7ED-B6BA-43C3-55FB2E9A65CE}"/>
              </a:ext>
            </a:extLst>
          </p:cNvPr>
          <p:cNvSpPr txBox="1"/>
          <p:nvPr/>
        </p:nvSpPr>
        <p:spPr>
          <a:xfrm>
            <a:off x="4539074" y="-1588784"/>
            <a:ext cx="3236119" cy="300082"/>
          </a:xfrm>
          <a:prstGeom prst="rect">
            <a:avLst/>
          </a:prstGeom>
          <a:noFill/>
        </p:spPr>
        <p:txBody>
          <a:bodyPr wrap="square" rtlCol="0">
            <a:spAutoFit/>
          </a:bodyPr>
          <a:lstStyle/>
          <a:p>
            <a:r>
              <a:rPr lang="ja-JP" altLang="en-US" sz="1350"/>
              <a:t>各研究の使うメタ言語を翻訳し合う</a:t>
            </a:r>
            <a:endParaRPr lang="en-US" sz="1350"/>
          </a:p>
        </p:txBody>
      </p:sp>
      <p:sp>
        <p:nvSpPr>
          <p:cNvPr id="44" name="文本框 43">
            <a:extLst>
              <a:ext uri="{FF2B5EF4-FFF2-40B4-BE49-F238E27FC236}">
                <a16:creationId xmlns:a16="http://schemas.microsoft.com/office/drawing/2014/main" id="{CEDCC3AC-F777-A67F-B6B0-752158630085}"/>
              </a:ext>
            </a:extLst>
          </p:cNvPr>
          <p:cNvSpPr txBox="1"/>
          <p:nvPr/>
        </p:nvSpPr>
        <p:spPr>
          <a:xfrm>
            <a:off x="5154799" y="1737187"/>
            <a:ext cx="2089033" cy="300082"/>
          </a:xfrm>
          <a:prstGeom prst="rect">
            <a:avLst/>
          </a:prstGeom>
          <a:solidFill>
            <a:schemeClr val="bg1"/>
          </a:solidFill>
        </p:spPr>
        <p:txBody>
          <a:bodyPr wrap="none" rtlCol="0">
            <a:spAutoFit/>
          </a:bodyPr>
          <a:lstStyle/>
          <a:p>
            <a:r>
              <a:rPr lang="ja-JP" altLang="en-US" sz="1350" b="1">
                <a:latin typeface="游ゴシック" panose="020B0400000000000000" pitchFamily="50" charset="-128"/>
                <a:ea typeface="游ゴシック" panose="020B0400000000000000" pitchFamily="50" charset="-128"/>
              </a:rPr>
              <a:t>形状表現フレームワーク</a:t>
            </a:r>
            <a:endParaRPr lang="en-US" sz="1350" b="1">
              <a:latin typeface="游ゴシック" panose="020B0400000000000000" pitchFamily="50" charset="-128"/>
              <a:ea typeface="游ゴシック" panose="020B0400000000000000" pitchFamily="50" charset="-128"/>
            </a:endParaRPr>
          </a:p>
        </p:txBody>
      </p:sp>
      <p:sp>
        <p:nvSpPr>
          <p:cNvPr id="47" name="矩形 46">
            <a:extLst>
              <a:ext uri="{FF2B5EF4-FFF2-40B4-BE49-F238E27FC236}">
                <a16:creationId xmlns:a16="http://schemas.microsoft.com/office/drawing/2014/main" id="{09AAF288-FA8A-F3DE-273E-19C904C3DAD3}"/>
              </a:ext>
            </a:extLst>
          </p:cNvPr>
          <p:cNvSpPr/>
          <p:nvPr/>
        </p:nvSpPr>
        <p:spPr>
          <a:xfrm>
            <a:off x="4799862" y="2559112"/>
            <a:ext cx="921114" cy="203972"/>
          </a:xfrm>
          <a:prstGeom prst="rect">
            <a:avLst/>
          </a:prstGeom>
          <a:solidFill>
            <a:schemeClr val="bg1">
              <a:lumMod val="8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200"/>
              <a:t>屈曲度</a:t>
            </a:r>
            <a:endParaRPr lang="en-US" sz="1200"/>
          </a:p>
        </p:txBody>
      </p:sp>
      <p:sp>
        <p:nvSpPr>
          <p:cNvPr id="48" name="矩形 47">
            <a:extLst>
              <a:ext uri="{FF2B5EF4-FFF2-40B4-BE49-F238E27FC236}">
                <a16:creationId xmlns:a16="http://schemas.microsoft.com/office/drawing/2014/main" id="{742A2A2E-DD92-8A44-CCDE-635CF4DD89A3}"/>
              </a:ext>
            </a:extLst>
          </p:cNvPr>
          <p:cNvSpPr/>
          <p:nvPr/>
        </p:nvSpPr>
        <p:spPr>
          <a:xfrm>
            <a:off x="4799862" y="2792744"/>
            <a:ext cx="921114" cy="203972"/>
          </a:xfrm>
          <a:prstGeom prst="rect">
            <a:avLst/>
          </a:prstGeom>
          <a:solidFill>
            <a:schemeClr val="bg1">
              <a:lumMod val="8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200"/>
              <a:t>半径</a:t>
            </a:r>
            <a:endParaRPr lang="en-US" sz="1200"/>
          </a:p>
        </p:txBody>
      </p:sp>
      <p:sp>
        <p:nvSpPr>
          <p:cNvPr id="49" name="矩形 48">
            <a:extLst>
              <a:ext uri="{FF2B5EF4-FFF2-40B4-BE49-F238E27FC236}">
                <a16:creationId xmlns:a16="http://schemas.microsoft.com/office/drawing/2014/main" id="{D3C68325-7C01-C16D-7A0E-AD5C151838AA}"/>
              </a:ext>
            </a:extLst>
          </p:cNvPr>
          <p:cNvSpPr/>
          <p:nvPr/>
        </p:nvSpPr>
        <p:spPr>
          <a:xfrm>
            <a:off x="4798814" y="3026376"/>
            <a:ext cx="921114" cy="203972"/>
          </a:xfrm>
          <a:prstGeom prst="rect">
            <a:avLst/>
          </a:prstGeom>
          <a:solidFill>
            <a:schemeClr val="bg1">
              <a:lumMod val="8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200"/>
              <a:t>偏り</a:t>
            </a:r>
            <a:endParaRPr lang="en-US" sz="1200"/>
          </a:p>
        </p:txBody>
      </p:sp>
      <p:sp>
        <p:nvSpPr>
          <p:cNvPr id="50" name="矩形: 圆角 49">
            <a:extLst>
              <a:ext uri="{FF2B5EF4-FFF2-40B4-BE49-F238E27FC236}">
                <a16:creationId xmlns:a16="http://schemas.microsoft.com/office/drawing/2014/main" id="{AEAA57B4-1A38-53AA-0C1B-F858ECCB0FE5}"/>
              </a:ext>
            </a:extLst>
          </p:cNvPr>
          <p:cNvSpPr/>
          <p:nvPr/>
        </p:nvSpPr>
        <p:spPr>
          <a:xfrm>
            <a:off x="4705892" y="2185964"/>
            <a:ext cx="1119122" cy="1136544"/>
          </a:xfrm>
          <a:prstGeom prst="roundRect">
            <a:avLst>
              <a:gd name="adj" fmla="val 9936"/>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ln>
                <a:solidFill>
                  <a:schemeClr val="tx1"/>
                </a:solidFill>
              </a:ln>
            </a:endParaRPr>
          </a:p>
        </p:txBody>
      </p:sp>
      <p:sp>
        <p:nvSpPr>
          <p:cNvPr id="51" name="文本框 50">
            <a:extLst>
              <a:ext uri="{FF2B5EF4-FFF2-40B4-BE49-F238E27FC236}">
                <a16:creationId xmlns:a16="http://schemas.microsoft.com/office/drawing/2014/main" id="{FF5A8AED-9B05-FE24-2314-40EFB79A7E7D}"/>
              </a:ext>
            </a:extLst>
          </p:cNvPr>
          <p:cNvSpPr txBox="1"/>
          <p:nvPr/>
        </p:nvSpPr>
        <p:spPr>
          <a:xfrm>
            <a:off x="4942106" y="2066515"/>
            <a:ext cx="704039" cy="300082"/>
          </a:xfrm>
          <a:prstGeom prst="rect">
            <a:avLst/>
          </a:prstGeom>
          <a:solidFill>
            <a:schemeClr val="bg1"/>
          </a:solidFill>
        </p:spPr>
        <p:txBody>
          <a:bodyPr wrap="none" rtlCol="0">
            <a:spAutoFit/>
          </a:bodyPr>
          <a:lstStyle/>
          <a:p>
            <a:r>
              <a:rPr lang="ja-JP" altLang="en-US" sz="1350" b="1">
                <a:latin typeface="游ゴシック" panose="020B0400000000000000" pitchFamily="50" charset="-128"/>
                <a:ea typeface="游ゴシック" panose="020B0400000000000000" pitchFamily="50" charset="-128"/>
              </a:rPr>
              <a:t>中心線</a:t>
            </a:r>
            <a:endParaRPr lang="en-US" sz="1350" b="1">
              <a:latin typeface="游ゴシック" panose="020B0400000000000000" pitchFamily="50" charset="-128"/>
              <a:ea typeface="游ゴシック" panose="020B0400000000000000" pitchFamily="50" charset="-128"/>
            </a:endParaRPr>
          </a:p>
        </p:txBody>
      </p:sp>
      <p:sp>
        <p:nvSpPr>
          <p:cNvPr id="46" name="矩形 45">
            <a:extLst>
              <a:ext uri="{FF2B5EF4-FFF2-40B4-BE49-F238E27FC236}">
                <a16:creationId xmlns:a16="http://schemas.microsoft.com/office/drawing/2014/main" id="{9776809A-B9AC-21BF-C464-54F04070ABFF}"/>
              </a:ext>
            </a:extLst>
          </p:cNvPr>
          <p:cNvSpPr/>
          <p:nvPr/>
        </p:nvSpPr>
        <p:spPr>
          <a:xfrm>
            <a:off x="4799862" y="2325481"/>
            <a:ext cx="921114" cy="203972"/>
          </a:xfrm>
          <a:prstGeom prst="rect">
            <a:avLst/>
          </a:prstGeom>
          <a:solidFill>
            <a:schemeClr val="bg1">
              <a:lumMod val="8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200"/>
              <a:t>長さ</a:t>
            </a:r>
            <a:endParaRPr lang="en-US" sz="1200"/>
          </a:p>
        </p:txBody>
      </p:sp>
      <p:sp>
        <p:nvSpPr>
          <p:cNvPr id="52" name="矩形 51">
            <a:extLst>
              <a:ext uri="{FF2B5EF4-FFF2-40B4-BE49-F238E27FC236}">
                <a16:creationId xmlns:a16="http://schemas.microsoft.com/office/drawing/2014/main" id="{DB97276C-673E-8F15-6EA1-22B8E0F0891B}"/>
              </a:ext>
            </a:extLst>
          </p:cNvPr>
          <p:cNvSpPr/>
          <p:nvPr/>
        </p:nvSpPr>
        <p:spPr>
          <a:xfrm>
            <a:off x="6543470" y="2554582"/>
            <a:ext cx="921114" cy="203972"/>
          </a:xfrm>
          <a:prstGeom prst="rect">
            <a:avLst/>
          </a:prstGeom>
          <a:solidFill>
            <a:schemeClr val="bg1">
              <a:lumMod val="8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200"/>
              <a:t>円形度</a:t>
            </a:r>
            <a:endParaRPr lang="en-US" sz="1200"/>
          </a:p>
        </p:txBody>
      </p:sp>
      <p:sp>
        <p:nvSpPr>
          <p:cNvPr id="53" name="矩形 52">
            <a:extLst>
              <a:ext uri="{FF2B5EF4-FFF2-40B4-BE49-F238E27FC236}">
                <a16:creationId xmlns:a16="http://schemas.microsoft.com/office/drawing/2014/main" id="{E347557F-0895-96BE-9DB1-CAA2A1ED27DB}"/>
              </a:ext>
            </a:extLst>
          </p:cNvPr>
          <p:cNvSpPr/>
          <p:nvPr/>
        </p:nvSpPr>
        <p:spPr>
          <a:xfrm>
            <a:off x="6543470" y="2788214"/>
            <a:ext cx="921114" cy="203972"/>
          </a:xfrm>
          <a:prstGeom prst="rect">
            <a:avLst/>
          </a:prstGeom>
          <a:solidFill>
            <a:schemeClr val="bg1">
              <a:lumMod val="8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200"/>
              <a:t>回転</a:t>
            </a:r>
            <a:endParaRPr lang="en-US" sz="1200"/>
          </a:p>
        </p:txBody>
      </p:sp>
      <p:sp>
        <p:nvSpPr>
          <p:cNvPr id="54" name="矩形 53">
            <a:extLst>
              <a:ext uri="{FF2B5EF4-FFF2-40B4-BE49-F238E27FC236}">
                <a16:creationId xmlns:a16="http://schemas.microsoft.com/office/drawing/2014/main" id="{2CEEFC50-0BAB-31B4-E56B-0EEF2A9FBE92}"/>
              </a:ext>
            </a:extLst>
          </p:cNvPr>
          <p:cNvSpPr/>
          <p:nvPr/>
        </p:nvSpPr>
        <p:spPr>
          <a:xfrm>
            <a:off x="6542423" y="3021846"/>
            <a:ext cx="921114" cy="203972"/>
          </a:xfrm>
          <a:prstGeom prst="rect">
            <a:avLst/>
          </a:prstGeom>
          <a:solidFill>
            <a:schemeClr val="bg1">
              <a:lumMod val="8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200"/>
              <a:t>変化率</a:t>
            </a:r>
            <a:endParaRPr lang="en-US" sz="1200"/>
          </a:p>
        </p:txBody>
      </p:sp>
      <p:sp>
        <p:nvSpPr>
          <p:cNvPr id="55" name="矩形: 圆角 54">
            <a:extLst>
              <a:ext uri="{FF2B5EF4-FFF2-40B4-BE49-F238E27FC236}">
                <a16:creationId xmlns:a16="http://schemas.microsoft.com/office/drawing/2014/main" id="{82BD6A0E-D890-88DA-6A95-9736E70D7F15}"/>
              </a:ext>
            </a:extLst>
          </p:cNvPr>
          <p:cNvSpPr/>
          <p:nvPr/>
        </p:nvSpPr>
        <p:spPr>
          <a:xfrm>
            <a:off x="6449500" y="2181434"/>
            <a:ext cx="1119122" cy="1136544"/>
          </a:xfrm>
          <a:prstGeom prst="roundRect">
            <a:avLst>
              <a:gd name="adj" fmla="val 9936"/>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ln>
                <a:solidFill>
                  <a:schemeClr val="tx1"/>
                </a:solidFill>
              </a:ln>
            </a:endParaRPr>
          </a:p>
        </p:txBody>
      </p:sp>
      <p:sp>
        <p:nvSpPr>
          <p:cNvPr id="56" name="文本框 55">
            <a:extLst>
              <a:ext uri="{FF2B5EF4-FFF2-40B4-BE49-F238E27FC236}">
                <a16:creationId xmlns:a16="http://schemas.microsoft.com/office/drawing/2014/main" id="{E01B63DE-272D-DABC-D4B3-19324293A8F4}"/>
              </a:ext>
            </a:extLst>
          </p:cNvPr>
          <p:cNvSpPr txBox="1"/>
          <p:nvPr/>
        </p:nvSpPr>
        <p:spPr>
          <a:xfrm>
            <a:off x="6685715" y="2061985"/>
            <a:ext cx="704039" cy="300082"/>
          </a:xfrm>
          <a:prstGeom prst="rect">
            <a:avLst/>
          </a:prstGeom>
          <a:solidFill>
            <a:schemeClr val="bg1"/>
          </a:solidFill>
        </p:spPr>
        <p:txBody>
          <a:bodyPr wrap="none" rtlCol="0">
            <a:spAutoFit/>
          </a:bodyPr>
          <a:lstStyle/>
          <a:p>
            <a:r>
              <a:rPr lang="ja-JP" altLang="en-US" sz="1350" b="1">
                <a:latin typeface="游ゴシック" panose="020B0400000000000000" pitchFamily="50" charset="-128"/>
                <a:ea typeface="游ゴシック" panose="020B0400000000000000" pitchFamily="50" charset="-128"/>
              </a:rPr>
              <a:t>横断面</a:t>
            </a:r>
            <a:endParaRPr lang="en-US" sz="1350" b="1">
              <a:latin typeface="游ゴシック" panose="020B0400000000000000" pitchFamily="50" charset="-128"/>
              <a:ea typeface="游ゴシック" panose="020B0400000000000000" pitchFamily="50" charset="-128"/>
            </a:endParaRPr>
          </a:p>
        </p:txBody>
      </p:sp>
      <p:sp>
        <p:nvSpPr>
          <p:cNvPr id="57" name="矩形 56">
            <a:extLst>
              <a:ext uri="{FF2B5EF4-FFF2-40B4-BE49-F238E27FC236}">
                <a16:creationId xmlns:a16="http://schemas.microsoft.com/office/drawing/2014/main" id="{1D5966D9-5648-DCD0-0BC8-02D0CD91B3C1}"/>
              </a:ext>
            </a:extLst>
          </p:cNvPr>
          <p:cNvSpPr/>
          <p:nvPr/>
        </p:nvSpPr>
        <p:spPr>
          <a:xfrm>
            <a:off x="6543470" y="2320951"/>
            <a:ext cx="921114" cy="203972"/>
          </a:xfrm>
          <a:prstGeom prst="rect">
            <a:avLst/>
          </a:prstGeom>
          <a:solidFill>
            <a:schemeClr val="bg1">
              <a:lumMod val="8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200"/>
              <a:t>面積</a:t>
            </a:r>
            <a:endParaRPr lang="en-US" sz="1200"/>
          </a:p>
        </p:txBody>
      </p:sp>
      <p:sp>
        <p:nvSpPr>
          <p:cNvPr id="58" name="矩形 57">
            <a:extLst>
              <a:ext uri="{FF2B5EF4-FFF2-40B4-BE49-F238E27FC236}">
                <a16:creationId xmlns:a16="http://schemas.microsoft.com/office/drawing/2014/main" id="{52247E3D-5ADF-0A8E-1CA8-67E323804B65}"/>
              </a:ext>
            </a:extLst>
          </p:cNvPr>
          <p:cNvSpPr/>
          <p:nvPr/>
        </p:nvSpPr>
        <p:spPr>
          <a:xfrm>
            <a:off x="4703090" y="4016280"/>
            <a:ext cx="854802" cy="203972"/>
          </a:xfrm>
          <a:prstGeom prst="rect">
            <a:avLst/>
          </a:prstGeom>
          <a:solidFill>
            <a:schemeClr val="bg1">
              <a:lumMod val="8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200"/>
              <a:t>狭窄</a:t>
            </a:r>
            <a:endParaRPr lang="en-US" sz="1200"/>
          </a:p>
        </p:txBody>
      </p:sp>
      <p:sp>
        <p:nvSpPr>
          <p:cNvPr id="59" name="矩形 58">
            <a:extLst>
              <a:ext uri="{FF2B5EF4-FFF2-40B4-BE49-F238E27FC236}">
                <a16:creationId xmlns:a16="http://schemas.microsoft.com/office/drawing/2014/main" id="{40DE9D68-4E44-CE41-F63E-62696A23F9B2}"/>
              </a:ext>
            </a:extLst>
          </p:cNvPr>
          <p:cNvSpPr/>
          <p:nvPr/>
        </p:nvSpPr>
        <p:spPr>
          <a:xfrm>
            <a:off x="4703090" y="4249912"/>
            <a:ext cx="854802" cy="203972"/>
          </a:xfrm>
          <a:prstGeom prst="rect">
            <a:avLst/>
          </a:prstGeom>
          <a:solidFill>
            <a:schemeClr val="bg1">
              <a:lumMod val="8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200"/>
              <a:t>動脈瘤</a:t>
            </a:r>
            <a:endParaRPr lang="en-US" sz="1200"/>
          </a:p>
        </p:txBody>
      </p:sp>
      <p:sp>
        <p:nvSpPr>
          <p:cNvPr id="60" name="矩形 59">
            <a:extLst>
              <a:ext uri="{FF2B5EF4-FFF2-40B4-BE49-F238E27FC236}">
                <a16:creationId xmlns:a16="http://schemas.microsoft.com/office/drawing/2014/main" id="{25F6B6BD-FC6A-2325-F337-80EC7BC97E54}"/>
              </a:ext>
            </a:extLst>
          </p:cNvPr>
          <p:cNvSpPr/>
          <p:nvPr/>
        </p:nvSpPr>
        <p:spPr>
          <a:xfrm>
            <a:off x="4702042" y="4483543"/>
            <a:ext cx="854802" cy="203972"/>
          </a:xfrm>
          <a:prstGeom prst="rect">
            <a:avLst/>
          </a:prstGeom>
          <a:solidFill>
            <a:schemeClr val="bg1">
              <a:lumMod val="8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200"/>
              <a:t>加齢変化</a:t>
            </a:r>
            <a:endParaRPr lang="en-US" sz="1200"/>
          </a:p>
        </p:txBody>
      </p:sp>
      <p:sp>
        <p:nvSpPr>
          <p:cNvPr id="61" name="矩形: 圆角 60">
            <a:extLst>
              <a:ext uri="{FF2B5EF4-FFF2-40B4-BE49-F238E27FC236}">
                <a16:creationId xmlns:a16="http://schemas.microsoft.com/office/drawing/2014/main" id="{0C5A7C07-2510-FEDF-8678-A018C7E03EE3}"/>
              </a:ext>
            </a:extLst>
          </p:cNvPr>
          <p:cNvSpPr/>
          <p:nvPr/>
        </p:nvSpPr>
        <p:spPr>
          <a:xfrm>
            <a:off x="4637262" y="3656935"/>
            <a:ext cx="977691" cy="1136544"/>
          </a:xfrm>
          <a:prstGeom prst="roundRect">
            <a:avLst>
              <a:gd name="adj" fmla="val 9936"/>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ln>
                <a:solidFill>
                  <a:schemeClr val="tx1"/>
                </a:solidFill>
              </a:ln>
            </a:endParaRPr>
          </a:p>
        </p:txBody>
      </p:sp>
      <p:sp>
        <p:nvSpPr>
          <p:cNvPr id="62" name="文本框 61">
            <a:extLst>
              <a:ext uri="{FF2B5EF4-FFF2-40B4-BE49-F238E27FC236}">
                <a16:creationId xmlns:a16="http://schemas.microsoft.com/office/drawing/2014/main" id="{AF06A3BF-7A2F-EE45-BEA4-19014C62BB00}"/>
              </a:ext>
            </a:extLst>
          </p:cNvPr>
          <p:cNvSpPr txBox="1"/>
          <p:nvPr/>
        </p:nvSpPr>
        <p:spPr>
          <a:xfrm>
            <a:off x="4865785" y="3520732"/>
            <a:ext cx="530915" cy="300082"/>
          </a:xfrm>
          <a:prstGeom prst="rect">
            <a:avLst/>
          </a:prstGeom>
          <a:solidFill>
            <a:schemeClr val="bg1"/>
          </a:solidFill>
        </p:spPr>
        <p:txBody>
          <a:bodyPr wrap="none" rtlCol="0">
            <a:spAutoFit/>
          </a:bodyPr>
          <a:lstStyle/>
          <a:p>
            <a:r>
              <a:rPr lang="ja-JP" altLang="en-US" sz="1350" b="1">
                <a:latin typeface="游ゴシック" panose="020B0400000000000000" pitchFamily="50" charset="-128"/>
                <a:ea typeface="游ゴシック" panose="020B0400000000000000" pitchFamily="50" charset="-128"/>
              </a:rPr>
              <a:t>表面</a:t>
            </a:r>
            <a:endParaRPr lang="en-US" sz="1350" b="1">
              <a:latin typeface="游ゴシック" panose="020B0400000000000000" pitchFamily="50" charset="-128"/>
              <a:ea typeface="游ゴシック" panose="020B0400000000000000" pitchFamily="50" charset="-128"/>
            </a:endParaRPr>
          </a:p>
        </p:txBody>
      </p:sp>
      <p:sp>
        <p:nvSpPr>
          <p:cNvPr id="63" name="矩形 62">
            <a:extLst>
              <a:ext uri="{FF2B5EF4-FFF2-40B4-BE49-F238E27FC236}">
                <a16:creationId xmlns:a16="http://schemas.microsoft.com/office/drawing/2014/main" id="{0275676C-4094-16D9-0BFE-0FB19A8E2853}"/>
              </a:ext>
            </a:extLst>
          </p:cNvPr>
          <p:cNvSpPr/>
          <p:nvPr/>
        </p:nvSpPr>
        <p:spPr>
          <a:xfrm>
            <a:off x="4703090" y="3782648"/>
            <a:ext cx="854802" cy="203972"/>
          </a:xfrm>
          <a:prstGeom prst="rect">
            <a:avLst/>
          </a:prstGeom>
          <a:solidFill>
            <a:schemeClr val="bg1">
              <a:lumMod val="8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1200"/>
              <a:t>Collapse</a:t>
            </a:r>
            <a:endParaRPr lang="en-US" sz="1200"/>
          </a:p>
        </p:txBody>
      </p:sp>
      <p:sp>
        <p:nvSpPr>
          <p:cNvPr id="2048" name="矩形 2047">
            <a:extLst>
              <a:ext uri="{FF2B5EF4-FFF2-40B4-BE49-F238E27FC236}">
                <a16:creationId xmlns:a16="http://schemas.microsoft.com/office/drawing/2014/main" id="{D2CE67FC-FC8F-FF74-5704-B771126FADA0}"/>
              </a:ext>
            </a:extLst>
          </p:cNvPr>
          <p:cNvSpPr/>
          <p:nvPr/>
        </p:nvSpPr>
        <p:spPr>
          <a:xfrm>
            <a:off x="5814301" y="4488829"/>
            <a:ext cx="648367" cy="203972"/>
          </a:xfrm>
          <a:prstGeom prst="rect">
            <a:avLst/>
          </a:prstGeom>
          <a:solidFill>
            <a:schemeClr val="bg1">
              <a:lumMod val="8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200"/>
              <a:t>数量</a:t>
            </a:r>
            <a:endParaRPr lang="en-US" sz="1200"/>
          </a:p>
        </p:txBody>
      </p:sp>
      <p:sp>
        <p:nvSpPr>
          <p:cNvPr id="2053" name="矩形: 圆角 2052">
            <a:extLst>
              <a:ext uri="{FF2B5EF4-FFF2-40B4-BE49-F238E27FC236}">
                <a16:creationId xmlns:a16="http://schemas.microsoft.com/office/drawing/2014/main" id="{9BE6130A-1DC3-285F-EA57-45CF7DCCB7C9}"/>
              </a:ext>
            </a:extLst>
          </p:cNvPr>
          <p:cNvSpPr/>
          <p:nvPr/>
        </p:nvSpPr>
        <p:spPr>
          <a:xfrm>
            <a:off x="5738168" y="4114401"/>
            <a:ext cx="804664" cy="660795"/>
          </a:xfrm>
          <a:prstGeom prst="roundRect">
            <a:avLst>
              <a:gd name="adj" fmla="val 9936"/>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ln>
                <a:solidFill>
                  <a:schemeClr val="tx1"/>
                </a:solidFill>
              </a:ln>
            </a:endParaRPr>
          </a:p>
        </p:txBody>
      </p:sp>
      <p:sp>
        <p:nvSpPr>
          <p:cNvPr id="2055" name="文本框 2054">
            <a:extLst>
              <a:ext uri="{FF2B5EF4-FFF2-40B4-BE49-F238E27FC236}">
                <a16:creationId xmlns:a16="http://schemas.microsoft.com/office/drawing/2014/main" id="{15FF9C57-F457-FF0D-6C17-324B30B91905}"/>
              </a:ext>
            </a:extLst>
          </p:cNvPr>
          <p:cNvSpPr txBox="1"/>
          <p:nvPr/>
        </p:nvSpPr>
        <p:spPr>
          <a:xfrm>
            <a:off x="5874254" y="3978198"/>
            <a:ext cx="530915" cy="300082"/>
          </a:xfrm>
          <a:prstGeom prst="rect">
            <a:avLst/>
          </a:prstGeom>
          <a:solidFill>
            <a:schemeClr val="bg1"/>
          </a:solidFill>
        </p:spPr>
        <p:txBody>
          <a:bodyPr wrap="none" rtlCol="0">
            <a:spAutoFit/>
          </a:bodyPr>
          <a:lstStyle/>
          <a:p>
            <a:r>
              <a:rPr lang="ja-JP" altLang="en-US" sz="1350" b="1">
                <a:latin typeface="游ゴシック" panose="020B0400000000000000" pitchFamily="50" charset="-128"/>
                <a:ea typeface="游ゴシック" panose="020B0400000000000000" pitchFamily="50" charset="-128"/>
              </a:rPr>
              <a:t>分岐</a:t>
            </a:r>
            <a:endParaRPr lang="en-US" sz="1350" b="1">
              <a:latin typeface="游ゴシック" panose="020B0400000000000000" pitchFamily="50" charset="-128"/>
              <a:ea typeface="游ゴシック" panose="020B0400000000000000" pitchFamily="50" charset="-128"/>
            </a:endParaRPr>
          </a:p>
        </p:txBody>
      </p:sp>
      <p:sp>
        <p:nvSpPr>
          <p:cNvPr id="2056" name="矩形 2055">
            <a:extLst>
              <a:ext uri="{FF2B5EF4-FFF2-40B4-BE49-F238E27FC236}">
                <a16:creationId xmlns:a16="http://schemas.microsoft.com/office/drawing/2014/main" id="{CE9A5853-6288-07BC-CA8A-B9D199685460}"/>
              </a:ext>
            </a:extLst>
          </p:cNvPr>
          <p:cNvSpPr/>
          <p:nvPr/>
        </p:nvSpPr>
        <p:spPr>
          <a:xfrm>
            <a:off x="5814301" y="4255197"/>
            <a:ext cx="648367" cy="203972"/>
          </a:xfrm>
          <a:prstGeom prst="rect">
            <a:avLst/>
          </a:prstGeom>
          <a:solidFill>
            <a:schemeClr val="bg1">
              <a:lumMod val="8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200"/>
              <a:t>角度</a:t>
            </a:r>
            <a:endParaRPr lang="en-US" sz="1200"/>
          </a:p>
        </p:txBody>
      </p:sp>
      <p:sp>
        <p:nvSpPr>
          <p:cNvPr id="2057" name="矩形 2056">
            <a:extLst>
              <a:ext uri="{FF2B5EF4-FFF2-40B4-BE49-F238E27FC236}">
                <a16:creationId xmlns:a16="http://schemas.microsoft.com/office/drawing/2014/main" id="{51DA269D-5A64-C72D-21F6-AC1045479489}"/>
              </a:ext>
            </a:extLst>
          </p:cNvPr>
          <p:cNvSpPr/>
          <p:nvPr/>
        </p:nvSpPr>
        <p:spPr>
          <a:xfrm>
            <a:off x="6754001" y="3976802"/>
            <a:ext cx="848559" cy="203972"/>
          </a:xfrm>
          <a:prstGeom prst="rect">
            <a:avLst/>
          </a:prstGeom>
          <a:solidFill>
            <a:schemeClr val="bg1">
              <a:lumMod val="8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200"/>
              <a:t>閉鎖性</a:t>
            </a:r>
            <a:endParaRPr lang="en-US" sz="1200"/>
          </a:p>
        </p:txBody>
      </p:sp>
      <p:sp>
        <p:nvSpPr>
          <p:cNvPr id="2058" name="矩形: 圆角 2057">
            <a:extLst>
              <a:ext uri="{FF2B5EF4-FFF2-40B4-BE49-F238E27FC236}">
                <a16:creationId xmlns:a16="http://schemas.microsoft.com/office/drawing/2014/main" id="{D9A0CC87-BCEE-386E-EA18-2090603164FC}"/>
              </a:ext>
            </a:extLst>
          </p:cNvPr>
          <p:cNvSpPr/>
          <p:nvPr/>
        </p:nvSpPr>
        <p:spPr>
          <a:xfrm>
            <a:off x="6649671" y="3635057"/>
            <a:ext cx="1063512" cy="1140138"/>
          </a:xfrm>
          <a:prstGeom prst="roundRect">
            <a:avLst>
              <a:gd name="adj" fmla="val 9936"/>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ln>
                <a:solidFill>
                  <a:schemeClr val="tx1"/>
                </a:solidFill>
              </a:ln>
            </a:endParaRPr>
          </a:p>
        </p:txBody>
      </p:sp>
      <p:sp>
        <p:nvSpPr>
          <p:cNvPr id="2059" name="文本框 2058">
            <a:extLst>
              <a:ext uri="{FF2B5EF4-FFF2-40B4-BE49-F238E27FC236}">
                <a16:creationId xmlns:a16="http://schemas.microsoft.com/office/drawing/2014/main" id="{D754075F-6D5D-0BD5-AAC5-E15823C7BF47}"/>
              </a:ext>
            </a:extLst>
          </p:cNvPr>
          <p:cNvSpPr txBox="1"/>
          <p:nvPr/>
        </p:nvSpPr>
        <p:spPr>
          <a:xfrm>
            <a:off x="6730064" y="3460467"/>
            <a:ext cx="955711" cy="300082"/>
          </a:xfrm>
          <a:prstGeom prst="rect">
            <a:avLst/>
          </a:prstGeom>
          <a:solidFill>
            <a:schemeClr val="bg1"/>
          </a:solidFill>
        </p:spPr>
        <p:txBody>
          <a:bodyPr wrap="none" rtlCol="0">
            <a:spAutoFit/>
          </a:bodyPr>
          <a:lstStyle/>
          <a:p>
            <a:r>
              <a:rPr lang="en-US" altLang="ja-JP" sz="1350" b="1">
                <a:latin typeface="游ゴシック" panose="020B0400000000000000" pitchFamily="50" charset="-128"/>
                <a:ea typeface="游ゴシック" panose="020B0400000000000000" pitchFamily="50" charset="-128"/>
              </a:rPr>
              <a:t>Topology</a:t>
            </a:r>
            <a:endParaRPr lang="en-US" sz="1350" b="1">
              <a:latin typeface="游ゴシック" panose="020B0400000000000000" pitchFamily="50" charset="-128"/>
              <a:ea typeface="游ゴシック" panose="020B0400000000000000" pitchFamily="50" charset="-128"/>
            </a:endParaRPr>
          </a:p>
        </p:txBody>
      </p:sp>
      <p:sp>
        <p:nvSpPr>
          <p:cNvPr id="2060" name="矩形 2059">
            <a:extLst>
              <a:ext uri="{FF2B5EF4-FFF2-40B4-BE49-F238E27FC236}">
                <a16:creationId xmlns:a16="http://schemas.microsoft.com/office/drawing/2014/main" id="{8326915A-ED31-5B4F-4177-5F96D0CA367B}"/>
              </a:ext>
            </a:extLst>
          </p:cNvPr>
          <p:cNvSpPr/>
          <p:nvPr/>
        </p:nvSpPr>
        <p:spPr>
          <a:xfrm>
            <a:off x="6754001" y="3743170"/>
            <a:ext cx="848559" cy="203972"/>
          </a:xfrm>
          <a:prstGeom prst="rect">
            <a:avLst/>
          </a:prstGeom>
          <a:solidFill>
            <a:schemeClr val="bg1">
              <a:lumMod val="8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200"/>
              <a:t>連結性</a:t>
            </a:r>
            <a:endParaRPr lang="en-US" sz="1200"/>
          </a:p>
        </p:txBody>
      </p:sp>
      <p:sp>
        <p:nvSpPr>
          <p:cNvPr id="2061" name="矩形 2060">
            <a:extLst>
              <a:ext uri="{FF2B5EF4-FFF2-40B4-BE49-F238E27FC236}">
                <a16:creationId xmlns:a16="http://schemas.microsoft.com/office/drawing/2014/main" id="{4292F53F-FF2E-864E-002E-146CA144B1AB}"/>
              </a:ext>
            </a:extLst>
          </p:cNvPr>
          <p:cNvSpPr/>
          <p:nvPr/>
        </p:nvSpPr>
        <p:spPr>
          <a:xfrm>
            <a:off x="6754001" y="4223017"/>
            <a:ext cx="848559" cy="203972"/>
          </a:xfrm>
          <a:prstGeom prst="rect">
            <a:avLst/>
          </a:prstGeom>
          <a:solidFill>
            <a:schemeClr val="bg1">
              <a:lumMod val="8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200"/>
              <a:t>対称性</a:t>
            </a:r>
            <a:endParaRPr lang="en-US" sz="1200"/>
          </a:p>
        </p:txBody>
      </p:sp>
      <p:sp>
        <p:nvSpPr>
          <p:cNvPr id="2062" name="矩形 2061">
            <a:extLst>
              <a:ext uri="{FF2B5EF4-FFF2-40B4-BE49-F238E27FC236}">
                <a16:creationId xmlns:a16="http://schemas.microsoft.com/office/drawing/2014/main" id="{7A4F190D-1C64-171E-90F2-597825B12A37}"/>
              </a:ext>
            </a:extLst>
          </p:cNvPr>
          <p:cNvSpPr/>
          <p:nvPr/>
        </p:nvSpPr>
        <p:spPr>
          <a:xfrm>
            <a:off x="6754001" y="4469216"/>
            <a:ext cx="848559" cy="203972"/>
          </a:xfrm>
          <a:prstGeom prst="rect">
            <a:avLst/>
          </a:prstGeom>
          <a:solidFill>
            <a:schemeClr val="bg1">
              <a:lumMod val="8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900"/>
              <a:t>分岐パターン</a:t>
            </a:r>
            <a:endParaRPr lang="en-US" sz="900"/>
          </a:p>
        </p:txBody>
      </p:sp>
      <p:cxnSp>
        <p:nvCxnSpPr>
          <p:cNvPr id="2072" name="直接箭头连接符 2071">
            <a:extLst>
              <a:ext uri="{FF2B5EF4-FFF2-40B4-BE49-F238E27FC236}">
                <a16:creationId xmlns:a16="http://schemas.microsoft.com/office/drawing/2014/main" id="{6EAE6927-903D-8ED6-E0AC-F94491DEF92B}"/>
              </a:ext>
            </a:extLst>
          </p:cNvPr>
          <p:cNvCxnSpPr>
            <a:cxnSpLocks/>
          </p:cNvCxnSpPr>
          <p:nvPr/>
        </p:nvCxnSpPr>
        <p:spPr>
          <a:xfrm>
            <a:off x="5846624" y="3256813"/>
            <a:ext cx="766763" cy="423863"/>
          </a:xfrm>
          <a:prstGeom prst="straightConnector1">
            <a:avLst/>
          </a:prstGeom>
          <a:ln>
            <a:solidFill>
              <a:schemeClr val="tx1">
                <a:lumMod val="50000"/>
                <a:lumOff val="50000"/>
              </a:schemeClr>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2073" name="直接箭头连接符 2072">
            <a:extLst>
              <a:ext uri="{FF2B5EF4-FFF2-40B4-BE49-F238E27FC236}">
                <a16:creationId xmlns:a16="http://schemas.microsoft.com/office/drawing/2014/main" id="{1B7F7D5A-9B55-EB1A-17B5-FEF2C1EFB783}"/>
              </a:ext>
            </a:extLst>
          </p:cNvPr>
          <p:cNvCxnSpPr>
            <a:cxnSpLocks/>
            <a:endCxn id="2055" idx="0"/>
          </p:cNvCxnSpPr>
          <p:nvPr/>
        </p:nvCxnSpPr>
        <p:spPr>
          <a:xfrm>
            <a:off x="5818049" y="3280624"/>
            <a:ext cx="321663" cy="697574"/>
          </a:xfrm>
          <a:prstGeom prst="straightConnector1">
            <a:avLst/>
          </a:prstGeom>
          <a:ln>
            <a:solidFill>
              <a:schemeClr val="tx1">
                <a:lumMod val="50000"/>
                <a:lumOff val="50000"/>
              </a:schemeClr>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2076" name="直接箭头连接符 2075">
            <a:extLst>
              <a:ext uri="{FF2B5EF4-FFF2-40B4-BE49-F238E27FC236}">
                <a16:creationId xmlns:a16="http://schemas.microsoft.com/office/drawing/2014/main" id="{BF76C01A-11D0-F9AF-4BBF-C3CC75BB367F}"/>
              </a:ext>
            </a:extLst>
          </p:cNvPr>
          <p:cNvCxnSpPr>
            <a:cxnSpLocks/>
          </p:cNvCxnSpPr>
          <p:nvPr/>
        </p:nvCxnSpPr>
        <p:spPr>
          <a:xfrm flipH="1">
            <a:off x="5637350" y="3285388"/>
            <a:ext cx="804587" cy="494660"/>
          </a:xfrm>
          <a:prstGeom prst="straightConnector1">
            <a:avLst/>
          </a:prstGeom>
          <a:ln>
            <a:solidFill>
              <a:schemeClr val="tx1">
                <a:lumMod val="50000"/>
                <a:lumOff val="50000"/>
              </a:schemeClr>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2079" name="直接箭头连接符 2078">
            <a:extLst>
              <a:ext uri="{FF2B5EF4-FFF2-40B4-BE49-F238E27FC236}">
                <a16:creationId xmlns:a16="http://schemas.microsoft.com/office/drawing/2014/main" id="{92FF2761-DEE2-C6B3-5D61-CFD8C5635717}"/>
              </a:ext>
            </a:extLst>
          </p:cNvPr>
          <p:cNvCxnSpPr>
            <a:cxnSpLocks/>
          </p:cNvCxnSpPr>
          <p:nvPr/>
        </p:nvCxnSpPr>
        <p:spPr>
          <a:xfrm flipH="1">
            <a:off x="6175236" y="3342538"/>
            <a:ext cx="295275" cy="657225"/>
          </a:xfrm>
          <a:prstGeom prst="straightConnector1">
            <a:avLst/>
          </a:prstGeom>
          <a:ln>
            <a:solidFill>
              <a:schemeClr val="tx1">
                <a:lumMod val="50000"/>
                <a:lumOff val="50000"/>
              </a:schemeClr>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2087" name="直接箭头连接符 2086">
            <a:extLst>
              <a:ext uri="{FF2B5EF4-FFF2-40B4-BE49-F238E27FC236}">
                <a16:creationId xmlns:a16="http://schemas.microsoft.com/office/drawing/2014/main" id="{4E4C812A-3C4C-7628-B66D-A1047FBE09A6}"/>
              </a:ext>
            </a:extLst>
          </p:cNvPr>
          <p:cNvCxnSpPr>
            <a:cxnSpLocks/>
          </p:cNvCxnSpPr>
          <p:nvPr/>
        </p:nvCxnSpPr>
        <p:spPr>
          <a:xfrm flipH="1">
            <a:off x="5660886" y="3737825"/>
            <a:ext cx="942975" cy="76200"/>
          </a:xfrm>
          <a:prstGeom prst="straightConnector1">
            <a:avLst/>
          </a:prstGeom>
          <a:ln>
            <a:solidFill>
              <a:schemeClr val="tx1">
                <a:lumMod val="50000"/>
                <a:lumOff val="50000"/>
              </a:schemeClr>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2104" name="任意多边形: 形状 2103">
            <a:extLst>
              <a:ext uri="{FF2B5EF4-FFF2-40B4-BE49-F238E27FC236}">
                <a16:creationId xmlns:a16="http://schemas.microsoft.com/office/drawing/2014/main" id="{02CF6DFD-7760-6224-F45F-A879DE66D284}"/>
              </a:ext>
            </a:extLst>
          </p:cNvPr>
          <p:cNvSpPr/>
          <p:nvPr/>
        </p:nvSpPr>
        <p:spPr>
          <a:xfrm>
            <a:off x="5600648" y="3337776"/>
            <a:ext cx="136439" cy="314325"/>
          </a:xfrm>
          <a:custGeom>
            <a:avLst/>
            <a:gdLst>
              <a:gd name="connsiteX0" fmla="*/ 181919 w 181919"/>
              <a:gd name="connsiteY0" fmla="*/ 0 h 419100"/>
              <a:gd name="connsiteX1" fmla="*/ 23169 w 181919"/>
              <a:gd name="connsiteY1" fmla="*/ 133350 h 419100"/>
              <a:gd name="connsiteX2" fmla="*/ 4119 w 181919"/>
              <a:gd name="connsiteY2" fmla="*/ 419100 h 419100"/>
            </a:gdLst>
            <a:ahLst/>
            <a:cxnLst>
              <a:cxn ang="0">
                <a:pos x="connsiteX0" y="connsiteY0"/>
              </a:cxn>
              <a:cxn ang="0">
                <a:pos x="connsiteX1" y="connsiteY1"/>
              </a:cxn>
              <a:cxn ang="0">
                <a:pos x="connsiteX2" y="connsiteY2"/>
              </a:cxn>
            </a:cxnLst>
            <a:rect l="l" t="t" r="r" b="b"/>
            <a:pathLst>
              <a:path w="181919" h="419100">
                <a:moveTo>
                  <a:pt x="181919" y="0"/>
                </a:moveTo>
                <a:cubicBezTo>
                  <a:pt x="117360" y="31750"/>
                  <a:pt x="52802" y="63500"/>
                  <a:pt x="23169" y="133350"/>
                </a:cubicBezTo>
                <a:cubicBezTo>
                  <a:pt x="-6464" y="203200"/>
                  <a:pt x="-1173" y="311150"/>
                  <a:pt x="4119" y="419100"/>
                </a:cubicBezTo>
              </a:path>
            </a:pathLst>
          </a:custGeom>
          <a:ln>
            <a:solidFill>
              <a:schemeClr val="tx1">
                <a:lumMod val="50000"/>
                <a:lumOff val="50000"/>
              </a:schemeClr>
            </a:solidFill>
            <a:headEnd type="arrow"/>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sp>
        <p:nvSpPr>
          <p:cNvPr id="2105" name="任意多边形: 形状 2104">
            <a:extLst>
              <a:ext uri="{FF2B5EF4-FFF2-40B4-BE49-F238E27FC236}">
                <a16:creationId xmlns:a16="http://schemas.microsoft.com/office/drawing/2014/main" id="{D91503F4-C8D1-E62D-F48C-5A281B84F03E}"/>
              </a:ext>
            </a:extLst>
          </p:cNvPr>
          <p:cNvSpPr/>
          <p:nvPr/>
        </p:nvSpPr>
        <p:spPr>
          <a:xfrm rot="17194570">
            <a:off x="5681582" y="3839335"/>
            <a:ext cx="136439" cy="255208"/>
          </a:xfrm>
          <a:custGeom>
            <a:avLst/>
            <a:gdLst>
              <a:gd name="connsiteX0" fmla="*/ 181919 w 181919"/>
              <a:gd name="connsiteY0" fmla="*/ 0 h 419100"/>
              <a:gd name="connsiteX1" fmla="*/ 23169 w 181919"/>
              <a:gd name="connsiteY1" fmla="*/ 133350 h 419100"/>
              <a:gd name="connsiteX2" fmla="*/ 4119 w 181919"/>
              <a:gd name="connsiteY2" fmla="*/ 419100 h 419100"/>
            </a:gdLst>
            <a:ahLst/>
            <a:cxnLst>
              <a:cxn ang="0">
                <a:pos x="connsiteX0" y="connsiteY0"/>
              </a:cxn>
              <a:cxn ang="0">
                <a:pos x="connsiteX1" y="connsiteY1"/>
              </a:cxn>
              <a:cxn ang="0">
                <a:pos x="connsiteX2" y="connsiteY2"/>
              </a:cxn>
            </a:cxnLst>
            <a:rect l="l" t="t" r="r" b="b"/>
            <a:pathLst>
              <a:path w="181919" h="419100">
                <a:moveTo>
                  <a:pt x="181919" y="0"/>
                </a:moveTo>
                <a:cubicBezTo>
                  <a:pt x="117360" y="31750"/>
                  <a:pt x="52802" y="63500"/>
                  <a:pt x="23169" y="133350"/>
                </a:cubicBezTo>
                <a:cubicBezTo>
                  <a:pt x="-6464" y="203200"/>
                  <a:pt x="-1173" y="311150"/>
                  <a:pt x="4119" y="419100"/>
                </a:cubicBezTo>
              </a:path>
            </a:pathLst>
          </a:custGeom>
          <a:ln>
            <a:solidFill>
              <a:schemeClr val="tx1">
                <a:lumMod val="50000"/>
                <a:lumOff val="50000"/>
              </a:schemeClr>
            </a:solidFill>
            <a:headEnd type="arrow"/>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sp>
        <p:nvSpPr>
          <p:cNvPr id="2106" name="任意多边形: 形状 2105">
            <a:extLst>
              <a:ext uri="{FF2B5EF4-FFF2-40B4-BE49-F238E27FC236}">
                <a16:creationId xmlns:a16="http://schemas.microsoft.com/office/drawing/2014/main" id="{CE9459A1-8899-E04D-B4B9-B07A69197F34}"/>
              </a:ext>
            </a:extLst>
          </p:cNvPr>
          <p:cNvSpPr/>
          <p:nvPr/>
        </p:nvSpPr>
        <p:spPr>
          <a:xfrm rot="11633446">
            <a:off x="6439202" y="3839334"/>
            <a:ext cx="136439" cy="255208"/>
          </a:xfrm>
          <a:custGeom>
            <a:avLst/>
            <a:gdLst>
              <a:gd name="connsiteX0" fmla="*/ 181919 w 181919"/>
              <a:gd name="connsiteY0" fmla="*/ 0 h 419100"/>
              <a:gd name="connsiteX1" fmla="*/ 23169 w 181919"/>
              <a:gd name="connsiteY1" fmla="*/ 133350 h 419100"/>
              <a:gd name="connsiteX2" fmla="*/ 4119 w 181919"/>
              <a:gd name="connsiteY2" fmla="*/ 419100 h 419100"/>
            </a:gdLst>
            <a:ahLst/>
            <a:cxnLst>
              <a:cxn ang="0">
                <a:pos x="connsiteX0" y="connsiteY0"/>
              </a:cxn>
              <a:cxn ang="0">
                <a:pos x="connsiteX1" y="connsiteY1"/>
              </a:cxn>
              <a:cxn ang="0">
                <a:pos x="connsiteX2" y="connsiteY2"/>
              </a:cxn>
            </a:cxnLst>
            <a:rect l="l" t="t" r="r" b="b"/>
            <a:pathLst>
              <a:path w="181919" h="419100">
                <a:moveTo>
                  <a:pt x="181919" y="0"/>
                </a:moveTo>
                <a:cubicBezTo>
                  <a:pt x="117360" y="31750"/>
                  <a:pt x="52802" y="63500"/>
                  <a:pt x="23169" y="133350"/>
                </a:cubicBezTo>
                <a:cubicBezTo>
                  <a:pt x="-6464" y="203200"/>
                  <a:pt x="-1173" y="311150"/>
                  <a:pt x="4119" y="419100"/>
                </a:cubicBezTo>
              </a:path>
            </a:pathLst>
          </a:custGeom>
          <a:ln>
            <a:solidFill>
              <a:schemeClr val="tx1">
                <a:lumMod val="50000"/>
                <a:lumOff val="50000"/>
              </a:schemeClr>
            </a:solidFill>
            <a:headEnd type="arrow"/>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sp>
        <p:nvSpPr>
          <p:cNvPr id="2107" name="任意多边形: 形状 2106">
            <a:extLst>
              <a:ext uri="{FF2B5EF4-FFF2-40B4-BE49-F238E27FC236}">
                <a16:creationId xmlns:a16="http://schemas.microsoft.com/office/drawing/2014/main" id="{B23DFC70-5D25-E9C8-E3FA-92867E18CAEF}"/>
              </a:ext>
            </a:extLst>
          </p:cNvPr>
          <p:cNvSpPr/>
          <p:nvPr/>
        </p:nvSpPr>
        <p:spPr>
          <a:xfrm rot="7172180">
            <a:off x="6567789" y="3338723"/>
            <a:ext cx="136439" cy="255208"/>
          </a:xfrm>
          <a:custGeom>
            <a:avLst/>
            <a:gdLst>
              <a:gd name="connsiteX0" fmla="*/ 181919 w 181919"/>
              <a:gd name="connsiteY0" fmla="*/ 0 h 419100"/>
              <a:gd name="connsiteX1" fmla="*/ 23169 w 181919"/>
              <a:gd name="connsiteY1" fmla="*/ 133350 h 419100"/>
              <a:gd name="connsiteX2" fmla="*/ 4119 w 181919"/>
              <a:gd name="connsiteY2" fmla="*/ 419100 h 419100"/>
            </a:gdLst>
            <a:ahLst/>
            <a:cxnLst>
              <a:cxn ang="0">
                <a:pos x="connsiteX0" y="connsiteY0"/>
              </a:cxn>
              <a:cxn ang="0">
                <a:pos x="connsiteX1" y="connsiteY1"/>
              </a:cxn>
              <a:cxn ang="0">
                <a:pos x="connsiteX2" y="connsiteY2"/>
              </a:cxn>
            </a:cxnLst>
            <a:rect l="l" t="t" r="r" b="b"/>
            <a:pathLst>
              <a:path w="181919" h="419100">
                <a:moveTo>
                  <a:pt x="181919" y="0"/>
                </a:moveTo>
                <a:cubicBezTo>
                  <a:pt x="117360" y="31750"/>
                  <a:pt x="52802" y="63500"/>
                  <a:pt x="23169" y="133350"/>
                </a:cubicBezTo>
                <a:cubicBezTo>
                  <a:pt x="-6464" y="203200"/>
                  <a:pt x="-1173" y="311150"/>
                  <a:pt x="4119" y="419100"/>
                </a:cubicBezTo>
              </a:path>
            </a:pathLst>
          </a:custGeom>
          <a:ln>
            <a:solidFill>
              <a:schemeClr val="tx1">
                <a:lumMod val="50000"/>
                <a:lumOff val="50000"/>
              </a:schemeClr>
            </a:solidFill>
            <a:headEnd type="arrow"/>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sp>
        <p:nvSpPr>
          <p:cNvPr id="2108" name="任意多边形: 形状 2107">
            <a:extLst>
              <a:ext uri="{FF2B5EF4-FFF2-40B4-BE49-F238E27FC236}">
                <a16:creationId xmlns:a16="http://schemas.microsoft.com/office/drawing/2014/main" id="{A07C1453-ED2E-DA7B-31DC-B27E1A13850C}"/>
              </a:ext>
            </a:extLst>
          </p:cNvPr>
          <p:cNvSpPr/>
          <p:nvPr/>
        </p:nvSpPr>
        <p:spPr>
          <a:xfrm rot="3813104">
            <a:off x="6009970" y="2975090"/>
            <a:ext cx="261884" cy="449144"/>
          </a:xfrm>
          <a:custGeom>
            <a:avLst/>
            <a:gdLst>
              <a:gd name="connsiteX0" fmla="*/ 181919 w 181919"/>
              <a:gd name="connsiteY0" fmla="*/ 0 h 419100"/>
              <a:gd name="connsiteX1" fmla="*/ 23169 w 181919"/>
              <a:gd name="connsiteY1" fmla="*/ 133350 h 419100"/>
              <a:gd name="connsiteX2" fmla="*/ 4119 w 181919"/>
              <a:gd name="connsiteY2" fmla="*/ 419100 h 419100"/>
            </a:gdLst>
            <a:ahLst/>
            <a:cxnLst>
              <a:cxn ang="0">
                <a:pos x="connsiteX0" y="connsiteY0"/>
              </a:cxn>
              <a:cxn ang="0">
                <a:pos x="connsiteX1" y="connsiteY1"/>
              </a:cxn>
              <a:cxn ang="0">
                <a:pos x="connsiteX2" y="connsiteY2"/>
              </a:cxn>
            </a:cxnLst>
            <a:rect l="l" t="t" r="r" b="b"/>
            <a:pathLst>
              <a:path w="181919" h="419100">
                <a:moveTo>
                  <a:pt x="181919" y="0"/>
                </a:moveTo>
                <a:cubicBezTo>
                  <a:pt x="117360" y="31750"/>
                  <a:pt x="52802" y="63500"/>
                  <a:pt x="23169" y="133350"/>
                </a:cubicBezTo>
                <a:cubicBezTo>
                  <a:pt x="-6464" y="203200"/>
                  <a:pt x="-1173" y="311150"/>
                  <a:pt x="4119" y="419100"/>
                </a:cubicBezTo>
              </a:path>
            </a:pathLst>
          </a:custGeom>
          <a:ln>
            <a:solidFill>
              <a:schemeClr val="tx1">
                <a:lumMod val="50000"/>
                <a:lumOff val="50000"/>
              </a:schemeClr>
            </a:solidFill>
            <a:headEnd type="arrow"/>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pic>
        <p:nvPicPr>
          <p:cNvPr id="2111" name="Picture 8" descr="Morphological parameters of middle cerebral arteries associated with  aneurysm formation | Neuroradiology">
            <a:extLst>
              <a:ext uri="{FF2B5EF4-FFF2-40B4-BE49-F238E27FC236}">
                <a16:creationId xmlns:a16="http://schemas.microsoft.com/office/drawing/2014/main" id="{36243999-5C42-A084-B5E5-9C43DA09D6E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399689" y="3093906"/>
            <a:ext cx="987536" cy="643560"/>
          </a:xfrm>
          <a:prstGeom prst="rect">
            <a:avLst/>
          </a:prstGeom>
          <a:noFill/>
          <a:extLst>
            <a:ext uri="{909E8E84-426E-40DD-AFC4-6F175D3DCCD1}">
              <a14:hiddenFill xmlns:a14="http://schemas.microsoft.com/office/drawing/2010/main">
                <a:solidFill>
                  <a:srgbClr val="FFFFFF"/>
                </a:solidFill>
              </a14:hiddenFill>
            </a:ext>
          </a:extLst>
        </p:spPr>
      </p:pic>
      <p:pic>
        <p:nvPicPr>
          <p:cNvPr id="2112" name="Picture 10" descr="Three types of internal carotid artery, (I) real geometries (a) U type,...  | Download Scientific Diagram">
            <a:extLst>
              <a:ext uri="{FF2B5EF4-FFF2-40B4-BE49-F238E27FC236}">
                <a16:creationId xmlns:a16="http://schemas.microsoft.com/office/drawing/2014/main" id="{4F42B969-B772-9876-CD68-E7C45C9B194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523359" y="2120250"/>
            <a:ext cx="730453" cy="596687"/>
          </a:xfrm>
          <a:prstGeom prst="rect">
            <a:avLst/>
          </a:prstGeom>
          <a:noFill/>
          <a:extLst>
            <a:ext uri="{909E8E84-426E-40DD-AFC4-6F175D3DCCD1}">
              <a14:hiddenFill xmlns:a14="http://schemas.microsoft.com/office/drawing/2010/main">
                <a:solidFill>
                  <a:srgbClr val="FFFFFF"/>
                </a:solidFill>
              </a14:hiddenFill>
            </a:ext>
          </a:extLst>
        </p:spPr>
      </p:pic>
      <p:pic>
        <p:nvPicPr>
          <p:cNvPr id="2114" name="图片 2113">
            <a:extLst>
              <a:ext uri="{FF2B5EF4-FFF2-40B4-BE49-F238E27FC236}">
                <a16:creationId xmlns:a16="http://schemas.microsoft.com/office/drawing/2014/main" id="{68342EEA-4D95-18C6-411A-9E6AAA962A4F}"/>
              </a:ext>
            </a:extLst>
          </p:cNvPr>
          <p:cNvPicPr>
            <a:picLocks noChangeAspect="1"/>
          </p:cNvPicPr>
          <p:nvPr/>
        </p:nvPicPr>
        <p:blipFill>
          <a:blip r:embed="rId14"/>
          <a:stretch>
            <a:fillRect/>
          </a:stretch>
        </p:blipFill>
        <p:spPr>
          <a:xfrm>
            <a:off x="8089955" y="4113632"/>
            <a:ext cx="902023" cy="750395"/>
          </a:xfrm>
          <a:prstGeom prst="rect">
            <a:avLst/>
          </a:prstGeom>
        </p:spPr>
      </p:pic>
      <p:sp>
        <p:nvSpPr>
          <p:cNvPr id="30" name="箭头: 右 29">
            <a:extLst>
              <a:ext uri="{FF2B5EF4-FFF2-40B4-BE49-F238E27FC236}">
                <a16:creationId xmlns:a16="http://schemas.microsoft.com/office/drawing/2014/main" id="{43D93598-10C2-A0BB-4181-DCED213836E0}"/>
              </a:ext>
            </a:extLst>
          </p:cNvPr>
          <p:cNvSpPr/>
          <p:nvPr/>
        </p:nvSpPr>
        <p:spPr>
          <a:xfrm flipH="1">
            <a:off x="7793660" y="4421819"/>
            <a:ext cx="245707" cy="236934"/>
          </a:xfrm>
          <a:prstGeom prst="rightArrow">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sz="1350"/>
          </a:p>
        </p:txBody>
      </p:sp>
      <p:pic>
        <p:nvPicPr>
          <p:cNvPr id="2116" name="图片 2115">
            <a:extLst>
              <a:ext uri="{FF2B5EF4-FFF2-40B4-BE49-F238E27FC236}">
                <a16:creationId xmlns:a16="http://schemas.microsoft.com/office/drawing/2014/main" id="{D7233BE7-4CCC-3BEA-6110-71E083F53C45}"/>
              </a:ext>
            </a:extLst>
          </p:cNvPr>
          <p:cNvPicPr>
            <a:picLocks noChangeAspect="1"/>
          </p:cNvPicPr>
          <p:nvPr/>
        </p:nvPicPr>
        <p:blipFill>
          <a:blip r:embed="rId15"/>
          <a:stretch>
            <a:fillRect/>
          </a:stretch>
        </p:blipFill>
        <p:spPr>
          <a:xfrm>
            <a:off x="8914949" y="4098277"/>
            <a:ext cx="735759" cy="739591"/>
          </a:xfrm>
          <a:prstGeom prst="rect">
            <a:avLst/>
          </a:prstGeom>
        </p:spPr>
      </p:pic>
      <p:sp>
        <p:nvSpPr>
          <p:cNvPr id="2118" name="文本框 2117">
            <a:extLst>
              <a:ext uri="{FF2B5EF4-FFF2-40B4-BE49-F238E27FC236}">
                <a16:creationId xmlns:a16="http://schemas.microsoft.com/office/drawing/2014/main" id="{C0832F98-A895-9347-E460-7A3C4AF38690}"/>
              </a:ext>
            </a:extLst>
          </p:cNvPr>
          <p:cNvSpPr txBox="1"/>
          <p:nvPr/>
        </p:nvSpPr>
        <p:spPr>
          <a:xfrm>
            <a:off x="4513879" y="-1160755"/>
            <a:ext cx="4633913" cy="507831"/>
          </a:xfrm>
          <a:prstGeom prst="rect">
            <a:avLst/>
          </a:prstGeom>
          <a:noFill/>
        </p:spPr>
        <p:txBody>
          <a:bodyPr wrap="square">
            <a:spAutoFit/>
          </a:bodyPr>
          <a:lstStyle/>
          <a:p>
            <a:pPr>
              <a:buFont typeface="Wingdings" panose="05000000000000000000" pitchFamily="2" charset="2"/>
              <a:buChar char="§"/>
            </a:pPr>
            <a:r>
              <a:rPr lang="en-US" altLang="ja-JP" sz="1350"/>
              <a:t>Research Question: </a:t>
            </a:r>
            <a:r>
              <a:rPr lang="ja-JP" altLang="en-US" sz="1350" b="1" u="sng"/>
              <a:t>それぞれのパートの必要な</a:t>
            </a:r>
            <a:r>
              <a:rPr lang="en-US" altLang="ja-JP" sz="1350" b="1" u="sng"/>
              <a:t>”</a:t>
            </a:r>
            <a:r>
              <a:rPr lang="ja-JP" altLang="en-US" sz="1350" b="1" u="sng"/>
              <a:t>表現の解像度</a:t>
            </a:r>
            <a:r>
              <a:rPr lang="en-US" altLang="ja-JP" sz="1350" b="1" u="sng"/>
              <a:t>”</a:t>
            </a:r>
            <a:r>
              <a:rPr lang="ja-JP" altLang="en-US" sz="1350" b="1" u="sng"/>
              <a:t>をどう満たすのか？</a:t>
            </a:r>
            <a:endParaRPr lang="en-US" altLang="ja-JP" sz="1350" b="1" u="sng"/>
          </a:p>
        </p:txBody>
      </p:sp>
      <p:sp>
        <p:nvSpPr>
          <p:cNvPr id="18" name="文本占位符 17">
            <a:extLst>
              <a:ext uri="{FF2B5EF4-FFF2-40B4-BE49-F238E27FC236}">
                <a16:creationId xmlns:a16="http://schemas.microsoft.com/office/drawing/2014/main" id="{EE1459DF-0DCC-E570-70BC-E64C9F9ECF98}"/>
              </a:ext>
            </a:extLst>
          </p:cNvPr>
          <p:cNvSpPr>
            <a:spLocks noGrp="1"/>
          </p:cNvSpPr>
          <p:nvPr>
            <p:ph type="body" sz="quarter" idx="15"/>
          </p:nvPr>
        </p:nvSpPr>
        <p:spPr/>
        <p:txBody>
          <a:bodyPr/>
          <a:lstStyle/>
          <a:p>
            <a:endParaRPr lang="en-US"/>
          </a:p>
        </p:txBody>
      </p:sp>
    </p:spTree>
    <p:extLst>
      <p:ext uri="{BB962C8B-B14F-4D97-AF65-F5344CB8AC3E}">
        <p14:creationId xmlns:p14="http://schemas.microsoft.com/office/powerpoint/2010/main" val="175559136"/>
      </p:ext>
    </p:extLst>
  </p:cSld>
  <p:clrMapOvr>
    <a:masterClrMapping/>
  </p:clrMapOvr>
</p:sld>
</file>

<file path=ppt/theme/theme1.xml><?xml version="1.0" encoding="utf-8"?>
<a:theme xmlns:a="http://schemas.openxmlformats.org/drawingml/2006/main" name="Office テーマ">
  <a:themeElements>
    <a:clrScheme name="生研フォーマット">
      <a:dk1>
        <a:sysClr val="windowText" lastClr="000000"/>
      </a:dk1>
      <a:lt1>
        <a:sysClr val="window" lastClr="FFFFFF"/>
      </a:lt1>
      <a:dk2>
        <a:srgbClr val="7F7F7F"/>
      </a:dk2>
      <a:lt2>
        <a:srgbClr val="E7E6E6"/>
      </a:lt2>
      <a:accent1>
        <a:srgbClr val="00B0F0"/>
      </a:accent1>
      <a:accent2>
        <a:srgbClr val="3054DB"/>
      </a:accent2>
      <a:accent3>
        <a:srgbClr val="C00000"/>
      </a:accent3>
      <a:accent4>
        <a:srgbClr val="E3C84C"/>
      </a:accent4>
      <a:accent5>
        <a:srgbClr val="548234"/>
      </a:accent5>
      <a:accent6>
        <a:srgbClr val="4C5B60"/>
      </a:accent6>
      <a:hlink>
        <a:srgbClr val="00B0F0"/>
      </a:hlink>
      <a:folHlink>
        <a:srgbClr val="00B0F0"/>
      </a:folHlink>
    </a:clrScheme>
    <a:fontScheme name="生研フォーマット">
      <a:majorFont>
        <a:latin typeface="Arial"/>
        <a:ea typeface="メイリオ"/>
        <a:cs typeface=""/>
      </a:majorFont>
      <a:minorFont>
        <a:latin typeface="Arial"/>
        <a:ea typeface="メイリオ"/>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95AECFA97F9F3C46BDF5A046F839E085" ma:contentTypeVersion="12" ma:contentTypeDescription="新しいドキュメントを作成します。" ma:contentTypeScope="" ma:versionID="5d06371049bf1f26726c55e5ebe68a72">
  <xsd:schema xmlns:xsd="http://www.w3.org/2001/XMLSchema" xmlns:xs="http://www.w3.org/2001/XMLSchema" xmlns:p="http://schemas.microsoft.com/office/2006/metadata/properties" xmlns:ns3="b5ff7732-c255-4db6-b6d3-d4e1f7340ff3" xmlns:ns4="09b4e88d-ded6-4853-994f-eabcded435d5" targetNamespace="http://schemas.microsoft.com/office/2006/metadata/properties" ma:root="true" ma:fieldsID="83b82459ed91e7f77b9bdb258f75a758" ns3:_="" ns4:_="">
    <xsd:import namespace="b5ff7732-c255-4db6-b6d3-d4e1f7340ff3"/>
    <xsd:import namespace="09b4e88d-ded6-4853-994f-eabcded435d5"/>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_activity" minOccurs="0"/>
                <xsd:element ref="ns4:SharedWithUsers" minOccurs="0"/>
                <xsd:element ref="ns4:SharedWithDetails" minOccurs="0"/>
                <xsd:element ref="ns4:SharingHintHash" minOccurs="0"/>
                <xsd:element ref="ns3:MediaServiceObjectDetectorVersions" minOccurs="0"/>
                <xsd:element ref="ns3:MediaServiceSearchProperties" minOccurs="0"/>
                <xsd:element ref="ns3:MediaServiceDateTaken"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5ff7732-c255-4db6-b6d3-d4e1f7340ff3"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_activity" ma:index="12" nillable="true" ma:displayName="_activity" ma:hidden="true" ma:internalName="_activity">
      <xsd:simpleType>
        <xsd:restriction base="dms:Note"/>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BillingMetadata" ma:index="1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9b4e88d-ded6-4853-994f-eabcded435d5" elementFormDefault="qualified">
    <xsd:import namespace="http://schemas.microsoft.com/office/2006/documentManagement/types"/>
    <xsd:import namespace="http://schemas.microsoft.com/office/infopath/2007/PartnerControls"/>
    <xsd:element name="SharedWithUsers" ma:index="13"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共有相手の詳細情報" ma:internalName="SharedWithDetails" ma:readOnly="true">
      <xsd:simpleType>
        <xsd:restriction base="dms:Note">
          <xsd:maxLength value="255"/>
        </xsd:restriction>
      </xsd:simpleType>
    </xsd:element>
    <xsd:element name="SharingHintHash" ma:index="15" nillable="true" ma:displayName="共有のヒントのハッシュ"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b5ff7732-c255-4db6-b6d3-d4e1f7340ff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B6B0B66-572D-4F28-88E8-458AA3967BF7}">
  <ds:schemaRefs>
    <ds:schemaRef ds:uri="09b4e88d-ded6-4853-994f-eabcded435d5"/>
    <ds:schemaRef ds:uri="b5ff7732-c255-4db6-b6d3-d4e1f7340ff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B110CFF-2A4C-423E-A2B5-CBD5BD965224}">
  <ds:schemaRefs>
    <ds:schemaRef ds:uri="http://schemas.microsoft.com/office/2006/documentManagement/types"/>
    <ds:schemaRef ds:uri="http://purl.org/dc/terms/"/>
    <ds:schemaRef ds:uri="http://schemas.microsoft.com/office/2006/metadata/properties"/>
    <ds:schemaRef ds:uri="http://purl.org/dc/dcmitype/"/>
    <ds:schemaRef ds:uri="09b4e88d-ded6-4853-994f-eabcded435d5"/>
    <ds:schemaRef ds:uri="http://schemas.openxmlformats.org/package/2006/metadata/core-properties"/>
    <ds:schemaRef ds:uri="http://www.w3.org/XML/1998/namespace"/>
    <ds:schemaRef ds:uri="b5ff7732-c255-4db6-b6d3-d4e1f7340ff3"/>
    <ds:schemaRef ds:uri="http://schemas.microsoft.com/office/infopath/2007/PartnerControls"/>
    <ds:schemaRef ds:uri="http://purl.org/dc/elements/1.1/"/>
  </ds:schemaRefs>
</ds:datastoreItem>
</file>

<file path=customXml/itemProps3.xml><?xml version="1.0" encoding="utf-8"?>
<ds:datastoreItem xmlns:ds="http://schemas.openxmlformats.org/officeDocument/2006/customXml" ds:itemID="{59972E70-A717-4BBE-86F7-50E0F93D55F3}">
  <ds:schemaRefs>
    <ds:schemaRef ds:uri="http://schemas.microsoft.com/sharepoint/v3/contenttype/forms"/>
  </ds:schemaRefs>
</ds:datastoreItem>
</file>

<file path=docMetadata/LabelInfo.xml><?xml version="1.0" encoding="utf-8"?>
<clbl:labelList xmlns:clbl="http://schemas.microsoft.com/office/2020/mipLabelMetadata">
  <clbl:label id="{f07baf4f-2b70-47d7-9a02-0875caf94c84}" enabled="0" method="" siteId="{f07baf4f-2b70-47d7-9a02-0875caf94c84}" removed="1"/>
</clbl:labelList>
</file>

<file path=docProps/app.xml><?xml version="1.0" encoding="utf-8"?>
<Properties xmlns="http://schemas.openxmlformats.org/officeDocument/2006/extended-properties" xmlns:vt="http://schemas.openxmlformats.org/officeDocument/2006/docPropsVTypes">
  <Template>win用 テンプレート</Template>
  <TotalTime>4373</TotalTime>
  <Words>1450</Words>
  <Application>Microsoft Office PowerPoint</Application>
  <PresentationFormat>宽屏</PresentationFormat>
  <Paragraphs>290</Paragraphs>
  <Slides>13</Slides>
  <Notes>12</Notes>
  <HiddenSlides>3</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13</vt:i4>
      </vt:variant>
    </vt:vector>
  </HeadingPairs>
  <TitlesOfParts>
    <vt:vector size="24" baseType="lpstr">
      <vt:lpstr>Hiragino Kaku Gothic Pro W3</vt:lpstr>
      <vt:lpstr>メイリオ</vt:lpstr>
      <vt:lpstr>游ゴシック</vt:lpstr>
      <vt:lpstr>Aptos</vt:lpstr>
      <vt:lpstr>Aptos Black</vt:lpstr>
      <vt:lpstr>Aptos Display</vt:lpstr>
      <vt:lpstr>Aptos ExtraBold</vt:lpstr>
      <vt:lpstr>Arial</vt:lpstr>
      <vt:lpstr>Times New Roman</vt:lpstr>
      <vt:lpstr>Wingdings</vt:lpstr>
      <vt:lpstr>Office テーマ</vt:lpstr>
      <vt:lpstr>大規模MRAデータに基づく脳動脈形状の統計的解析パイプラインの開発</vt:lpstr>
      <vt:lpstr>研究背景</vt:lpstr>
      <vt:lpstr>研究背景と先行研究</vt:lpstr>
      <vt:lpstr>パイプライン</vt:lpstr>
      <vt:lpstr>自動セグメンテーションによるモデリング</vt:lpstr>
      <vt:lpstr>パラメータ化モデリングデータ</vt:lpstr>
      <vt:lpstr>幾何学的特徴による内頸動脈サイホン形状分類</vt:lpstr>
      <vt:lpstr>内頚動脈中心線の主成分分析</vt:lpstr>
      <vt:lpstr>まとめ</vt:lpstr>
      <vt:lpstr>Acknowledgement</vt:lpstr>
      <vt:lpstr>Reconstructing PCs</vt:lpstr>
      <vt:lpstr>内頸動脈サイホン部</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CHEN YAN</dc:creator>
  <cp:lastModifiedBy>CHEN YAN</cp:lastModifiedBy>
  <cp:revision>6</cp:revision>
  <dcterms:created xsi:type="dcterms:W3CDTF">2025-07-28T07:50:40Z</dcterms:created>
  <dcterms:modified xsi:type="dcterms:W3CDTF">2025-12-09T03:49:17Z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0x01010095AECFA97F9F3C46BDF5A046F839E085</vt:lpwstr>
  </property>
</Properties>
</file>